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c098b4021c45ae" /><Relationship Type="http://schemas.openxmlformats.org/officeDocument/2006/relationships/extended-properties" Target="/docProps/app.xml" Id="R5ffe2efa30fc4bd2" /><Relationship Type="http://schemas.openxmlformats.org/officeDocument/2006/relationships/officeDocument" Target="/ppt/presentation.xml" Id="R57235e3e938e4f40" /></Relationships>
</file>

<file path=ppt/presentation.xml><?xml version="1.0" encoding="utf-8"?>
<p:presentation xmlns:p="http://schemas.openxmlformats.org/presentationml/2006/main">
  <p:sldMasterIdLst>
    <p:sldMasterId xmlns:r="http://schemas.openxmlformats.org/officeDocument/2006/relationships" id="2147483648" r:id="R1430c3827c3348c6"/>
  </p:sldMasterIdLst>
  <p:notesMasterIdLst>
    <p:notesMasterId xmlns:r="http://schemas.openxmlformats.org/officeDocument/2006/relationships" r:id="R92eb655ff9144c1f"/>
  </p:notesMasterIdLst>
  <p:sldIdLst>
    <p:sldId xmlns:r="http://schemas.openxmlformats.org/officeDocument/2006/relationships" id="256" r:id="Raacdc6040e2141c7"/>
    <p:sldId xmlns:r="http://schemas.openxmlformats.org/officeDocument/2006/relationships" id="257" r:id="R66e5fc6bf70549e4"/>
    <p:sldId xmlns:r="http://schemas.openxmlformats.org/officeDocument/2006/relationships" id="258" r:id="R0d85d62bddba44ee"/>
    <p:sldId xmlns:r="http://schemas.openxmlformats.org/officeDocument/2006/relationships" id="259" r:id="R1b8065739f934f8b"/>
    <p:sldId xmlns:r="http://schemas.openxmlformats.org/officeDocument/2006/relationships" id="260" r:id="R08a7dc1c0b33449b"/>
    <p:sldId xmlns:r="http://schemas.openxmlformats.org/officeDocument/2006/relationships" id="261" r:id="R5289378ff9494d2a"/>
    <p:sldId xmlns:r="http://schemas.openxmlformats.org/officeDocument/2006/relationships" id="262" r:id="R7697b498ffe048d1"/>
    <p:sldId xmlns:r="http://schemas.openxmlformats.org/officeDocument/2006/relationships" id="263" r:id="R83ddadc553a944cb"/>
    <p:sldId xmlns:r="http://schemas.openxmlformats.org/officeDocument/2006/relationships" id="264" r:id="R1123a5641a254ca5"/>
    <p:sldId xmlns:r="http://schemas.openxmlformats.org/officeDocument/2006/relationships" id="265" r:id="R98e577ed9ea44e1d"/>
    <p:sldId xmlns:r="http://schemas.openxmlformats.org/officeDocument/2006/relationships" id="266" r:id="R6984cb5805f84016"/>
    <p:sldId xmlns:r="http://schemas.openxmlformats.org/officeDocument/2006/relationships" id="267" r:id="R73902cecd17441c9"/>
    <p:sldId xmlns:r="http://schemas.openxmlformats.org/officeDocument/2006/relationships" id="268" r:id="Raeb27f3916c34599"/>
    <p:sldId xmlns:r="http://schemas.openxmlformats.org/officeDocument/2006/relationships" id="269" r:id="Rf49abb84e1954a8e"/>
    <p:sldId xmlns:r="http://schemas.openxmlformats.org/officeDocument/2006/relationships" id="270" r:id="R8b620b8ab4ce41de"/>
    <p:sldId xmlns:r="http://schemas.openxmlformats.org/officeDocument/2006/relationships" id="271" r:id="R5409e994577f460f"/>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2d9f3d6d2e4873" /><Relationship Type="http://schemas.openxmlformats.org/officeDocument/2006/relationships/slideMaster" Target="/ppt/slideMasters/slideMaster1.xml" Id="R1430c3827c3348c6" /><Relationship Type="http://schemas.openxmlformats.org/officeDocument/2006/relationships/notesMaster" Target="/ppt/notesMasters/notesMaster1.xml" Id="R92eb655ff9144c1f" /><Relationship Type="http://schemas.openxmlformats.org/officeDocument/2006/relationships/presProps" Target="/ppt/presProps.xml" Id="Rf93c95740c6a492d" /><Relationship Type="http://schemas.openxmlformats.org/officeDocument/2006/relationships/tableStyles" Target="/ppt/tableStyles.xml" Id="R73f2b0fdda0d43ec" /><Relationship Type="http://schemas.openxmlformats.org/officeDocument/2006/relationships/slide" Target="/ppt/slides/slide1.xml" Id="Raacdc6040e2141c7" /><Relationship Type="http://schemas.openxmlformats.org/officeDocument/2006/relationships/slide" Target="/ppt/slides/slide2.xml" Id="R66e5fc6bf70549e4" /><Relationship Type="http://schemas.openxmlformats.org/officeDocument/2006/relationships/slide" Target="/ppt/slides/slide3.xml" Id="R0d85d62bddba44ee" /><Relationship Type="http://schemas.openxmlformats.org/officeDocument/2006/relationships/slide" Target="/ppt/slides/slide4.xml" Id="R1b8065739f934f8b" /><Relationship Type="http://schemas.openxmlformats.org/officeDocument/2006/relationships/slide" Target="/ppt/slides/slide5.xml" Id="R08a7dc1c0b33449b" /><Relationship Type="http://schemas.openxmlformats.org/officeDocument/2006/relationships/slide" Target="/ppt/slides/slide6.xml" Id="R5289378ff9494d2a" /><Relationship Type="http://schemas.openxmlformats.org/officeDocument/2006/relationships/slide" Target="/ppt/slides/slide7.xml" Id="R7697b498ffe048d1" /><Relationship Type="http://schemas.openxmlformats.org/officeDocument/2006/relationships/slide" Target="/ppt/slides/slide8.xml" Id="R83ddadc553a944cb" /><Relationship Type="http://schemas.openxmlformats.org/officeDocument/2006/relationships/slide" Target="/ppt/slides/slide9.xml" Id="R1123a5641a254ca5" /><Relationship Type="http://schemas.openxmlformats.org/officeDocument/2006/relationships/slide" Target="/ppt/slides/slide10.xml" Id="R98e577ed9ea44e1d" /><Relationship Type="http://schemas.openxmlformats.org/officeDocument/2006/relationships/slide" Target="/ppt/slides/slide11.xml" Id="R6984cb5805f84016" /><Relationship Type="http://schemas.openxmlformats.org/officeDocument/2006/relationships/slide" Target="/ppt/slides/slide12.xml" Id="R73902cecd17441c9" /><Relationship Type="http://schemas.openxmlformats.org/officeDocument/2006/relationships/slide" Target="/ppt/slides/slide13.xml" Id="Raeb27f3916c34599" /><Relationship Type="http://schemas.openxmlformats.org/officeDocument/2006/relationships/slide" Target="/ppt/slides/slide14.xml" Id="Rf49abb84e1954a8e" /><Relationship Type="http://schemas.openxmlformats.org/officeDocument/2006/relationships/slide" Target="/ppt/slides/slide15.xml" Id="R8b620b8ab4ce41de" /><Relationship Type="http://schemas.openxmlformats.org/officeDocument/2006/relationships/slide" Target="/ppt/slides/slide16.xml" Id="R5409e994577f46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3889e0cf634d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9f751c5dac4a48" /><Relationship Type="http://schemas.openxmlformats.org/officeDocument/2006/relationships/notesMaster" Target="/ppt/notesMasters/notesMaster1.xml" Id="Rb07a49c6b4c64c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25d887f33e4f16" /><Relationship Type="http://schemas.openxmlformats.org/officeDocument/2006/relationships/notesMaster" Target="/ppt/notesMasters/notesMaster1.xml" Id="Rf197a286cdfe4e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2d7970767b422c" /><Relationship Type="http://schemas.openxmlformats.org/officeDocument/2006/relationships/notesMaster" Target="/ppt/notesMasters/notesMaster1.xml" Id="R91be09274b5c4a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139aefb5a8444f" /><Relationship Type="http://schemas.openxmlformats.org/officeDocument/2006/relationships/notesMaster" Target="/ppt/notesMasters/notesMaster1.xml" Id="R9c86cb0293d849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135bc2bd8a47f1" /><Relationship Type="http://schemas.openxmlformats.org/officeDocument/2006/relationships/notesMaster" Target="/ppt/notesMasters/notesMaster1.xml" Id="Reb49e454d2a14d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9bd439f15545a9" /><Relationship Type="http://schemas.openxmlformats.org/officeDocument/2006/relationships/notesMaster" Target="/ppt/notesMasters/notesMaster1.xml" Id="Ra43ed245899240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86cb74874341d7" /><Relationship Type="http://schemas.openxmlformats.org/officeDocument/2006/relationships/notesMaster" Target="/ppt/notesMasters/notesMaster1.xml" Id="R3c720422734349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f94dc6fae74dab" /><Relationship Type="http://schemas.openxmlformats.org/officeDocument/2006/relationships/notesMaster" Target="/ppt/notesMasters/notesMaster1.xml" Id="R073b0b0937d94c7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8392a9c2ea4de2" /><Relationship Type="http://schemas.openxmlformats.org/officeDocument/2006/relationships/notesMaster" Target="/ppt/notesMasters/notesMaster1.xml" Id="R24267f915ca24ec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6aadd777c2f4982" /><Relationship Type="http://schemas.openxmlformats.org/officeDocument/2006/relationships/notesMaster" Target="/ppt/notesMasters/notesMaster1.xml" Id="R14bedbc7cbec489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40f36e0287243d0" /><Relationship Type="http://schemas.openxmlformats.org/officeDocument/2006/relationships/notesMaster" Target="/ppt/notesMasters/notesMaster1.xml" Id="Rbdc7ea2a202a41f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b94c18b0fbf4ba4" /><Relationship Type="http://schemas.openxmlformats.org/officeDocument/2006/relationships/notesMaster" Target="/ppt/notesMasters/notesMaster1.xml" Id="R2251b17dc331423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02432ae6c664385" /><Relationship Type="http://schemas.openxmlformats.org/officeDocument/2006/relationships/notesMaster" Target="/ppt/notesMasters/notesMaster1.xml" Id="R0050db9a42d7488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ae185472128491e" /><Relationship Type="http://schemas.openxmlformats.org/officeDocument/2006/relationships/notesMaster" Target="/ppt/notesMasters/notesMaster1.xml" Id="Rc31f5d8de692443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045575df6404566" /><Relationship Type="http://schemas.openxmlformats.org/officeDocument/2006/relationships/notesMaster" Target="/ppt/notesMasters/notesMaster1.xml" Id="R9ec34dedd4a8432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523be5c4c0d40a2" /><Relationship Type="http://schemas.openxmlformats.org/officeDocument/2006/relationships/notesMaster" Target="/ppt/notesMasters/notesMaster1.xml" Id="R4d9b8d975cba48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one-sentence claim: IINTS-AF is a research laboratory for testing diabetes algorithms before they are anywhere near a real patient. Emphasise that the project combines physiology, software engineering, AI and deterministic safety. State immediately that it is not a medical device.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need, not the feature list. Diabetes is difficult because disturbances and treatments have delayed and overlapping effects. The research problem is therefore not only prediction accuracy; it is whether behaviour remains understandable and testable under stress.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research question slowly. Then explain the four contributions. This is important: the project is not claiming to have solved automated insulin delivery. It provides infrastructure to make candidate behaviour measurable, reviewable and safer to discuss.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digital twin and the candidate algorithm are separate objects. The algorithm never writes directly to the patient state. Its action passes through deterministic supervision, and every step is recorded as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make the loop concrete. A scenario changes the virtual patient; the CGM model hides perfect blood glucose; the algorithm proposes; the safety supervisor verifies; the recorder stores both the final action and the reason.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claim that one model is the human body. Explain that each is an explicit approximation with a purpose. Bergman is compact and interpretable. The Hovorka-style model has 19 states and separates delayed physiological pathways.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of the most important realism points. Meals and insulin do not act instantly, and a CGM does not directly measure blood glucose. The SDK makes these delays visible and configurable, including sensor artifacts.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message is that a low glucose event is not isolated. Counter-regulation can rescue glucose, but antecedent lows can blunt later responses. The HAAF state is an experimental abstraction and must never be presented as a clinical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architectural claim. The safety supervisor does not make the system a medical device and does not prove safety. Its value is that risky proposals become observable, blocked when rules require it, and recorded with a reason.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saying 'the AI controls the patient'. There are three distinct roles. The local language model explains. The numeric model forecasts. An experimental controller may propose actions, but only inside simulation and behind deterministic supervision.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pure MSE is insufficient. A model can improve average error and still produce implausible dynamics. The band-PINN objective adds physiology penalties, and candidate promotion also considers missed hypoglycaemia and violation rates.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scientifically honest here. The safe-band model improves MAE over last-value persistence on this evaluation, but 22.6 mg/dL at 120 minutes is not a clinical claim. The metrics also reveal residual physiological violations. The point is that the SDK makes that trade-off visible rather than hiding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explains why it is an SDK rather than a set of scripts. The CLI creates a repeatable path from data to evidence. Mention MDMP carefully: it supports data quality and governance-oriented review but is not itself regulatory certification.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 strength, not an apology. The models are physiologically motivated, but parameter calibration, external validation and uncertainty analysis remain active work. Invite the university to challenge these parts.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directly into the EUCYS demo. Narrate normal day, meal stress, risky proposal, supervisor intervention and evidence report. End by asking for collaboration on physiology calibration, external validation and uncertainty—not only general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only if asked about scientific provenance. The full repository contains a larger evidence base and source library. Be clear that literature inspiration does not by itself validate the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02e7e577484b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193d7e0f4b4437" /><Relationship Type="http://schemas.openxmlformats.org/officeDocument/2006/relationships/slideLayout" Target="/ppt/slideLayouts/slideLayout1.xml" Id="R9a0776545fb347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0776545fb347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460a5b98bdf42b9" /><Relationship Type="http://schemas.openxmlformats.org/officeDocument/2006/relationships/image" Target="/ppt/media/image.png" Id="R0b8e014ff7ab45db" /><Relationship Type="http://schemas.openxmlformats.org/officeDocument/2006/relationships/notesSlide" Target="/ppt/notesSlides/notesSlide1.xml" Id="R4305cc7180814a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22dc06a221b4aa9" /><Relationship Type="http://schemas.openxmlformats.org/officeDocument/2006/relationships/notesSlide" Target="/ppt/notesSlides/notesSlide2.xml" Id="R67e8951c8fc64b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33b9d2b14254c9d" /><Relationship Type="http://schemas.openxmlformats.org/officeDocument/2006/relationships/notesSlide" Target="/ppt/notesSlides/notesSlide3.xml" Id="Rddf01d4e104b46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78442f98d9d499b" /><Relationship Type="http://schemas.openxmlformats.org/officeDocument/2006/relationships/notesSlide" Target="/ppt/notesSlides/notesSlide4.xml" Id="Rc0904522afe446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043a58fac6f45af" /><Relationship Type="http://schemas.openxmlformats.org/officeDocument/2006/relationships/notesSlide" Target="/ppt/notesSlides/notesSlide5.xml" Id="R725a5a01d45249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0828bda68d74861" /><Relationship Type="http://schemas.openxmlformats.org/officeDocument/2006/relationships/notesSlide" Target="/ppt/notesSlides/notesSlide6.xml" Id="R76d1d6ab763941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ff2bea39cbb4df8" /><Relationship Type="http://schemas.openxmlformats.org/officeDocument/2006/relationships/notesSlide" Target="/ppt/notesSlides/notesSlide7.xml" Id="R17567f1263f845a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cb75aa677ed4ba9" /><Relationship Type="http://schemas.openxmlformats.org/officeDocument/2006/relationships/notesSlide" Target="/ppt/notesSlides/notesSlide8.xml" Id="R331e4b05b4ea464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e64c0b83c7d4660" /><Relationship Type="http://schemas.openxmlformats.org/officeDocument/2006/relationships/notesSlide" Target="/ppt/notesSlides/notesSlide9.xml" Id="R5776acd688fa45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27ec913360448b1" /><Relationship Type="http://schemas.openxmlformats.org/officeDocument/2006/relationships/notesSlide" Target="/ppt/notesSlides/notesSlide10.xml" Id="Ra36a82a7de1945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5d536f02c7a4469" /><Relationship Type="http://schemas.openxmlformats.org/officeDocument/2006/relationships/notesSlide" Target="/ppt/notesSlides/notesSlide11.xml" Id="R194fce10585a45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4d813ffb8bd451f" /><Relationship Type="http://schemas.openxmlformats.org/officeDocument/2006/relationships/chart" Target="/ppt/slides/charts/chart1.xml" Id="R3cb09d1828104f1a" /><Relationship Type="http://schemas.openxmlformats.org/officeDocument/2006/relationships/notesSlide" Target="/ppt/notesSlides/notesSlide12.xml" Id="Re3ddfbc97b81432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b29592f5dc64f0d" /><Relationship Type="http://schemas.openxmlformats.org/officeDocument/2006/relationships/notesSlide" Target="/ppt/notesSlides/notesSlide13.xml" Id="Rf671b10203c04ad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c1ce81d99014fab" /><Relationship Type="http://schemas.openxmlformats.org/officeDocument/2006/relationships/notesSlide" Target="/ppt/notesSlides/notesSlide14.xml" Id="R040af5a2e81544a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ebcf0c989f34271" /><Relationship Type="http://schemas.openxmlformats.org/officeDocument/2006/relationships/image" Target="/ppt/media/image2.png" Id="R52b263872f5d4262" /><Relationship Type="http://schemas.openxmlformats.org/officeDocument/2006/relationships/notesSlide" Target="/ppt/notesSlides/notesSlide15.xml" Id="R0ee66e6d393343f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c774cd1a5a54483" /><Relationship Type="http://schemas.openxmlformats.org/officeDocument/2006/relationships/notesSlide" Target="/ppt/notesSlides/notesSlide16.xml" Id="R61619d48e28941a1" /></Relationships>
</file>

<file path=ppt/slides/charts/chart1.xml><?xml version="1.0" encoding="utf-8"?>
<c:chartSpace xmlns:c="http://schemas.openxmlformats.org/drawingml/2006/chart">
  <c:lang val="en-US"/>
  <c:roundedCorners val="0"/>
  <c:chart>
    <c:plotArea>
      <c:layout/>
      <c:barChart>
        <c:barDir val="col"/>
        <c:varyColors val="0"/>
        <c:ser>
          <c:idx val="0"/>
          <c:order val="0"/>
          <c:tx>
            <c:v>MAE</c:v>
          </c:tx>
          <c:spPr>
            <a:solidFill xmlns:a="http://schemas.openxmlformats.org/drawingml/2006/main">
              <a:srgbClr val="2E7D8A"/>
            </a:solidFill>
          </c:spPr>
          <c:dLbls>
            <c:showLegendKey val="0"/>
            <c:showVal val="0"/>
            <c:showCatName val="0"/>
            <c:showSerName val="0"/>
            <c:showPercent val="0"/>
            <c:showBubbleSize val="0"/>
            <c:showLeaderLines val="0"/>
          </c:dLbls>
          <c:cat>
            <c:strLit>
              <c:ptCount val="4"/>
              <c:pt idx="0">
                <c:v>Safe-band model</c:v>
              </c:pt>
              <c:pt idx="1">
                <c:v>Last value</c:v>
              </c:pt>
              <c:pt idx="2">
                <c:v>Linear trend</c:v>
              </c:pt>
              <c:pt idx="3">
                <c:v>Physiology baseline</c:v>
              </c:pt>
            </c:strLit>
          </c:cat>
          <c:val>
            <c:numLit>
              <c:formatCode>General</c:formatCode>
              <c:ptCount val="4"/>
              <c:pt idx="0">
                <c:v>22.59</c:v>
              </c:pt>
              <c:pt idx="1">
                <c:v>27.24</c:v>
              </c:pt>
              <c:pt idx="2">
                <c:v>48.91</c:v>
              </c:pt>
              <c:pt idx="3">
                <c:v>52.91</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rosses val="autoZero"/>
        <c:lblAlgn val="ctr"/>
        <c:lblOffset val="100"/>
        <c:noMultiLvlLbl val="0"/>
      </c:catAx>
      <c:valAx>
        <c:axId val="48672768"/>
        <c:scaling>
          <c:orientation val="minMax"/>
          <c:max val="60"/>
        </c:scaling>
        <c:delete val="0"/>
        <c:axPos val="l"/>
        <c:majorGridlines>
          <c:spPr>
            <a:ln xmlns:a="http://schemas.openxmlformats.org/drawingml/2006/main" w="9525">
              <a:solidFill>
                <a:srgbClr val="D9E0DD"/>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es val="autoZero"/>
        <c:crossBetween val="between"/>
      </c:valAx>
      <c:spPr>
        <a:solidFill xmlns:a="http://schemas.openxmlformats.org/drawingml/2006/main">
          <a:srgbClr val="FFFDF8"/>
        </a:solidFill>
      </c:spPr>
    </c:plotArea>
    <c:plotVisOnly val="1"/>
  </c:chart>
  <c:spPr>
    <a:solidFill xmlns:a="http://schemas.openxmlformats.org/drawingml/2006/main">
      <a:srgbClr val="FFFDF8"/>
    </a:solidFill>
  </c:spPr>
</c:chartSpace>
</file>

<file path=ppt/slides/slide1.xml><?xml version="1.0" encoding="utf-8"?>
<p:sld xmlns:p="http://schemas.openxmlformats.org/presentationml/2006/main">
  <p:cSld>
    <p:bg>
      <p:bgPr>
        <a:solidFill xmlns:a="http://schemas.openxmlformats.org/drawingml/2006/main">
          <a:srgbClr val="0C3B3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5DDC8C-AF3E-43C3-9338-F3461012CF5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89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EB6DB6B-5D8A-4088-A9E8-C3CA6AD2C5BD}"/>
              </a:ext>
            </a:extLst>
          </p:cNvPr>
          <p:cNvSpPr>
            <a:spLocks xmlns:a="http://schemas.openxmlformats.org/drawingml/2006/main" noGrp="1"/>
          </p:cNvSpPr>
          <p:nvPr/>
        </p:nvSpPr>
        <p:spPr>
          <a:xfrm xmlns:a="http://schemas.openxmlformats.org/drawingml/2006/main">
            <a:off x="685800" y="647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D89A2B"/>
                </a:solidFill>
                <a:latin typeface="Aptos"/>
                <a:ea typeface="Aptos"/>
                <a:cs typeface="Aptos"/>
              </a:defRPr>
            </a:pPr>
            <a:r>
              <a:rPr sz="1125" b="1" i="0">
                <a:solidFill>
                  <a:srgbClr val="D89A2B"/>
                </a:solidFill>
                <a:latin typeface="Aptos"/>
                <a:ea typeface="Aptos"/>
                <a:cs typeface="Aptos"/>
              </a:rPr>
              <a:t>IINTS-AF SDK</a:t>
            </a:r>
          </a:p>
        </p:txBody>
      </p:sp>
      <p:sp>
        <p:nvSpPr>
          <p:cNvPr id="3" name="">
            <a:extLst xmlns:a="http://schemas.openxmlformats.org/drawingml/2006/main">
              <a:ext uri="{FF2B5EF4-FFF2-40B4-BE49-F238E27FC236}">
                <a16:creationId xmlns:a16="http://schemas.microsoft.com/office/drawing/2014/main" id="{ACA4235E-AC32-4935-9082-52454BA01981}"/>
              </a:ext>
            </a:extLst>
          </p:cNvPr>
          <p:cNvSpPr>
            <a:spLocks xmlns:a="http://schemas.openxmlformats.org/drawingml/2006/main" noGrp="1"/>
          </p:cNvSpPr>
          <p:nvPr/>
        </p:nvSpPr>
        <p:spPr>
          <a:xfrm xmlns:a="http://schemas.openxmlformats.org/drawingml/2006/main">
            <a:off x="685800" y="1219200"/>
            <a:ext cx="685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8000"/>
              </a:lnSpc>
              <a:buNone/>
              <a:defRPr sz="4350" b="1" i="0">
                <a:solidFill>
                  <a:srgbClr val="FFFFFF"/>
                </a:solidFill>
                <a:latin typeface="Aptos Display"/>
                <a:ea typeface="Aptos Display"/>
                <a:cs typeface="Aptos Display"/>
              </a:defRPr>
            </a:pPr>
            <a:r>
              <a:rPr sz="4350" b="1" i="0">
                <a:solidFill>
                  <a:srgbClr val="FFFFFF"/>
                </a:solidFill>
                <a:latin typeface="Aptos Display"/>
                <a:ea typeface="Aptos Display"/>
                <a:cs typeface="Aptos Display"/>
              </a:rPr>
              <a:t>A safety-first digital twin laboratory</a:t>
            </a:r>
          </a:p>
        </p:txBody>
      </p:sp>
      <p:sp>
        <p:nvSpPr>
          <p:cNvPr id="4" name="">
            <a:extLst xmlns:a="http://schemas.openxmlformats.org/drawingml/2006/main">
              <a:ext uri="{FF2B5EF4-FFF2-40B4-BE49-F238E27FC236}">
                <a16:creationId xmlns:a16="http://schemas.microsoft.com/office/drawing/2014/main" id="{36E80EEC-4CCE-493F-941C-F2D45F350A92}"/>
              </a:ext>
            </a:extLst>
          </p:cNvPr>
          <p:cNvSpPr>
            <a:spLocks xmlns:a="http://schemas.openxmlformats.org/drawingml/2006/main" noGrp="1"/>
          </p:cNvSpPr>
          <p:nvPr/>
        </p:nvSpPr>
        <p:spPr>
          <a:xfrm xmlns:a="http://schemas.openxmlformats.org/drawingml/2006/main">
            <a:off x="685800" y="2724150"/>
            <a:ext cx="666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0" i="0">
                <a:solidFill>
                  <a:srgbClr val="DDEBE5"/>
                </a:solidFill>
                <a:latin typeface="Aptos Display"/>
                <a:ea typeface="Aptos Display"/>
                <a:cs typeface="Aptos Display"/>
              </a:defRPr>
            </a:pPr>
            <a:r>
              <a:rPr sz="2250" b="0" i="0">
                <a:solidFill>
                  <a:srgbClr val="DDEBE5"/>
                </a:solidFill>
                <a:latin typeface="Aptos Display"/>
                <a:ea typeface="Aptos Display"/>
                <a:cs typeface="Aptos Display"/>
              </a:rPr>
              <a:t>for diabetes technology research</a:t>
            </a:r>
          </a:p>
        </p:txBody>
      </p:sp>
      <p:sp>
        <p:nvSpPr>
          <p:cNvPr id="5" name="">
            <a:extLst xmlns:a="http://schemas.openxmlformats.org/drawingml/2006/main">
              <a:ext uri="{FF2B5EF4-FFF2-40B4-BE49-F238E27FC236}">
                <a16:creationId xmlns:a16="http://schemas.microsoft.com/office/drawing/2014/main" id="{EF0B1BE7-A0F5-4A6D-B951-836487580CE7}"/>
              </a:ext>
            </a:extLst>
          </p:cNvPr>
          <p:cNvSpPr>
            <a:spLocks xmlns:a="http://schemas.openxmlformats.org/drawingml/2006/main" noGrp="1"/>
          </p:cNvSpPr>
          <p:nvPr/>
        </p:nvSpPr>
        <p:spPr>
          <a:xfrm xmlns:a="http://schemas.openxmlformats.org/drawingml/2006/main">
            <a:off x="685800" y="3676650"/>
            <a:ext cx="676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BFD4CC"/>
                </a:solidFill>
                <a:latin typeface="Aptos"/>
                <a:ea typeface="Aptos"/>
                <a:cs typeface="Aptos"/>
              </a:defRPr>
            </a:pPr>
            <a:r>
              <a:rPr sz="1500" b="0" i="0">
                <a:solidFill>
                  <a:srgbClr val="BFD4CC"/>
                </a:solidFill>
                <a:latin typeface="Aptos"/>
                <a:ea typeface="Aptos"/>
                <a:cs typeface="Aptos"/>
              </a:rPr>
              <a:t>Simulation · physiology · deterministic safety · AI forecasting · reproducible evidence</a:t>
            </a:r>
          </a:p>
        </p:txBody>
      </p:sp>
      <p:sp>
        <p:nvSpPr>
          <p:cNvPr id="6" name="">
            <a:extLst xmlns:a="http://schemas.openxmlformats.org/drawingml/2006/main">
              <a:ext uri="{FF2B5EF4-FFF2-40B4-BE49-F238E27FC236}">
                <a16:creationId xmlns:a16="http://schemas.microsoft.com/office/drawing/2014/main" id="{79E1C224-F4CE-4FBE-9460-CDC344BD161A}"/>
              </a:ext>
            </a:extLst>
          </p:cNvPr>
          <p:cNvSpPr>
            <a:spLocks xmlns:a="http://schemas.openxmlformats.org/drawingml/2006/main" noGrp="1"/>
          </p:cNvSpPr>
          <p:nvPr/>
        </p:nvSpPr>
        <p:spPr>
          <a:xfrm xmlns:a="http://schemas.openxmlformats.org/drawingml/2006/main">
            <a:off x="685800" y="4686300"/>
            <a:ext cx="2076450" cy="304800"/>
          </a:xfrm>
          <a:prstGeom xmlns:a="http://schemas.openxmlformats.org/drawingml/2006/main" prst="roundRect">
            <a:avLst>
              <a:gd name="adj" fmla="val 37500"/>
            </a:avLst>
          </a:prstGeom>
          <a:solidFill xmlns:a="http://schemas.openxmlformats.org/drawingml/2006/main">
            <a:srgbClr val="D89A2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21EF740-E191-4621-88FA-271FD4FB90DA}"/>
              </a:ext>
            </a:extLst>
          </p:cNvPr>
          <p:cNvSpPr>
            <a:spLocks xmlns:a="http://schemas.openxmlformats.org/drawingml/2006/main" noGrp="1"/>
          </p:cNvSpPr>
          <p:nvPr/>
        </p:nvSpPr>
        <p:spPr>
          <a:xfrm xmlns:a="http://schemas.openxmlformats.org/drawingml/2006/main">
            <a:off x="781050" y="4724400"/>
            <a:ext cx="188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0C3B32"/>
                </a:solidFill>
                <a:latin typeface="Aptos"/>
                <a:ea typeface="Aptos"/>
                <a:cs typeface="Aptos"/>
              </a:defRPr>
            </a:pPr>
            <a:r>
              <a:rPr sz="1050" b="1" i="0">
                <a:solidFill>
                  <a:srgbClr val="0C3B32"/>
                </a:solidFill>
                <a:latin typeface="Aptos"/>
                <a:ea typeface="Aptos"/>
                <a:cs typeface="Aptos"/>
              </a:rPr>
              <a:t>UNIVERSITY DISCUSSION</a:t>
            </a:r>
          </a:p>
        </p:txBody>
      </p:sp>
      <p:sp>
        <p:nvSpPr>
          <p:cNvPr id="8" name="">
            <a:extLst xmlns:a="http://schemas.openxmlformats.org/drawingml/2006/main">
              <a:ext uri="{FF2B5EF4-FFF2-40B4-BE49-F238E27FC236}">
                <a16:creationId xmlns:a16="http://schemas.microsoft.com/office/drawing/2014/main" id="{C27DD432-B588-4C6B-B98C-A34C05947698}"/>
              </a:ext>
            </a:extLst>
          </p:cNvPr>
          <p:cNvSpPr>
            <a:spLocks xmlns:a="http://schemas.openxmlformats.org/drawingml/2006/main" noGrp="1"/>
          </p:cNvSpPr>
          <p:nvPr/>
        </p:nvSpPr>
        <p:spPr>
          <a:xfrm xmlns:a="http://schemas.openxmlformats.org/drawingml/2006/main">
            <a:off x="685800" y="521970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FFFFF"/>
                </a:solidFill>
                <a:latin typeface="Aptos"/>
                <a:ea typeface="Aptos"/>
                <a:cs typeface="Aptos"/>
              </a:defRPr>
            </a:pPr>
            <a:r>
              <a:rPr sz="1350" b="1" i="0">
                <a:solidFill>
                  <a:srgbClr val="FFFFFF"/>
                </a:solidFill>
                <a:latin typeface="Aptos"/>
                <a:ea typeface="Aptos"/>
                <a:cs typeface="Aptos"/>
              </a:rPr>
              <a:t>Rune Bobbaers  |  June 2026</a:t>
            </a:r>
          </a:p>
        </p:txBody>
      </p:sp>
      <p:sp>
        <p:nvSpPr>
          <p:cNvPr id="9" name="">
            <a:extLst xmlns:a="http://schemas.openxmlformats.org/drawingml/2006/main">
              <a:ext uri="{FF2B5EF4-FFF2-40B4-BE49-F238E27FC236}">
                <a16:creationId xmlns:a16="http://schemas.microsoft.com/office/drawing/2014/main" id="{217F9855-E6CD-486D-B2AE-B9B2060DA26C}"/>
              </a:ext>
            </a:extLst>
          </p:cNvPr>
          <p:cNvSpPr>
            <a:spLocks xmlns:a="http://schemas.openxmlformats.org/drawingml/2006/main" noGrp="1"/>
          </p:cNvSpPr>
          <p:nvPr/>
        </p:nvSpPr>
        <p:spPr>
          <a:xfrm xmlns:a="http://schemas.openxmlformats.org/drawingml/2006/main">
            <a:off x="685800" y="55245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BFD4CC"/>
                </a:solidFill>
                <a:latin typeface="Aptos"/>
                <a:ea typeface="Aptos"/>
                <a:cs typeface="Aptos"/>
              </a:defRPr>
            </a:pPr>
            <a:r>
              <a:rPr sz="1125" b="0" i="0">
                <a:solidFill>
                  <a:srgbClr val="BFD4CC"/>
                </a:solidFill>
                <a:latin typeface="Aptos"/>
                <a:ea typeface="Aptos"/>
                <a:cs typeface="Aptos"/>
              </a:rPr>
              <a:t>Open-source pre-clinical research SDK</a:t>
            </a:r>
          </a:p>
        </p:txBody>
      </p:sp>
      <p:sp>
        <p:nvSpPr>
          <p:cNvPr id="10" name="">
            <a:extLst xmlns:a="http://schemas.openxmlformats.org/drawingml/2006/main">
              <a:ext uri="{FF2B5EF4-FFF2-40B4-BE49-F238E27FC236}">
                <a16:creationId xmlns:a16="http://schemas.microsoft.com/office/drawing/2014/main" id="{291D8B63-1E13-46A3-844A-B5EB3FCBF9ED}"/>
              </a:ext>
            </a:extLst>
          </p:cNvPr>
          <p:cNvSpPr>
            <a:spLocks xmlns:a="http://schemas.openxmlformats.org/drawingml/2006/main" noGrp="1"/>
          </p:cNvSpPr>
          <p:nvPr/>
        </p:nvSpPr>
        <p:spPr>
          <a:xfrm xmlns:a="http://schemas.openxmlformats.org/drawingml/2006/main">
            <a:off x="8096250" y="704850"/>
            <a:ext cx="3181350" cy="5372100"/>
          </a:xfrm>
          <a:prstGeom xmlns:a="http://schemas.openxmlformats.org/drawingml/2006/main" prst="roundRect">
            <a:avLst>
              <a:gd name="adj" fmla="val 3593"/>
            </a:avLst>
          </a:prstGeom>
          <a:solidFill xmlns:a="http://schemas.openxmlformats.org/drawingml/2006/main">
            <a:srgbClr val="174B40"/>
          </a:solidFill>
          <a:ln xmlns:a="http://schemas.openxmlformats.org/drawingml/2006/main" w="9525">
            <a:solidFill>
              <a:srgbClr val="2A6759"/>
            </a:solidFill>
            <a:prstDash val="solid"/>
          </a:ln>
        </p:spPr>
      </p:sp>
      <p:sp>
        <p:nvSpPr>
          <p:cNvPr id="11" name="">
            <a:extLst xmlns:a="http://schemas.openxmlformats.org/drawingml/2006/main">
              <a:ext uri="{FF2B5EF4-FFF2-40B4-BE49-F238E27FC236}">
                <a16:creationId xmlns:a16="http://schemas.microsoft.com/office/drawing/2014/main" id="{3A0A1ACA-A1B6-4A04-B29F-C75E2C551DED}"/>
              </a:ext>
            </a:extLst>
          </p:cNvPr>
          <p:cNvSpPr>
            <a:spLocks xmlns:a="http://schemas.openxmlformats.org/drawingml/2006/main" noGrp="1"/>
          </p:cNvSpPr>
          <p:nvPr/>
        </p:nvSpPr>
        <p:spPr>
          <a:xfrm xmlns:a="http://schemas.openxmlformats.org/drawingml/2006/main">
            <a:off x="8877300" y="1333500"/>
            <a:ext cx="1619250" cy="1619250"/>
          </a:xfrm>
          <a:prstGeom xmlns:a="http://schemas.openxmlformats.org/drawingml/2006/main" prst="ellipse">
            <a:avLst/>
          </a:prstGeom>
          <a:solidFill xmlns:a="http://schemas.openxmlformats.org/drawingml/2006/main">
            <a:srgbClr val="F6E9C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E4D5FDA-7EC8-4192-A1B7-EAEBA51332E7}"/>
              </a:ext>
            </a:extLst>
          </p:cNvPr>
          <p:cNvSpPr>
            <a:spLocks xmlns:a="http://schemas.openxmlformats.org/drawingml/2006/main" noGrp="1"/>
          </p:cNvSpPr>
          <p:nvPr/>
        </p:nvSpPr>
        <p:spPr>
          <a:xfrm xmlns:a="http://schemas.openxmlformats.org/drawingml/2006/main">
            <a:off x="9163050" y="1619250"/>
            <a:ext cx="1047750" cy="1047750"/>
          </a:xfrm>
          <a:prstGeom xmlns:a="http://schemas.openxmlformats.org/drawingml/2006/main" prst="ellipse">
            <a:avLst/>
          </a:prstGeom>
          <a:solidFill xmlns:a="http://schemas.openxmlformats.org/drawingml/2006/main">
            <a:srgbClr val="2E7D8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99F6533-CDDB-4F8D-B046-8144753F8833}"/>
              </a:ext>
            </a:extLst>
          </p:cNvPr>
          <p:cNvSpPr>
            <a:spLocks xmlns:a="http://schemas.openxmlformats.org/drawingml/2006/main" noGrp="1"/>
          </p:cNvSpPr>
          <p:nvPr/>
        </p:nvSpPr>
        <p:spPr>
          <a:xfrm xmlns:a="http://schemas.openxmlformats.org/drawingml/2006/main">
            <a:off x="9448800" y="1905000"/>
            <a:ext cx="476250" cy="476250"/>
          </a:xfrm>
          <a:prstGeom xmlns:a="http://schemas.openxmlformats.org/drawingml/2006/main" prst="ellipse">
            <a:avLst/>
          </a:prstGeom>
          <a:solidFill xmlns:a="http://schemas.openxmlformats.org/drawingml/2006/main">
            <a:srgbClr val="D89A2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44351CF-8F81-4011-8D5B-4DD3E232D70A}"/>
              </a:ext>
            </a:extLst>
          </p:cNvPr>
          <p:cNvSpPr>
            <a:spLocks xmlns:a="http://schemas.openxmlformats.org/drawingml/2006/main" noGrp="1"/>
          </p:cNvSpPr>
          <p:nvPr/>
        </p:nvSpPr>
        <p:spPr>
          <a:xfrm xmlns:a="http://schemas.openxmlformats.org/drawingml/2006/main">
            <a:off x="8591550" y="31242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FFFFFF"/>
                </a:solidFill>
                <a:latin typeface="Aptos"/>
                <a:ea typeface="Aptos"/>
                <a:cs typeface="Aptos"/>
              </a:defRPr>
            </a:pPr>
            <a:r>
              <a:rPr sz="1125" b="1" i="0">
                <a:solidFill>
                  <a:srgbClr val="FFFFFF"/>
                </a:solidFill>
                <a:latin typeface="Aptos"/>
                <a:ea typeface="Aptos"/>
                <a:cs typeface="Aptos"/>
              </a:rPr>
              <a:t>PHYSIOLOGY</a:t>
            </a:r>
          </a:p>
        </p:txBody>
      </p:sp>
      <p:sp>
        <p:nvSpPr>
          <p:cNvPr id="15" name="">
            <a:extLst xmlns:a="http://schemas.openxmlformats.org/drawingml/2006/main">
              <a:ext uri="{FF2B5EF4-FFF2-40B4-BE49-F238E27FC236}">
                <a16:creationId xmlns:a16="http://schemas.microsoft.com/office/drawing/2014/main" id="{CDB89D53-9267-4E9D-9854-B4C0B9978A3A}"/>
              </a:ext>
            </a:extLst>
          </p:cNvPr>
          <p:cNvSpPr>
            <a:spLocks xmlns:a="http://schemas.openxmlformats.org/drawingml/2006/main" noGrp="1"/>
          </p:cNvSpPr>
          <p:nvPr/>
        </p:nvSpPr>
        <p:spPr>
          <a:xfrm xmlns:a="http://schemas.openxmlformats.org/drawingml/2006/main">
            <a:off x="9486900" y="33909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i="0">
                <a:solidFill>
                  <a:srgbClr val="D89A2B"/>
                </a:solidFill>
                <a:latin typeface="Aptos"/>
                <a:ea typeface="Aptos"/>
                <a:cs typeface="Aptos"/>
              </a:defRPr>
            </a:pPr>
            <a:r>
              <a:rPr sz="2100" b="1" i="0">
                <a:solidFill>
                  <a:srgbClr val="D89A2B"/>
                </a:solidFill>
                <a:latin typeface="Aptos"/>
                <a:ea typeface="Aptos"/>
                <a:cs typeface="Aptos"/>
              </a:rPr>
              <a:t>↓</a:t>
            </a:r>
          </a:p>
        </p:txBody>
      </p:sp>
      <p:sp>
        <p:nvSpPr>
          <p:cNvPr id="16" name="">
            <a:extLst xmlns:a="http://schemas.openxmlformats.org/drawingml/2006/main">
              <a:ext uri="{FF2B5EF4-FFF2-40B4-BE49-F238E27FC236}">
                <a16:creationId xmlns:a16="http://schemas.microsoft.com/office/drawing/2014/main" id="{314B1354-417B-41FC-8C4F-0FDB866EFF84}"/>
              </a:ext>
            </a:extLst>
          </p:cNvPr>
          <p:cNvSpPr>
            <a:spLocks xmlns:a="http://schemas.openxmlformats.org/drawingml/2006/main" noGrp="1"/>
          </p:cNvSpPr>
          <p:nvPr/>
        </p:nvSpPr>
        <p:spPr>
          <a:xfrm xmlns:a="http://schemas.openxmlformats.org/drawingml/2006/main">
            <a:off x="8591550" y="37338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FFFFFF"/>
                </a:solidFill>
                <a:latin typeface="Aptos"/>
                <a:ea typeface="Aptos"/>
                <a:cs typeface="Aptos"/>
              </a:defRPr>
            </a:pPr>
            <a:r>
              <a:rPr sz="1125" b="1" i="0">
                <a:solidFill>
                  <a:srgbClr val="FFFFFF"/>
                </a:solidFill>
                <a:latin typeface="Aptos"/>
                <a:ea typeface="Aptos"/>
                <a:cs typeface="Aptos"/>
              </a:rPr>
              <a:t>AI PROPOSAL</a:t>
            </a:r>
          </a:p>
        </p:txBody>
      </p:sp>
      <p:sp>
        <p:nvSpPr>
          <p:cNvPr id="17" name="">
            <a:extLst xmlns:a="http://schemas.openxmlformats.org/drawingml/2006/main">
              <a:ext uri="{FF2B5EF4-FFF2-40B4-BE49-F238E27FC236}">
                <a16:creationId xmlns:a16="http://schemas.microsoft.com/office/drawing/2014/main" id="{BBDF47EC-11CC-4409-84C5-9384C6938DCF}"/>
              </a:ext>
            </a:extLst>
          </p:cNvPr>
          <p:cNvSpPr>
            <a:spLocks xmlns:a="http://schemas.openxmlformats.org/drawingml/2006/main" noGrp="1"/>
          </p:cNvSpPr>
          <p:nvPr/>
        </p:nvSpPr>
        <p:spPr>
          <a:xfrm xmlns:a="http://schemas.openxmlformats.org/drawingml/2006/main">
            <a:off x="9486900" y="40005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i="0">
                <a:solidFill>
                  <a:srgbClr val="D89A2B"/>
                </a:solidFill>
                <a:latin typeface="Aptos"/>
                <a:ea typeface="Aptos"/>
                <a:cs typeface="Aptos"/>
              </a:defRPr>
            </a:pPr>
            <a:r>
              <a:rPr sz="2100" b="1" i="0">
                <a:solidFill>
                  <a:srgbClr val="D89A2B"/>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A3741778-4EBA-4D15-B35F-226A318124CA}"/>
              </a:ext>
            </a:extLst>
          </p:cNvPr>
          <p:cNvSpPr>
            <a:spLocks xmlns:a="http://schemas.openxmlformats.org/drawingml/2006/main" noGrp="1"/>
          </p:cNvSpPr>
          <p:nvPr/>
        </p:nvSpPr>
        <p:spPr>
          <a:xfrm xmlns:a="http://schemas.openxmlformats.org/drawingml/2006/main">
            <a:off x="8591550" y="43434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FFFFFF"/>
                </a:solidFill>
                <a:latin typeface="Aptos"/>
                <a:ea typeface="Aptos"/>
                <a:cs typeface="Aptos"/>
              </a:defRPr>
            </a:pPr>
            <a:r>
              <a:rPr sz="1125" b="1" i="0">
                <a:solidFill>
                  <a:srgbClr val="FFFFFF"/>
                </a:solidFill>
                <a:latin typeface="Aptos"/>
                <a:ea typeface="Aptos"/>
                <a:cs typeface="Aptos"/>
              </a:rPr>
              <a:t>SAFETY GATE</a:t>
            </a:r>
          </a:p>
        </p:txBody>
      </p:sp>
      <p:sp>
        <p:nvSpPr>
          <p:cNvPr id="19" name="">
            <a:extLst xmlns:a="http://schemas.openxmlformats.org/drawingml/2006/main">
              <a:ext uri="{FF2B5EF4-FFF2-40B4-BE49-F238E27FC236}">
                <a16:creationId xmlns:a16="http://schemas.microsoft.com/office/drawing/2014/main" id="{D0CF60D1-6D66-46BF-9338-612C36F7C6FC}"/>
              </a:ext>
            </a:extLst>
          </p:cNvPr>
          <p:cNvSpPr>
            <a:spLocks xmlns:a="http://schemas.openxmlformats.org/drawingml/2006/main" noGrp="1"/>
          </p:cNvSpPr>
          <p:nvPr/>
        </p:nvSpPr>
        <p:spPr>
          <a:xfrm xmlns:a="http://schemas.openxmlformats.org/drawingml/2006/main">
            <a:off x="9486900" y="46101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i="0">
                <a:solidFill>
                  <a:srgbClr val="D89A2B"/>
                </a:solidFill>
                <a:latin typeface="Aptos"/>
                <a:ea typeface="Aptos"/>
                <a:cs typeface="Aptos"/>
              </a:defRPr>
            </a:pPr>
            <a:r>
              <a:rPr sz="2100" b="1" i="0">
                <a:solidFill>
                  <a:srgbClr val="D89A2B"/>
                </a:solidFill>
                <a:latin typeface="Aptos"/>
                <a:ea typeface="Aptos"/>
                <a:cs typeface="Aptos"/>
              </a:rPr>
              <a:t>↓</a:t>
            </a:r>
          </a:p>
        </p:txBody>
      </p:sp>
      <p:sp>
        <p:nvSpPr>
          <p:cNvPr id="20" name="">
            <a:extLst xmlns:a="http://schemas.openxmlformats.org/drawingml/2006/main">
              <a:ext uri="{FF2B5EF4-FFF2-40B4-BE49-F238E27FC236}">
                <a16:creationId xmlns:a16="http://schemas.microsoft.com/office/drawing/2014/main" id="{287E675A-A72E-48BB-B143-90743E61C4B3}"/>
              </a:ext>
            </a:extLst>
          </p:cNvPr>
          <p:cNvSpPr>
            <a:spLocks xmlns:a="http://schemas.openxmlformats.org/drawingml/2006/main" noGrp="1"/>
          </p:cNvSpPr>
          <p:nvPr/>
        </p:nvSpPr>
        <p:spPr>
          <a:xfrm xmlns:a="http://schemas.openxmlformats.org/drawingml/2006/main">
            <a:off x="8591550" y="49530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FFFFFF"/>
                </a:solidFill>
                <a:latin typeface="Aptos"/>
                <a:ea typeface="Aptos"/>
                <a:cs typeface="Aptos"/>
              </a:defRPr>
            </a:pPr>
            <a:r>
              <a:rPr sz="1125" b="1" i="0">
                <a:solidFill>
                  <a:srgbClr val="FFFFFF"/>
                </a:solidFill>
                <a:latin typeface="Aptos"/>
                <a:ea typeface="Aptos"/>
                <a:cs typeface="Aptos"/>
              </a:rPr>
              <a:t>EVIDENCE</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0b8e014ff7ab45db"/>
          <a:stretch xmlns:a="http://schemas.openxmlformats.org/drawingml/2006/main"/>
        </p:blipFill>
        <p:spPr>
          <a:xfrm xmlns:a="http://schemas.openxmlformats.org/drawingml/2006/main">
            <a:off x="10366901" y="5467350"/>
            <a:ext cx="697448" cy="590550"/>
          </a:xfrm>
          <a:prstGeom xmlns:a="http://schemas.openxmlformats.org/drawingml/2006/main" prst="rect">
            <a:avLst/>
          </a:prstGeom>
        </p:spPr>
      </p:pic>
    </p:spTree>
    <p:extLst>
      <p:ext uri="{BB962C8B-B14F-4D97-AF65-F5344CB8AC3E}">
        <p14:creationId xmlns:p14="http://schemas.microsoft.com/office/powerpoint/2010/main" val="1103619446"/>
      </p:ext>
    </p:extLst>
  </p:cSld>
</p:sld>
</file>

<file path=ppt/slides/slide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6B902C1-280F-4136-BB8D-B40AC8F7B2A1}"/>
              </a:ext>
            </a:extLst>
          </p:cNvPr>
          <p:cNvSpPr>
            <a:spLocks xmlns:a="http://schemas.openxmlformats.org/drawingml/2006/main" noGrp="1"/>
          </p:cNvSpPr>
          <p:nvPr/>
        </p:nvSpPr>
        <p:spPr>
          <a:xfrm xmlns:a="http://schemas.openxmlformats.org/drawingml/2006/main">
            <a:off x="647700" y="3429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E7D8A"/>
                </a:solidFill>
                <a:latin typeface="Aptos"/>
                <a:ea typeface="Aptos"/>
                <a:cs typeface="Aptos"/>
              </a:defRPr>
            </a:pPr>
            <a:r>
              <a:rPr sz="900" b="1" i="0">
                <a:solidFill>
                  <a:srgbClr val="2E7D8A"/>
                </a:solidFill>
                <a:latin typeface="Aptos"/>
                <a:ea typeface="Aptos"/>
                <a:cs typeface="Aptos"/>
              </a:rPr>
              <a:t>MOTIVATION</a:t>
            </a:r>
          </a:p>
        </p:txBody>
      </p:sp>
      <p:sp>
        <p:nvSpPr>
          <p:cNvPr id="2" name="">
            <a:extLst xmlns:a="http://schemas.openxmlformats.org/drawingml/2006/main">
              <a:ext uri="{FF2B5EF4-FFF2-40B4-BE49-F238E27FC236}">
                <a16:creationId xmlns:a16="http://schemas.microsoft.com/office/drawing/2014/main" id="{3CF24482-1445-4CC0-B02E-FAE409BCD696}"/>
              </a:ext>
            </a:extLst>
          </p:cNvPr>
          <p:cNvSpPr>
            <a:spLocks xmlns:a="http://schemas.openxmlformats.org/drawingml/2006/main" noGrp="1"/>
          </p:cNvSpPr>
          <p:nvPr/>
        </p:nvSpPr>
        <p:spPr>
          <a:xfrm xmlns:a="http://schemas.openxmlformats.org/drawingml/2006/main">
            <a:off x="6477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00" b="1" i="0">
                <a:solidFill>
                  <a:srgbClr val="0C3B32"/>
                </a:solidFill>
                <a:latin typeface="Aptos Display"/>
                <a:ea typeface="Aptos Display"/>
                <a:cs typeface="Aptos Display"/>
              </a:defRPr>
            </a:pPr>
            <a:r>
              <a:rPr sz="3000" b="1" i="0">
                <a:solidFill>
                  <a:srgbClr val="0C3B32"/>
                </a:solidFill>
                <a:latin typeface="Aptos Display"/>
                <a:ea typeface="Aptos Display"/>
                <a:cs typeface="Aptos Display"/>
              </a:rPr>
              <a:t>Why build another diabetes simulator?</a:t>
            </a:r>
          </a:p>
        </p:txBody>
      </p:sp>
      <p:sp>
        <p:nvSpPr>
          <p:cNvPr id="3" name="">
            <a:extLst xmlns:a="http://schemas.openxmlformats.org/drawingml/2006/main">
              <a:ext uri="{FF2B5EF4-FFF2-40B4-BE49-F238E27FC236}">
                <a16:creationId xmlns:a16="http://schemas.microsoft.com/office/drawing/2014/main" id="{7623A301-49D1-475E-972C-B0BBE3254CFD}"/>
              </a:ext>
            </a:extLst>
          </p:cNvPr>
          <p:cNvSpPr>
            <a:spLocks xmlns:a="http://schemas.openxmlformats.org/drawingml/2006/main" noGrp="1"/>
          </p:cNvSpPr>
          <p:nvPr/>
        </p:nvSpPr>
        <p:spPr>
          <a:xfrm xmlns:a="http://schemas.openxmlformats.org/drawingml/2006/main">
            <a:off x="647700" y="11811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5C6A70"/>
                </a:solidFill>
                <a:latin typeface="Aptos"/>
                <a:ea typeface="Aptos"/>
                <a:cs typeface="Aptos"/>
              </a:defRPr>
            </a:pPr>
            <a:r>
              <a:rPr sz="1275" b="0" i="0">
                <a:solidFill>
                  <a:srgbClr val="5C6A70"/>
                </a:solidFill>
                <a:latin typeface="Aptos"/>
                <a:ea typeface="Aptos"/>
                <a:cs typeface="Aptos"/>
              </a:rPr>
              <a:t>Because algorithm development needs a place where failure is observable, repeatable and harmless.</a:t>
            </a:r>
          </a:p>
        </p:txBody>
      </p:sp>
      <p:sp>
        <p:nvSpPr>
          <p:cNvPr id="4" name="">
            <a:extLst xmlns:a="http://schemas.openxmlformats.org/drawingml/2006/main">
              <a:ext uri="{FF2B5EF4-FFF2-40B4-BE49-F238E27FC236}">
                <a16:creationId xmlns:a16="http://schemas.microsoft.com/office/drawing/2014/main" id="{DA2BAA7B-3FAB-4543-A4F8-AEC6C222348F}"/>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B885E69-CA76-4F95-A874-45B8F67B6E56}"/>
              </a:ext>
            </a:extLst>
          </p:cNvPr>
          <p:cNvSpPr>
            <a:spLocks xmlns:a="http://schemas.openxmlformats.org/drawingml/2006/main" noGrp="1"/>
          </p:cNvSpPr>
          <p:nvPr/>
        </p:nvSpPr>
        <p:spPr>
          <a:xfrm xmlns:a="http://schemas.openxmlformats.org/drawingml/2006/main">
            <a:off x="742950" y="1885950"/>
            <a:ext cx="6858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870"/>
          </a:bodyPr>
          <a:lstStyle xmlns:a="http://schemas.openxmlformats.org/drawingml/2006/main"/>
          <a:p xmlns:a="http://schemas.openxmlformats.org/drawingml/2006/main">
            <a:pPr algn="l">
              <a:lnSpc>
                <a:spcPct val="92000"/>
              </a:lnSpc>
              <a:buNone/>
              <a:defRPr sz="2925" b="1" i="0">
                <a:solidFill>
                  <a:srgbClr val="0C3B32"/>
                </a:solidFill>
                <a:latin typeface="Aptos Display"/>
                <a:ea typeface="Aptos Display"/>
                <a:cs typeface="Aptos Display"/>
              </a:defRPr>
            </a:pPr>
            <a:r>
              <a:rPr sz="2925" b="1" i="0">
                <a:solidFill>
                  <a:srgbClr val="0C3B32"/>
                </a:solidFill>
                <a:latin typeface="Aptos Display"/>
                <a:ea typeface="Aptos Display"/>
                <a:cs typeface="Aptos Display"/>
              </a:rPr>
              <a:t>“No real patient should be the debugging environment.”</a:t>
            </a:r>
          </a:p>
        </p:txBody>
      </p:sp>
      <p:sp>
        <p:nvSpPr>
          <p:cNvPr id="6" name="">
            <a:extLst xmlns:a="http://schemas.openxmlformats.org/drawingml/2006/main">
              <a:ext uri="{FF2B5EF4-FFF2-40B4-BE49-F238E27FC236}">
                <a16:creationId xmlns:a16="http://schemas.microsoft.com/office/drawing/2014/main" id="{8B6853FC-5A50-4F98-B484-EFDE22D9EA43}"/>
              </a:ext>
            </a:extLst>
          </p:cNvPr>
          <p:cNvSpPr>
            <a:spLocks xmlns:a="http://schemas.openxmlformats.org/drawingml/2006/main" noGrp="1"/>
          </p:cNvSpPr>
          <p:nvPr/>
        </p:nvSpPr>
        <p:spPr>
          <a:xfrm xmlns:a="http://schemas.openxmlformats.org/drawingml/2006/main">
            <a:off x="742950" y="3143250"/>
            <a:ext cx="3162300" cy="2381250"/>
          </a:xfrm>
          <a:prstGeom xmlns:a="http://schemas.openxmlformats.org/drawingml/2006/main" prst="roundRect">
            <a:avLst>
              <a:gd name="adj" fmla="val 4800"/>
            </a:avLst>
          </a:prstGeom>
          <a:solidFill xmlns:a="http://schemas.openxmlformats.org/drawingml/2006/main">
            <a:srgbClr val="FFFDF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FF4D873-69C8-42AD-BFF6-6F741B672347}"/>
              </a:ext>
            </a:extLst>
          </p:cNvPr>
          <p:cNvSpPr>
            <a:spLocks xmlns:a="http://schemas.openxmlformats.org/drawingml/2006/main" noGrp="1"/>
          </p:cNvSpPr>
          <p:nvPr/>
        </p:nvSpPr>
        <p:spPr>
          <a:xfrm xmlns:a="http://schemas.openxmlformats.org/drawingml/2006/main">
            <a:off x="914400" y="3333750"/>
            <a:ext cx="1066800" cy="304800"/>
          </a:xfrm>
          <a:prstGeom xmlns:a="http://schemas.openxmlformats.org/drawingml/2006/main" prst="roundRect">
            <a:avLst>
              <a:gd name="adj" fmla="val 37500"/>
            </a:avLst>
          </a:prstGeom>
          <a:solidFill xmlns:a="http://schemas.openxmlformats.org/drawingml/2006/main">
            <a:srgbClr val="E4EEE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5663C53-B282-42BE-A7F4-303B7437A773}"/>
              </a:ext>
            </a:extLst>
          </p:cNvPr>
          <p:cNvSpPr>
            <a:spLocks xmlns:a="http://schemas.openxmlformats.org/drawingml/2006/main" noGrp="1"/>
          </p:cNvSpPr>
          <p:nvPr/>
        </p:nvSpPr>
        <p:spPr>
          <a:xfrm xmlns:a="http://schemas.openxmlformats.org/drawingml/2006/main">
            <a:off x="1009650" y="3371850"/>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954"/>
          </a:bodyPr>
          <a:lstStyle xmlns:a="http://schemas.openxmlformats.org/drawingml/2006/main"/>
          <a:p xmlns:a="http://schemas.openxmlformats.org/drawingml/2006/main">
            <a:pPr algn="ctr">
              <a:lnSpc>
                <a:spcPct val="100000"/>
              </a:lnSpc>
              <a:buNone/>
              <a:defRPr sz="1050" b="1" i="0">
                <a:solidFill>
                  <a:srgbClr val="0C3B32"/>
                </a:solidFill>
                <a:latin typeface="Aptos"/>
                <a:ea typeface="Aptos"/>
                <a:cs typeface="Aptos"/>
              </a:defRPr>
            </a:pPr>
            <a:r>
              <a:rPr sz="1050" b="1" i="0">
                <a:solidFill>
                  <a:srgbClr val="0C3B32"/>
                </a:solidFill>
                <a:latin typeface="Aptos"/>
                <a:ea typeface="Aptos"/>
                <a:cs typeface="Aptos"/>
              </a:rPr>
              <a:t>MULTI-SCALE</a:t>
            </a:r>
          </a:p>
        </p:txBody>
      </p:sp>
      <p:sp>
        <p:nvSpPr>
          <p:cNvPr id="9" name="">
            <a:extLst xmlns:a="http://schemas.openxmlformats.org/drawingml/2006/main">
              <a:ext uri="{FF2B5EF4-FFF2-40B4-BE49-F238E27FC236}">
                <a16:creationId xmlns:a16="http://schemas.microsoft.com/office/drawing/2014/main" id="{E26B10B5-23BC-45D0-9178-105CA7A79C84}"/>
              </a:ext>
            </a:extLst>
          </p:cNvPr>
          <p:cNvSpPr>
            <a:spLocks xmlns:a="http://schemas.openxmlformats.org/drawingml/2006/main" noGrp="1"/>
          </p:cNvSpPr>
          <p:nvPr/>
        </p:nvSpPr>
        <p:spPr>
          <a:xfrm xmlns:a="http://schemas.openxmlformats.org/drawingml/2006/main">
            <a:off x="914400" y="3829050"/>
            <a:ext cx="2781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0C3B32"/>
                </a:solidFill>
                <a:latin typeface="Aptos Display"/>
                <a:ea typeface="Aptos Display"/>
                <a:cs typeface="Aptos Display"/>
              </a:defRPr>
            </a:pPr>
            <a:r>
              <a:rPr sz="1800" b="1" i="0">
                <a:solidFill>
                  <a:srgbClr val="0C3B32"/>
                </a:solidFill>
                <a:latin typeface="Aptos Display"/>
                <a:ea typeface="Aptos Display"/>
                <a:cs typeface="Aptos Display"/>
              </a:rPr>
              <a:t>Physiological complexity</a:t>
            </a:r>
          </a:p>
        </p:txBody>
      </p:sp>
      <p:sp>
        <p:nvSpPr>
          <p:cNvPr id="10" name="">
            <a:extLst xmlns:a="http://schemas.openxmlformats.org/drawingml/2006/main">
              <a:ext uri="{FF2B5EF4-FFF2-40B4-BE49-F238E27FC236}">
                <a16:creationId xmlns:a16="http://schemas.microsoft.com/office/drawing/2014/main" id="{EB7AA0D7-6D41-4E01-B3AF-DB55A2FAFE0C}"/>
              </a:ext>
            </a:extLst>
          </p:cNvPr>
          <p:cNvSpPr>
            <a:spLocks xmlns:a="http://schemas.openxmlformats.org/drawingml/2006/main" noGrp="1"/>
          </p:cNvSpPr>
          <p:nvPr/>
        </p:nvSpPr>
        <p:spPr>
          <a:xfrm xmlns:a="http://schemas.openxmlformats.org/drawingml/2006/main">
            <a:off x="914400" y="4400550"/>
            <a:ext cx="27813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0" i="0">
                <a:solidFill>
                  <a:srgbClr val="5C6A70"/>
                </a:solidFill>
                <a:latin typeface="Aptos"/>
                <a:ea typeface="Aptos"/>
                <a:cs typeface="Aptos"/>
              </a:defRPr>
            </a:pPr>
            <a:r>
              <a:rPr sz="1275" b="0" i="0">
                <a:solidFill>
                  <a:srgbClr val="5C6A70"/>
                </a:solidFill>
                <a:latin typeface="Aptos"/>
                <a:ea typeface="Aptos"/>
                <a:cs typeface="Aptos"/>
              </a:rPr>
              <a:t>Meals, insulin kinetics, exercise, stress, sensor lag and counter-regulation interact over different time scales.</a:t>
            </a:r>
          </a:p>
        </p:txBody>
      </p:sp>
      <p:sp>
        <p:nvSpPr>
          <p:cNvPr id="11" name="">
            <a:extLst xmlns:a="http://schemas.openxmlformats.org/drawingml/2006/main">
              <a:ext uri="{FF2B5EF4-FFF2-40B4-BE49-F238E27FC236}">
                <a16:creationId xmlns:a16="http://schemas.microsoft.com/office/drawing/2014/main" id="{EB2BD5A0-6A57-4128-8DCD-6577FA2982B9}"/>
              </a:ext>
            </a:extLst>
          </p:cNvPr>
          <p:cNvSpPr>
            <a:spLocks xmlns:a="http://schemas.openxmlformats.org/drawingml/2006/main" noGrp="1"/>
          </p:cNvSpPr>
          <p:nvPr/>
        </p:nvSpPr>
        <p:spPr>
          <a:xfrm xmlns:a="http://schemas.openxmlformats.org/drawingml/2006/main">
            <a:off x="4305300" y="3143250"/>
            <a:ext cx="3162300" cy="2381250"/>
          </a:xfrm>
          <a:prstGeom xmlns:a="http://schemas.openxmlformats.org/drawingml/2006/main" prst="roundRect">
            <a:avLst>
              <a:gd name="adj" fmla="val 4800"/>
            </a:avLst>
          </a:prstGeom>
          <a:solidFill xmlns:a="http://schemas.openxmlformats.org/drawingml/2006/main">
            <a:srgbClr val="E7F0F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10A9983-F4FD-489C-9407-EDAAF402003B}"/>
              </a:ext>
            </a:extLst>
          </p:cNvPr>
          <p:cNvSpPr>
            <a:spLocks xmlns:a="http://schemas.openxmlformats.org/drawingml/2006/main" noGrp="1"/>
          </p:cNvSpPr>
          <p:nvPr/>
        </p:nvSpPr>
        <p:spPr>
          <a:xfrm xmlns:a="http://schemas.openxmlformats.org/drawingml/2006/main">
            <a:off x="4476750" y="3333750"/>
            <a:ext cx="1066800" cy="304800"/>
          </a:xfrm>
          <a:prstGeom xmlns:a="http://schemas.openxmlformats.org/drawingml/2006/main" prst="roundRect">
            <a:avLst>
              <a:gd name="adj" fmla="val 37500"/>
            </a:avLst>
          </a:prstGeom>
          <a:solidFill xmlns:a="http://schemas.openxmlformats.org/drawingml/2006/main">
            <a:srgbClr val="2E7D8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5698E8C-23F6-42CA-B527-3F4666FA09CA}"/>
              </a:ext>
            </a:extLst>
          </p:cNvPr>
          <p:cNvSpPr>
            <a:spLocks xmlns:a="http://schemas.openxmlformats.org/drawingml/2006/main" noGrp="1"/>
          </p:cNvSpPr>
          <p:nvPr/>
        </p:nvSpPr>
        <p:spPr>
          <a:xfrm xmlns:a="http://schemas.openxmlformats.org/drawingml/2006/main">
            <a:off x="4572000" y="3371850"/>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FFFFFF"/>
                </a:solidFill>
                <a:latin typeface="Aptos"/>
                <a:ea typeface="Aptos"/>
                <a:cs typeface="Aptos"/>
              </a:defRPr>
            </a:pPr>
            <a:r>
              <a:rPr sz="1050" b="1" i="0">
                <a:solidFill>
                  <a:srgbClr val="FFFFFF"/>
                </a:solidFill>
                <a:latin typeface="Aptos"/>
                <a:ea typeface="Aptos"/>
                <a:cs typeface="Aptos"/>
              </a:rPr>
              <a:t>SAFETY</a:t>
            </a:r>
          </a:p>
        </p:txBody>
      </p:sp>
      <p:sp>
        <p:nvSpPr>
          <p:cNvPr id="14" name="">
            <a:extLst xmlns:a="http://schemas.openxmlformats.org/drawingml/2006/main">
              <a:ext uri="{FF2B5EF4-FFF2-40B4-BE49-F238E27FC236}">
                <a16:creationId xmlns:a16="http://schemas.microsoft.com/office/drawing/2014/main" id="{2767E4E4-D51C-47F6-AD4E-C79ABE405767}"/>
              </a:ext>
            </a:extLst>
          </p:cNvPr>
          <p:cNvSpPr>
            <a:spLocks xmlns:a="http://schemas.openxmlformats.org/drawingml/2006/main" noGrp="1"/>
          </p:cNvSpPr>
          <p:nvPr/>
        </p:nvSpPr>
        <p:spPr>
          <a:xfrm xmlns:a="http://schemas.openxmlformats.org/drawingml/2006/main">
            <a:off x="4476750" y="3829050"/>
            <a:ext cx="2781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640"/>
          </a:bodyPr>
          <a:lstStyle xmlns:a="http://schemas.openxmlformats.org/drawingml/2006/main"/>
          <a:p xmlns:a="http://schemas.openxmlformats.org/drawingml/2006/main">
            <a:pPr algn="l">
              <a:lnSpc>
                <a:spcPct val="100000"/>
              </a:lnSpc>
              <a:buNone/>
              <a:defRPr sz="1800" b="1" i="0">
                <a:solidFill>
                  <a:srgbClr val="0C3B32"/>
                </a:solidFill>
                <a:latin typeface="Aptos Display"/>
                <a:ea typeface="Aptos Display"/>
                <a:cs typeface="Aptos Display"/>
              </a:defRPr>
            </a:pPr>
            <a:r>
              <a:rPr sz="1800" b="1" i="0">
                <a:solidFill>
                  <a:srgbClr val="0C3B32"/>
                </a:solidFill>
                <a:latin typeface="Aptos Display"/>
                <a:ea typeface="Aptos Display"/>
                <a:cs typeface="Aptos Display"/>
              </a:rPr>
              <a:t>Opaque algorithm behaviour</a:t>
            </a:r>
          </a:p>
        </p:txBody>
      </p:sp>
      <p:sp>
        <p:nvSpPr>
          <p:cNvPr id="15" name="">
            <a:extLst xmlns:a="http://schemas.openxmlformats.org/drawingml/2006/main">
              <a:ext uri="{FF2B5EF4-FFF2-40B4-BE49-F238E27FC236}">
                <a16:creationId xmlns:a16="http://schemas.microsoft.com/office/drawing/2014/main" id="{58BBF0F8-17E5-45CD-93A1-97B80C8C4C4F}"/>
              </a:ext>
            </a:extLst>
          </p:cNvPr>
          <p:cNvSpPr>
            <a:spLocks xmlns:a="http://schemas.openxmlformats.org/drawingml/2006/main" noGrp="1"/>
          </p:cNvSpPr>
          <p:nvPr/>
        </p:nvSpPr>
        <p:spPr>
          <a:xfrm xmlns:a="http://schemas.openxmlformats.org/drawingml/2006/main">
            <a:off x="4476750" y="4400550"/>
            <a:ext cx="27813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0" i="0">
                <a:solidFill>
                  <a:srgbClr val="5C6A70"/>
                </a:solidFill>
                <a:latin typeface="Aptos"/>
                <a:ea typeface="Aptos"/>
                <a:cs typeface="Aptos"/>
              </a:defRPr>
            </a:pPr>
            <a:r>
              <a:rPr sz="1275" b="0" i="0">
                <a:solidFill>
                  <a:srgbClr val="5C6A70"/>
                </a:solidFill>
                <a:latin typeface="Aptos"/>
                <a:ea typeface="Aptos"/>
                <a:cs typeface="Aptos"/>
              </a:rPr>
              <a:t>A low numerical error does not prove that a controller or predictor behaves safely in difficult situations.</a:t>
            </a:r>
          </a:p>
        </p:txBody>
      </p:sp>
      <p:sp>
        <p:nvSpPr>
          <p:cNvPr id="16" name="">
            <a:extLst xmlns:a="http://schemas.openxmlformats.org/drawingml/2006/main">
              <a:ext uri="{FF2B5EF4-FFF2-40B4-BE49-F238E27FC236}">
                <a16:creationId xmlns:a16="http://schemas.microsoft.com/office/drawing/2014/main" id="{28ACAEEF-B4E5-4739-822F-033242325D6B}"/>
              </a:ext>
            </a:extLst>
          </p:cNvPr>
          <p:cNvSpPr>
            <a:spLocks xmlns:a="http://schemas.openxmlformats.org/drawingml/2006/main" noGrp="1"/>
          </p:cNvSpPr>
          <p:nvPr/>
        </p:nvSpPr>
        <p:spPr>
          <a:xfrm xmlns:a="http://schemas.openxmlformats.org/drawingml/2006/main">
            <a:off x="7867650" y="3143250"/>
            <a:ext cx="3162300" cy="2381250"/>
          </a:xfrm>
          <a:prstGeom xmlns:a="http://schemas.openxmlformats.org/drawingml/2006/main" prst="roundRect">
            <a:avLst>
              <a:gd name="adj" fmla="val 4800"/>
            </a:avLst>
          </a:prstGeom>
          <a:solidFill xmlns:a="http://schemas.openxmlformats.org/drawingml/2006/main">
            <a:srgbClr val="FFFDF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077DBA3-977F-41D7-B2CB-6B22C7946B48}"/>
              </a:ext>
            </a:extLst>
          </p:cNvPr>
          <p:cNvSpPr>
            <a:spLocks xmlns:a="http://schemas.openxmlformats.org/drawingml/2006/main" noGrp="1"/>
          </p:cNvSpPr>
          <p:nvPr/>
        </p:nvSpPr>
        <p:spPr>
          <a:xfrm xmlns:a="http://schemas.openxmlformats.org/drawingml/2006/main">
            <a:off x="8039100" y="3333750"/>
            <a:ext cx="1066800" cy="304800"/>
          </a:xfrm>
          <a:prstGeom xmlns:a="http://schemas.openxmlformats.org/drawingml/2006/main" prst="roundRect">
            <a:avLst>
              <a:gd name="adj" fmla="val 37500"/>
            </a:avLst>
          </a:prstGeom>
          <a:solidFill xmlns:a="http://schemas.openxmlformats.org/drawingml/2006/main">
            <a:srgbClr val="E4EEE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2B60FCB-1FD3-4005-A7CA-F679D703052C}"/>
              </a:ext>
            </a:extLst>
          </p:cNvPr>
          <p:cNvSpPr>
            <a:spLocks xmlns:a="http://schemas.openxmlformats.org/drawingml/2006/main" noGrp="1"/>
          </p:cNvSpPr>
          <p:nvPr/>
        </p:nvSpPr>
        <p:spPr>
          <a:xfrm xmlns:a="http://schemas.openxmlformats.org/drawingml/2006/main">
            <a:off x="8134350" y="3371850"/>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0C3B32"/>
                </a:solidFill>
                <a:latin typeface="Aptos"/>
                <a:ea typeface="Aptos"/>
                <a:cs typeface="Aptos"/>
              </a:defRPr>
            </a:pPr>
            <a:r>
              <a:rPr sz="1050" b="1" i="0">
                <a:solidFill>
                  <a:srgbClr val="0C3B32"/>
                </a:solidFill>
                <a:latin typeface="Aptos"/>
                <a:ea typeface="Aptos"/>
                <a:cs typeface="Aptos"/>
              </a:rPr>
              <a:t>EVIDENCE</a:t>
            </a:r>
          </a:p>
        </p:txBody>
      </p:sp>
      <p:sp>
        <p:nvSpPr>
          <p:cNvPr id="19" name="">
            <a:extLst xmlns:a="http://schemas.openxmlformats.org/drawingml/2006/main">
              <a:ext uri="{FF2B5EF4-FFF2-40B4-BE49-F238E27FC236}">
                <a16:creationId xmlns:a16="http://schemas.microsoft.com/office/drawing/2014/main" id="{AE6F5BBA-2987-48DA-94DB-3893D2F8E032}"/>
              </a:ext>
            </a:extLst>
          </p:cNvPr>
          <p:cNvSpPr>
            <a:spLocks xmlns:a="http://schemas.openxmlformats.org/drawingml/2006/main" noGrp="1"/>
          </p:cNvSpPr>
          <p:nvPr/>
        </p:nvSpPr>
        <p:spPr>
          <a:xfrm xmlns:a="http://schemas.openxmlformats.org/drawingml/2006/main">
            <a:off x="8039100" y="3829050"/>
            <a:ext cx="2781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0C3B32"/>
                </a:solidFill>
                <a:latin typeface="Aptos Display"/>
                <a:ea typeface="Aptos Display"/>
                <a:cs typeface="Aptos Display"/>
              </a:defRPr>
            </a:pPr>
            <a:r>
              <a:rPr sz="1800" b="1" i="0">
                <a:solidFill>
                  <a:srgbClr val="0C3B32"/>
                </a:solidFill>
                <a:latin typeface="Aptos Display"/>
                <a:ea typeface="Aptos Display"/>
                <a:cs typeface="Aptos Display"/>
              </a:rPr>
              <a:t>Weak reproducibility</a:t>
            </a:r>
          </a:p>
        </p:txBody>
      </p:sp>
      <p:sp>
        <p:nvSpPr>
          <p:cNvPr id="20" name="">
            <a:extLst xmlns:a="http://schemas.openxmlformats.org/drawingml/2006/main">
              <a:ext uri="{FF2B5EF4-FFF2-40B4-BE49-F238E27FC236}">
                <a16:creationId xmlns:a16="http://schemas.microsoft.com/office/drawing/2014/main" id="{D01628D4-D113-43A7-B803-88973EA54855}"/>
              </a:ext>
            </a:extLst>
          </p:cNvPr>
          <p:cNvSpPr>
            <a:spLocks xmlns:a="http://schemas.openxmlformats.org/drawingml/2006/main" noGrp="1"/>
          </p:cNvSpPr>
          <p:nvPr/>
        </p:nvSpPr>
        <p:spPr>
          <a:xfrm xmlns:a="http://schemas.openxmlformats.org/drawingml/2006/main">
            <a:off x="8039100" y="4400550"/>
            <a:ext cx="27813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0" i="0">
                <a:solidFill>
                  <a:srgbClr val="5C6A70"/>
                </a:solidFill>
                <a:latin typeface="Aptos"/>
                <a:ea typeface="Aptos"/>
                <a:cs typeface="Aptos"/>
              </a:defRPr>
            </a:pPr>
            <a:r>
              <a:rPr sz="1275" b="0" i="0">
                <a:solidFill>
                  <a:srgbClr val="5C6A70"/>
                </a:solidFill>
                <a:latin typeface="Aptos"/>
                <a:ea typeface="Aptos"/>
                <a:cs typeface="Aptos"/>
              </a:rPr>
              <a:t>A graph without seeds, profiles, data lineage and safety logs is difficult for another researcher to challenge.</a:t>
            </a:r>
          </a:p>
        </p:txBody>
      </p:sp>
      <p:sp>
        <p:nvSpPr>
          <p:cNvPr id="21" name="">
            <a:extLst xmlns:a="http://schemas.openxmlformats.org/drawingml/2006/main">
              <a:ext uri="{FF2B5EF4-FFF2-40B4-BE49-F238E27FC236}">
                <a16:creationId xmlns:a16="http://schemas.microsoft.com/office/drawing/2014/main" id="{49E844BF-9D45-4ED0-A807-0CB16AED1167}"/>
              </a:ext>
            </a:extLst>
          </p:cNvPr>
          <p:cNvSpPr>
            <a:spLocks xmlns:a="http://schemas.openxmlformats.org/drawingml/2006/main" noGrp="1"/>
          </p:cNvSpPr>
          <p:nvPr/>
        </p:nvSpPr>
        <p:spPr>
          <a:xfrm xmlns:a="http://schemas.openxmlformats.org/drawingml/2006/main">
            <a:off x="3390900" y="5772150"/>
            <a:ext cx="5410200" cy="304800"/>
          </a:xfrm>
          <a:prstGeom xmlns:a="http://schemas.openxmlformats.org/drawingml/2006/main" prst="roundRect">
            <a:avLst>
              <a:gd name="adj" fmla="val 37500"/>
            </a:avLst>
          </a:prstGeom>
          <a:solidFill xmlns:a="http://schemas.openxmlformats.org/drawingml/2006/main">
            <a:srgbClr val="F5E4E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3FD8D88-B1D7-454D-9934-BA7B89F890F2}"/>
              </a:ext>
            </a:extLst>
          </p:cNvPr>
          <p:cNvSpPr>
            <a:spLocks xmlns:a="http://schemas.openxmlformats.org/drawingml/2006/main" noGrp="1"/>
          </p:cNvSpPr>
          <p:nvPr/>
        </p:nvSpPr>
        <p:spPr>
          <a:xfrm xmlns:a="http://schemas.openxmlformats.org/drawingml/2006/main">
            <a:off x="3486150" y="5810250"/>
            <a:ext cx="5219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C5534A"/>
                </a:solidFill>
                <a:latin typeface="Aptos"/>
                <a:ea typeface="Aptos"/>
                <a:cs typeface="Aptos"/>
              </a:defRPr>
            </a:pPr>
            <a:r>
              <a:rPr sz="1050" b="1" i="0">
                <a:solidFill>
                  <a:srgbClr val="C5534A"/>
                </a:solidFill>
                <a:latin typeface="Aptos"/>
                <a:ea typeface="Aptos"/>
                <a:cs typeface="Aptos"/>
              </a:rPr>
              <a:t>THE SDK IS A PRE-CLINICAL RESEARCH TOOL — NOT A DOSING SYSTEM</a:t>
            </a:r>
          </a:p>
        </p:txBody>
      </p:sp>
      <p:sp>
        <p:nvSpPr>
          <p:cNvPr id="23" name="">
            <a:extLst xmlns:a="http://schemas.openxmlformats.org/drawingml/2006/main">
              <a:ext uri="{FF2B5EF4-FFF2-40B4-BE49-F238E27FC236}">
                <a16:creationId xmlns:a16="http://schemas.microsoft.com/office/drawing/2014/main" id="{404A1A73-DF9E-439C-9E98-7E8705AE5DCF}"/>
              </a:ext>
            </a:extLst>
          </p:cNvPr>
          <p:cNvSpPr>
            <a:spLocks xmlns:a="http://schemas.openxmlformats.org/drawingml/2006/main" noGrp="1"/>
          </p:cNvSpPr>
          <p:nvPr/>
        </p:nvSpPr>
        <p:spPr>
          <a:xfrm xmlns:a="http://schemas.openxmlformats.org/drawingml/2006/main">
            <a:off x="647700" y="6467475"/>
            <a:ext cx="10896600" cy="9525"/>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C927D0E-13E5-4A88-84F0-300D3E79CEE2}"/>
              </a:ext>
            </a:extLst>
          </p:cNvPr>
          <p:cNvSpPr>
            <a:spLocks xmlns:a="http://schemas.openxmlformats.org/drawingml/2006/main" noGrp="1"/>
          </p:cNvSpPr>
          <p:nvPr/>
        </p:nvSpPr>
        <p:spPr>
          <a:xfrm xmlns:a="http://schemas.openxmlformats.org/drawingml/2006/main">
            <a:off x="647700" y="6553200"/>
            <a:ext cx="495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C6A70"/>
                </a:solidFill>
                <a:latin typeface="Aptos"/>
                <a:ea typeface="Aptos"/>
                <a:cs typeface="Aptos"/>
              </a:defRPr>
            </a:pPr>
            <a:r>
              <a:rPr sz="750" b="1" i="0">
                <a:solidFill>
                  <a:srgbClr val="5C6A70"/>
                </a:solidFill>
                <a:latin typeface="Aptos"/>
                <a:ea typeface="Aptos"/>
                <a:cs typeface="Aptos"/>
              </a:rPr>
              <a:t>RESEARCH &amp; EDUCATION ONLY · NOT A MEDICAL DEVICE</a:t>
            </a:r>
          </a:p>
        </p:txBody>
      </p:sp>
      <p:sp>
        <p:nvSpPr>
          <p:cNvPr id="25" name="">
            <a:extLst xmlns:a="http://schemas.openxmlformats.org/drawingml/2006/main">
              <a:ext uri="{FF2B5EF4-FFF2-40B4-BE49-F238E27FC236}">
                <a16:creationId xmlns:a16="http://schemas.microsoft.com/office/drawing/2014/main" id="{1BF7DA55-4B76-4A0E-8DC0-5C87C32FBE62}"/>
              </a:ext>
            </a:extLst>
          </p:cNvPr>
          <p:cNvSpPr>
            <a:spLocks xmlns:a="http://schemas.openxmlformats.org/drawingml/2006/main" noGrp="1"/>
          </p:cNvSpPr>
          <p:nvPr/>
        </p:nvSpPr>
        <p:spPr>
          <a:xfrm xmlns:a="http://schemas.openxmlformats.org/drawingml/2006/main">
            <a:off x="11096625" y="6534150"/>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1" i="0">
                <a:solidFill>
                  <a:srgbClr val="0C3B32"/>
                </a:solidFill>
                <a:latin typeface="Aptos"/>
                <a:ea typeface="Aptos"/>
                <a:cs typeface="Aptos"/>
              </a:defRPr>
            </a:pPr>
            <a:r>
              <a:rPr sz="900" b="1" i="0">
                <a:solidFill>
                  <a:srgbClr val="0C3B32"/>
                </a:solidFill>
                <a:latin typeface="Aptos"/>
                <a:ea typeface="Aptos"/>
                <a:cs typeface="Aptos"/>
              </a:rPr>
              <a:t>02</a:t>
            </a:r>
          </a:p>
        </p:txBody>
      </p:sp>
    </p:spTree>
    <p:extLst>
      <p:ext uri="{BB962C8B-B14F-4D97-AF65-F5344CB8AC3E}">
        <p14:creationId xmlns:p14="http://schemas.microsoft.com/office/powerpoint/2010/main" val="964918354"/>
      </p:ext>
    </p:extLst>
  </p:cSld>
</p:sld>
</file>

<file path=ppt/slides/slide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77A39D7-3A54-45BB-84C3-E639610C2D53}"/>
              </a:ext>
            </a:extLst>
          </p:cNvPr>
          <p:cNvSpPr>
            <a:spLocks xmlns:a="http://schemas.openxmlformats.org/drawingml/2006/main" noGrp="1"/>
          </p:cNvSpPr>
          <p:nvPr/>
        </p:nvSpPr>
        <p:spPr>
          <a:xfrm xmlns:a="http://schemas.openxmlformats.org/drawingml/2006/main">
            <a:off x="647700" y="3429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E7D8A"/>
                </a:solidFill>
                <a:latin typeface="Aptos"/>
                <a:ea typeface="Aptos"/>
                <a:cs typeface="Aptos"/>
              </a:defRPr>
            </a:pPr>
            <a:r>
              <a:rPr sz="900" b="1" i="0">
                <a:solidFill>
                  <a:srgbClr val="2E7D8A"/>
                </a:solidFill>
                <a:latin typeface="Aptos"/>
                <a:ea typeface="Aptos"/>
                <a:cs typeface="Aptos"/>
              </a:rPr>
              <a:t>RESEARCH QUESTION</a:t>
            </a:r>
          </a:p>
        </p:txBody>
      </p:sp>
      <p:sp>
        <p:nvSpPr>
          <p:cNvPr id="2" name="">
            <a:extLst xmlns:a="http://schemas.openxmlformats.org/drawingml/2006/main">
              <a:ext uri="{FF2B5EF4-FFF2-40B4-BE49-F238E27FC236}">
                <a16:creationId xmlns:a16="http://schemas.microsoft.com/office/drawing/2014/main" id="{20259F5C-76E0-47B5-A230-CD8F307C341A}"/>
              </a:ext>
            </a:extLst>
          </p:cNvPr>
          <p:cNvSpPr>
            <a:spLocks xmlns:a="http://schemas.openxmlformats.org/drawingml/2006/main" noGrp="1"/>
          </p:cNvSpPr>
          <p:nvPr/>
        </p:nvSpPr>
        <p:spPr>
          <a:xfrm xmlns:a="http://schemas.openxmlformats.org/drawingml/2006/main">
            <a:off x="6477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569"/>
          </a:bodyPr>
          <a:lstStyle xmlns:a="http://schemas.openxmlformats.org/drawingml/2006/main"/>
          <a:p xmlns:a="http://schemas.openxmlformats.org/drawingml/2006/main">
            <a:pPr algn="l">
              <a:lnSpc>
                <a:spcPct val="92000"/>
              </a:lnSpc>
              <a:buNone/>
              <a:defRPr sz="3000" b="1" i="0">
                <a:solidFill>
                  <a:srgbClr val="0C3B32"/>
                </a:solidFill>
                <a:latin typeface="Aptos Display"/>
                <a:ea typeface="Aptos Display"/>
                <a:cs typeface="Aptos Display"/>
              </a:defRPr>
            </a:pPr>
            <a:r>
              <a:rPr sz="3000" b="1" i="0">
                <a:solidFill>
                  <a:srgbClr val="0C3B32"/>
                </a:solidFill>
                <a:latin typeface="Aptos Display"/>
                <a:ea typeface="Aptos Display"/>
                <a:cs typeface="Aptos Display"/>
              </a:rPr>
              <a:t>Can risky algorithm behaviour be exposed before clinical use?</a:t>
            </a:r>
          </a:p>
        </p:txBody>
      </p:sp>
      <p:sp>
        <p:nvSpPr>
          <p:cNvPr id="3" name="">
            <a:extLst xmlns:a="http://schemas.openxmlformats.org/drawingml/2006/main">
              <a:ext uri="{FF2B5EF4-FFF2-40B4-BE49-F238E27FC236}">
                <a16:creationId xmlns:a16="http://schemas.microsoft.com/office/drawing/2014/main" id="{FE6086F4-DB7A-494C-BE6E-AAC44AE9BA09}"/>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7B02AE3-F89B-4E2B-9A8F-AB50F9F13D18}"/>
              </a:ext>
            </a:extLst>
          </p:cNvPr>
          <p:cNvSpPr>
            <a:spLocks xmlns:a="http://schemas.openxmlformats.org/drawingml/2006/main" noGrp="1"/>
          </p:cNvSpPr>
          <p:nvPr/>
        </p:nvSpPr>
        <p:spPr>
          <a:xfrm xmlns:a="http://schemas.openxmlformats.org/drawingml/2006/main">
            <a:off x="742950" y="1847850"/>
            <a:ext cx="10706100" cy="1047750"/>
          </a:xfrm>
          <a:prstGeom xmlns:a="http://schemas.openxmlformats.org/drawingml/2006/main" prst="roundRect">
            <a:avLst>
              <a:gd name="adj" fmla="val 10909"/>
            </a:avLst>
          </a:prstGeom>
          <a:solidFill xmlns:a="http://schemas.openxmlformats.org/drawingml/2006/main">
            <a:srgbClr val="0C3B3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5079F02-01D1-4968-9D13-FF504A10F615}"/>
              </a:ext>
            </a:extLst>
          </p:cNvPr>
          <p:cNvSpPr>
            <a:spLocks xmlns:a="http://schemas.openxmlformats.org/drawingml/2006/main" noGrp="1"/>
          </p:cNvSpPr>
          <p:nvPr/>
        </p:nvSpPr>
        <p:spPr>
          <a:xfrm xmlns:a="http://schemas.openxmlformats.org/drawingml/2006/main">
            <a:off x="1066800" y="2076450"/>
            <a:ext cx="10058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076"/>
          </a:bodyPr>
          <a:lstStyle xmlns:a="http://schemas.openxmlformats.org/drawingml/2006/main"/>
          <a:p xmlns:a="http://schemas.openxmlformats.org/drawingml/2006/main">
            <a:pPr algn="ctr">
              <a:lnSpc>
                <a:spcPct val="94000"/>
              </a:lnSpc>
              <a:buNone/>
              <a:defRPr sz="2025" b="1" i="0">
                <a:solidFill>
                  <a:srgbClr val="FFFFFF"/>
                </a:solidFill>
                <a:latin typeface="Aptos Display"/>
                <a:ea typeface="Aptos Display"/>
                <a:cs typeface="Aptos Display"/>
              </a:defRPr>
            </a:pPr>
            <a:r>
              <a:rPr sz="2025" b="1" i="0">
                <a:solidFill>
                  <a:srgbClr val="FFFFFF"/>
                </a:solidFill>
                <a:latin typeface="Aptos Display"/>
                <a:ea typeface="Aptos Display"/>
                <a:cs typeface="Aptos Display"/>
              </a:rPr>
              <a:t>Can an open-source, safety-first simulation SDK make unsafe or unrealistic diabetes-algorithm behaviour visible before algorithms are tested near real patients?</a:t>
            </a:r>
          </a:p>
        </p:txBody>
      </p:sp>
      <p:sp>
        <p:nvSpPr>
          <p:cNvPr id="6" name="">
            <a:extLst xmlns:a="http://schemas.openxmlformats.org/drawingml/2006/main">
              <a:ext uri="{FF2B5EF4-FFF2-40B4-BE49-F238E27FC236}">
                <a16:creationId xmlns:a16="http://schemas.microsoft.com/office/drawing/2014/main" id="{2FD973D9-A9BC-4FC3-9AC7-CC28051A7E6C}"/>
              </a:ext>
            </a:extLst>
          </p:cNvPr>
          <p:cNvSpPr>
            <a:spLocks xmlns:a="http://schemas.openxmlformats.org/drawingml/2006/main" noGrp="1"/>
          </p:cNvSpPr>
          <p:nvPr/>
        </p:nvSpPr>
        <p:spPr>
          <a:xfrm xmlns:a="http://schemas.openxmlformats.org/drawingml/2006/main">
            <a:off x="742950" y="3219450"/>
            <a:ext cx="2476500" cy="1962150"/>
          </a:xfrm>
          <a:prstGeom xmlns:a="http://schemas.openxmlformats.org/drawingml/2006/main" prst="roundRect">
            <a:avLst>
              <a:gd name="adj" fmla="val 5825"/>
            </a:avLst>
          </a:prstGeom>
          <a:solidFill xmlns:a="http://schemas.openxmlformats.org/drawingml/2006/main">
            <a:srgbClr val="FFFDF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F2C2D45-06A1-44D8-BA4F-58B9C248FB85}"/>
              </a:ext>
            </a:extLst>
          </p:cNvPr>
          <p:cNvSpPr>
            <a:spLocks xmlns:a="http://schemas.openxmlformats.org/drawingml/2006/main" noGrp="1"/>
          </p:cNvSpPr>
          <p:nvPr/>
        </p:nvSpPr>
        <p:spPr>
          <a:xfrm xmlns:a="http://schemas.openxmlformats.org/drawingml/2006/main">
            <a:off x="914400" y="3390900"/>
            <a:ext cx="323850" cy="323850"/>
          </a:xfrm>
          <a:prstGeom xmlns:a="http://schemas.openxmlformats.org/drawingml/2006/main" prst="ellipse">
            <a:avLst/>
          </a:prstGeom>
          <a:solidFill xmlns:a="http://schemas.openxmlformats.org/drawingml/2006/main">
            <a:srgbClr val="2E7D8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2EA6834-C42D-4481-8FCA-04E0C1128A95}"/>
              </a:ext>
            </a:extLst>
          </p:cNvPr>
          <p:cNvSpPr>
            <a:spLocks xmlns:a="http://schemas.openxmlformats.org/drawingml/2006/main" noGrp="1"/>
          </p:cNvSpPr>
          <p:nvPr/>
        </p:nvSpPr>
        <p:spPr>
          <a:xfrm xmlns:a="http://schemas.openxmlformats.org/drawingml/2006/main">
            <a:off x="914400" y="34290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i="0">
                <a:solidFill>
                  <a:srgbClr val="FFFFFF"/>
                </a:solidFill>
                <a:latin typeface="Aptos"/>
                <a:ea typeface="Aptos"/>
                <a:cs typeface="Aptos"/>
              </a:defRPr>
            </a:pPr>
            <a:r>
              <a:rPr sz="1125" b="1" i="0">
                <a:solidFill>
                  <a:srgbClr val="FFFFFF"/>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EC70E9F1-D03A-4648-8714-81963DFDF1D4}"/>
              </a:ext>
            </a:extLst>
          </p:cNvPr>
          <p:cNvSpPr>
            <a:spLocks xmlns:a="http://schemas.openxmlformats.org/drawingml/2006/main" noGrp="1"/>
          </p:cNvSpPr>
          <p:nvPr/>
        </p:nvSpPr>
        <p:spPr>
          <a:xfrm xmlns:a="http://schemas.openxmlformats.org/drawingml/2006/main">
            <a:off x="1371600" y="3371850"/>
            <a:ext cx="1676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0C3B32"/>
                </a:solidFill>
                <a:latin typeface="Aptos Display"/>
                <a:ea typeface="Aptos Display"/>
                <a:cs typeface="Aptos Display"/>
              </a:defRPr>
            </a:pPr>
            <a:r>
              <a:rPr sz="1575" b="1" i="0">
                <a:solidFill>
                  <a:srgbClr val="0C3B32"/>
                </a:solidFill>
                <a:latin typeface="Aptos Display"/>
                <a:ea typeface="Aptos Display"/>
                <a:cs typeface="Aptos Display"/>
              </a:rPr>
              <a:t>Simulate</a:t>
            </a:r>
          </a:p>
        </p:txBody>
      </p:sp>
      <p:sp>
        <p:nvSpPr>
          <p:cNvPr id="10" name="">
            <a:extLst xmlns:a="http://schemas.openxmlformats.org/drawingml/2006/main">
              <a:ext uri="{FF2B5EF4-FFF2-40B4-BE49-F238E27FC236}">
                <a16:creationId xmlns:a16="http://schemas.microsoft.com/office/drawing/2014/main" id="{BF78DBE9-923E-4AFA-9C7B-F727C119EA3D}"/>
              </a:ext>
            </a:extLst>
          </p:cNvPr>
          <p:cNvSpPr>
            <a:spLocks xmlns:a="http://schemas.openxmlformats.org/drawingml/2006/main" noGrp="1"/>
          </p:cNvSpPr>
          <p:nvPr/>
        </p:nvSpPr>
        <p:spPr>
          <a:xfrm xmlns:a="http://schemas.openxmlformats.org/drawingml/2006/main">
            <a:off x="914400" y="3790950"/>
            <a:ext cx="21336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5C6A70"/>
                </a:solidFill>
                <a:latin typeface="Aptos"/>
                <a:ea typeface="Aptos"/>
                <a:cs typeface="Aptos"/>
              </a:defRPr>
            </a:pPr>
            <a:r>
              <a:rPr sz="1200" b="0" i="0">
                <a:solidFill>
                  <a:srgbClr val="5C6A70"/>
                </a:solidFill>
                <a:latin typeface="Aptos"/>
                <a:ea typeface="Aptos"/>
                <a:cs typeface="Aptos"/>
              </a:rPr>
              <a:t>Virtual patients, scenarios, sensors and device faults.</a:t>
            </a:r>
          </a:p>
        </p:txBody>
      </p:sp>
      <p:sp>
        <p:nvSpPr>
          <p:cNvPr id="11" name="">
            <a:extLst xmlns:a="http://schemas.openxmlformats.org/drawingml/2006/main">
              <a:ext uri="{FF2B5EF4-FFF2-40B4-BE49-F238E27FC236}">
                <a16:creationId xmlns:a16="http://schemas.microsoft.com/office/drawing/2014/main" id="{ACE55CB2-8ADE-4175-86DD-B6D30E25ADE9}"/>
              </a:ext>
            </a:extLst>
          </p:cNvPr>
          <p:cNvSpPr>
            <a:spLocks xmlns:a="http://schemas.openxmlformats.org/drawingml/2006/main" noGrp="1"/>
          </p:cNvSpPr>
          <p:nvPr/>
        </p:nvSpPr>
        <p:spPr>
          <a:xfrm xmlns:a="http://schemas.openxmlformats.org/drawingml/2006/main">
            <a:off x="3390900" y="3219450"/>
            <a:ext cx="2476500" cy="1962150"/>
          </a:xfrm>
          <a:prstGeom xmlns:a="http://schemas.openxmlformats.org/drawingml/2006/main" prst="roundRect">
            <a:avLst>
              <a:gd name="adj" fmla="val 5825"/>
            </a:avLst>
          </a:prstGeom>
          <a:solidFill xmlns:a="http://schemas.openxmlformats.org/drawingml/2006/main">
            <a:srgbClr val="F5E4E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893F954-1D33-4EB9-A851-25DA8E66F7C1}"/>
              </a:ext>
            </a:extLst>
          </p:cNvPr>
          <p:cNvSpPr>
            <a:spLocks xmlns:a="http://schemas.openxmlformats.org/drawingml/2006/main" noGrp="1"/>
          </p:cNvSpPr>
          <p:nvPr/>
        </p:nvSpPr>
        <p:spPr>
          <a:xfrm xmlns:a="http://schemas.openxmlformats.org/drawingml/2006/main">
            <a:off x="3562350" y="3390900"/>
            <a:ext cx="323850" cy="323850"/>
          </a:xfrm>
          <a:prstGeom xmlns:a="http://schemas.openxmlformats.org/drawingml/2006/main" prst="ellipse">
            <a:avLst/>
          </a:prstGeom>
          <a:solidFill xmlns:a="http://schemas.openxmlformats.org/drawingml/2006/main">
            <a:srgbClr val="C5534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5209F17-290F-472C-8CAE-4043D9F267CC}"/>
              </a:ext>
            </a:extLst>
          </p:cNvPr>
          <p:cNvSpPr>
            <a:spLocks xmlns:a="http://schemas.openxmlformats.org/drawingml/2006/main" noGrp="1"/>
          </p:cNvSpPr>
          <p:nvPr/>
        </p:nvSpPr>
        <p:spPr>
          <a:xfrm xmlns:a="http://schemas.openxmlformats.org/drawingml/2006/main">
            <a:off x="3562350" y="34290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i="0">
                <a:solidFill>
                  <a:srgbClr val="FFFFFF"/>
                </a:solidFill>
                <a:latin typeface="Aptos"/>
                <a:ea typeface="Aptos"/>
                <a:cs typeface="Aptos"/>
              </a:defRPr>
            </a:pPr>
            <a:r>
              <a:rPr sz="1125" b="1" i="0">
                <a:solidFill>
                  <a:srgbClr val="FFFFFF"/>
                </a:solidFill>
                <a:latin typeface="Aptos"/>
                <a:ea typeface="Aptos"/>
                <a:cs typeface="Aptos"/>
              </a:rPr>
              <a:t>2</a:t>
            </a:r>
          </a:p>
        </p:txBody>
      </p:sp>
      <p:sp>
        <p:nvSpPr>
          <p:cNvPr id="14" name="">
            <a:extLst xmlns:a="http://schemas.openxmlformats.org/drawingml/2006/main">
              <a:ext uri="{FF2B5EF4-FFF2-40B4-BE49-F238E27FC236}">
                <a16:creationId xmlns:a16="http://schemas.microsoft.com/office/drawing/2014/main" id="{8D5D11B5-91CC-423E-9652-8783E8548D25}"/>
              </a:ext>
            </a:extLst>
          </p:cNvPr>
          <p:cNvSpPr>
            <a:spLocks xmlns:a="http://schemas.openxmlformats.org/drawingml/2006/main" noGrp="1"/>
          </p:cNvSpPr>
          <p:nvPr/>
        </p:nvSpPr>
        <p:spPr>
          <a:xfrm xmlns:a="http://schemas.openxmlformats.org/drawingml/2006/main">
            <a:off x="4019550" y="3371850"/>
            <a:ext cx="1676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0C3B32"/>
                </a:solidFill>
                <a:latin typeface="Aptos Display"/>
                <a:ea typeface="Aptos Display"/>
                <a:cs typeface="Aptos Display"/>
              </a:defRPr>
            </a:pPr>
            <a:r>
              <a:rPr sz="1575" b="1" i="0">
                <a:solidFill>
                  <a:srgbClr val="0C3B32"/>
                </a:solidFill>
                <a:latin typeface="Aptos Display"/>
                <a:ea typeface="Aptos Display"/>
                <a:cs typeface="Aptos Display"/>
              </a:rPr>
              <a:t>Supervise</a:t>
            </a:r>
          </a:p>
        </p:txBody>
      </p:sp>
      <p:sp>
        <p:nvSpPr>
          <p:cNvPr id="15" name="">
            <a:extLst xmlns:a="http://schemas.openxmlformats.org/drawingml/2006/main">
              <a:ext uri="{FF2B5EF4-FFF2-40B4-BE49-F238E27FC236}">
                <a16:creationId xmlns:a16="http://schemas.microsoft.com/office/drawing/2014/main" id="{7FE6ADB0-1DCB-4AE0-881B-FA6F09CE68A4}"/>
              </a:ext>
            </a:extLst>
          </p:cNvPr>
          <p:cNvSpPr>
            <a:spLocks xmlns:a="http://schemas.openxmlformats.org/drawingml/2006/main" noGrp="1"/>
          </p:cNvSpPr>
          <p:nvPr/>
        </p:nvSpPr>
        <p:spPr>
          <a:xfrm xmlns:a="http://schemas.openxmlformats.org/drawingml/2006/main">
            <a:off x="3562350" y="3790950"/>
            <a:ext cx="21336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5C6A70"/>
                </a:solidFill>
                <a:latin typeface="Aptos"/>
                <a:ea typeface="Aptos"/>
                <a:cs typeface="Aptos"/>
              </a:defRPr>
            </a:pPr>
            <a:r>
              <a:rPr sz="1200" b="0" i="0">
                <a:solidFill>
                  <a:srgbClr val="5C6A70"/>
                </a:solidFill>
                <a:latin typeface="Aptos"/>
                <a:ea typeface="Aptos"/>
                <a:cs typeface="Aptos"/>
              </a:rPr>
              <a:t>A deterministic layer checks every proposed action.</a:t>
            </a:r>
          </a:p>
        </p:txBody>
      </p:sp>
      <p:sp>
        <p:nvSpPr>
          <p:cNvPr id="16" name="">
            <a:extLst xmlns:a="http://schemas.openxmlformats.org/drawingml/2006/main">
              <a:ext uri="{FF2B5EF4-FFF2-40B4-BE49-F238E27FC236}">
                <a16:creationId xmlns:a16="http://schemas.microsoft.com/office/drawing/2014/main" id="{B8345526-A18A-4CB9-9054-0E04C962886A}"/>
              </a:ext>
            </a:extLst>
          </p:cNvPr>
          <p:cNvSpPr>
            <a:spLocks xmlns:a="http://schemas.openxmlformats.org/drawingml/2006/main" noGrp="1"/>
          </p:cNvSpPr>
          <p:nvPr/>
        </p:nvSpPr>
        <p:spPr>
          <a:xfrm xmlns:a="http://schemas.openxmlformats.org/drawingml/2006/main">
            <a:off x="6038850" y="3219450"/>
            <a:ext cx="2476500" cy="1962150"/>
          </a:xfrm>
          <a:prstGeom xmlns:a="http://schemas.openxmlformats.org/drawingml/2006/main" prst="roundRect">
            <a:avLst>
              <a:gd name="adj" fmla="val 5825"/>
            </a:avLst>
          </a:prstGeom>
          <a:solidFill xmlns:a="http://schemas.openxmlformats.org/drawingml/2006/main">
            <a:srgbClr val="F6E9C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28A740F-3053-48D0-8CBC-76705DD22C13}"/>
              </a:ext>
            </a:extLst>
          </p:cNvPr>
          <p:cNvSpPr>
            <a:spLocks xmlns:a="http://schemas.openxmlformats.org/drawingml/2006/main" noGrp="1"/>
          </p:cNvSpPr>
          <p:nvPr/>
        </p:nvSpPr>
        <p:spPr>
          <a:xfrm xmlns:a="http://schemas.openxmlformats.org/drawingml/2006/main">
            <a:off x="6210300" y="3390900"/>
            <a:ext cx="323850" cy="323850"/>
          </a:xfrm>
          <a:prstGeom xmlns:a="http://schemas.openxmlformats.org/drawingml/2006/main" prst="ellipse">
            <a:avLst/>
          </a:prstGeom>
          <a:solidFill xmlns:a="http://schemas.openxmlformats.org/drawingml/2006/main">
            <a:srgbClr val="D89A2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906E160-070B-4F18-8101-885C1C600444}"/>
              </a:ext>
            </a:extLst>
          </p:cNvPr>
          <p:cNvSpPr>
            <a:spLocks xmlns:a="http://schemas.openxmlformats.org/drawingml/2006/main" noGrp="1"/>
          </p:cNvSpPr>
          <p:nvPr/>
        </p:nvSpPr>
        <p:spPr>
          <a:xfrm xmlns:a="http://schemas.openxmlformats.org/drawingml/2006/main">
            <a:off x="6210300" y="34290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i="0">
                <a:solidFill>
                  <a:srgbClr val="FFFFFF"/>
                </a:solidFill>
                <a:latin typeface="Aptos"/>
                <a:ea typeface="Aptos"/>
                <a:cs typeface="Aptos"/>
              </a:defRPr>
            </a:pPr>
            <a:r>
              <a:rPr sz="1125" b="1" i="0">
                <a:solidFill>
                  <a:srgbClr val="FFFFFF"/>
                </a:solidFill>
                <a:latin typeface="Aptos"/>
                <a:ea typeface="Aptos"/>
                <a:cs typeface="Aptos"/>
              </a:rPr>
              <a:t>3</a:t>
            </a:r>
          </a:p>
        </p:txBody>
      </p:sp>
      <p:sp>
        <p:nvSpPr>
          <p:cNvPr id="19" name="">
            <a:extLst xmlns:a="http://schemas.openxmlformats.org/drawingml/2006/main">
              <a:ext uri="{FF2B5EF4-FFF2-40B4-BE49-F238E27FC236}">
                <a16:creationId xmlns:a16="http://schemas.microsoft.com/office/drawing/2014/main" id="{173B8783-BBC8-4FAB-9061-C98493094E4A}"/>
              </a:ext>
            </a:extLst>
          </p:cNvPr>
          <p:cNvSpPr>
            <a:spLocks xmlns:a="http://schemas.openxmlformats.org/drawingml/2006/main" noGrp="1"/>
          </p:cNvSpPr>
          <p:nvPr/>
        </p:nvSpPr>
        <p:spPr>
          <a:xfrm xmlns:a="http://schemas.openxmlformats.org/drawingml/2006/main">
            <a:off x="6667500" y="3371850"/>
            <a:ext cx="1676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0C3B32"/>
                </a:solidFill>
                <a:latin typeface="Aptos Display"/>
                <a:ea typeface="Aptos Display"/>
                <a:cs typeface="Aptos Display"/>
              </a:defRPr>
            </a:pPr>
            <a:r>
              <a:rPr sz="1575" b="1" i="0">
                <a:solidFill>
                  <a:srgbClr val="0C3B32"/>
                </a:solidFill>
                <a:latin typeface="Aptos Display"/>
                <a:ea typeface="Aptos Display"/>
                <a:cs typeface="Aptos Display"/>
              </a:rPr>
              <a:t>Validate</a:t>
            </a:r>
          </a:p>
        </p:txBody>
      </p:sp>
      <p:sp>
        <p:nvSpPr>
          <p:cNvPr id="20" name="">
            <a:extLst xmlns:a="http://schemas.openxmlformats.org/drawingml/2006/main">
              <a:ext uri="{FF2B5EF4-FFF2-40B4-BE49-F238E27FC236}">
                <a16:creationId xmlns:a16="http://schemas.microsoft.com/office/drawing/2014/main" id="{B520F85F-5886-401E-B6A5-EAD37600B93E}"/>
              </a:ext>
            </a:extLst>
          </p:cNvPr>
          <p:cNvSpPr>
            <a:spLocks xmlns:a="http://schemas.openxmlformats.org/drawingml/2006/main" noGrp="1"/>
          </p:cNvSpPr>
          <p:nvPr/>
        </p:nvSpPr>
        <p:spPr>
          <a:xfrm xmlns:a="http://schemas.openxmlformats.org/drawingml/2006/main">
            <a:off x="6210300" y="3790950"/>
            <a:ext cx="21336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5C6A70"/>
                </a:solidFill>
                <a:latin typeface="Aptos"/>
                <a:ea typeface="Aptos"/>
                <a:cs typeface="Aptos"/>
              </a:defRPr>
            </a:pPr>
            <a:r>
              <a:rPr sz="1200" b="0" i="0">
                <a:solidFill>
                  <a:srgbClr val="5C6A70"/>
                </a:solidFill>
                <a:latin typeface="Aptos"/>
                <a:ea typeface="Aptos"/>
                <a:cs typeface="Aptos"/>
              </a:rPr>
              <a:t>Data contracts, realism gates, replay and benchmarks.</a:t>
            </a:r>
          </a:p>
        </p:txBody>
      </p:sp>
      <p:sp>
        <p:nvSpPr>
          <p:cNvPr id="21" name="">
            <a:extLst xmlns:a="http://schemas.openxmlformats.org/drawingml/2006/main">
              <a:ext uri="{FF2B5EF4-FFF2-40B4-BE49-F238E27FC236}">
                <a16:creationId xmlns:a16="http://schemas.microsoft.com/office/drawing/2014/main" id="{A246C8AF-F8FC-4405-977B-D01D48D4D1F5}"/>
              </a:ext>
            </a:extLst>
          </p:cNvPr>
          <p:cNvSpPr>
            <a:spLocks xmlns:a="http://schemas.openxmlformats.org/drawingml/2006/main" noGrp="1"/>
          </p:cNvSpPr>
          <p:nvPr/>
        </p:nvSpPr>
        <p:spPr>
          <a:xfrm xmlns:a="http://schemas.openxmlformats.org/drawingml/2006/main">
            <a:off x="8686800" y="3219450"/>
            <a:ext cx="2762250" cy="1962150"/>
          </a:xfrm>
          <a:prstGeom xmlns:a="http://schemas.openxmlformats.org/drawingml/2006/main" prst="roundRect">
            <a:avLst>
              <a:gd name="adj" fmla="val 5825"/>
            </a:avLst>
          </a:prstGeom>
          <a:solidFill xmlns:a="http://schemas.openxmlformats.org/drawingml/2006/main">
            <a:srgbClr val="E7F0F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E378386-9DC8-4676-952B-66B7B7176BFC}"/>
              </a:ext>
            </a:extLst>
          </p:cNvPr>
          <p:cNvSpPr>
            <a:spLocks xmlns:a="http://schemas.openxmlformats.org/drawingml/2006/main" noGrp="1"/>
          </p:cNvSpPr>
          <p:nvPr/>
        </p:nvSpPr>
        <p:spPr>
          <a:xfrm xmlns:a="http://schemas.openxmlformats.org/drawingml/2006/main">
            <a:off x="8858250" y="3390900"/>
            <a:ext cx="323850" cy="323850"/>
          </a:xfrm>
          <a:prstGeom xmlns:a="http://schemas.openxmlformats.org/drawingml/2006/main" prst="ellipse">
            <a:avLst/>
          </a:prstGeom>
          <a:solidFill xmlns:a="http://schemas.openxmlformats.org/drawingml/2006/main">
            <a:srgbClr val="173A5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4E16EB6-7114-43D8-BBC7-5ED6A7D7662D}"/>
              </a:ext>
            </a:extLst>
          </p:cNvPr>
          <p:cNvSpPr>
            <a:spLocks xmlns:a="http://schemas.openxmlformats.org/drawingml/2006/main" noGrp="1"/>
          </p:cNvSpPr>
          <p:nvPr/>
        </p:nvSpPr>
        <p:spPr>
          <a:xfrm xmlns:a="http://schemas.openxmlformats.org/drawingml/2006/main">
            <a:off x="8858250" y="34290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i="0">
                <a:solidFill>
                  <a:srgbClr val="FFFFFF"/>
                </a:solidFill>
                <a:latin typeface="Aptos"/>
                <a:ea typeface="Aptos"/>
                <a:cs typeface="Aptos"/>
              </a:defRPr>
            </a:pPr>
            <a:r>
              <a:rPr sz="1125" b="1" i="0">
                <a:solidFill>
                  <a:srgbClr val="FFFFFF"/>
                </a:solidFill>
                <a:latin typeface="Aptos"/>
                <a:ea typeface="Aptos"/>
                <a:cs typeface="Aptos"/>
              </a:rPr>
              <a:t>4</a:t>
            </a:r>
          </a:p>
        </p:txBody>
      </p:sp>
      <p:sp>
        <p:nvSpPr>
          <p:cNvPr id="24" name="">
            <a:extLst xmlns:a="http://schemas.openxmlformats.org/drawingml/2006/main">
              <a:ext uri="{FF2B5EF4-FFF2-40B4-BE49-F238E27FC236}">
                <a16:creationId xmlns:a16="http://schemas.microsoft.com/office/drawing/2014/main" id="{C714DDA5-C482-48A4-83FD-C1132F0CC39D}"/>
              </a:ext>
            </a:extLst>
          </p:cNvPr>
          <p:cNvSpPr>
            <a:spLocks xmlns:a="http://schemas.openxmlformats.org/drawingml/2006/main" noGrp="1"/>
          </p:cNvSpPr>
          <p:nvPr/>
        </p:nvSpPr>
        <p:spPr>
          <a:xfrm xmlns:a="http://schemas.openxmlformats.org/drawingml/2006/main">
            <a:off x="9315450" y="3371850"/>
            <a:ext cx="1962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0C3B32"/>
                </a:solidFill>
                <a:latin typeface="Aptos Display"/>
                <a:ea typeface="Aptos Display"/>
                <a:cs typeface="Aptos Display"/>
              </a:defRPr>
            </a:pPr>
            <a:r>
              <a:rPr sz="1575" b="1" i="0">
                <a:solidFill>
                  <a:srgbClr val="0C3B32"/>
                </a:solidFill>
                <a:latin typeface="Aptos Display"/>
                <a:ea typeface="Aptos Display"/>
                <a:cs typeface="Aptos Display"/>
              </a:rPr>
              <a:t>Explain</a:t>
            </a:r>
          </a:p>
        </p:txBody>
      </p:sp>
      <p:sp>
        <p:nvSpPr>
          <p:cNvPr id="25" name="">
            <a:extLst xmlns:a="http://schemas.openxmlformats.org/drawingml/2006/main">
              <a:ext uri="{FF2B5EF4-FFF2-40B4-BE49-F238E27FC236}">
                <a16:creationId xmlns:a16="http://schemas.microsoft.com/office/drawing/2014/main" id="{C5F5B1EC-9EFF-4D8F-B98D-DE12067B8B2B}"/>
              </a:ext>
            </a:extLst>
          </p:cNvPr>
          <p:cNvSpPr>
            <a:spLocks xmlns:a="http://schemas.openxmlformats.org/drawingml/2006/main" noGrp="1"/>
          </p:cNvSpPr>
          <p:nvPr/>
        </p:nvSpPr>
        <p:spPr>
          <a:xfrm xmlns:a="http://schemas.openxmlformats.org/drawingml/2006/main">
            <a:off x="8858250" y="3790950"/>
            <a:ext cx="24193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5C6A70"/>
                </a:solidFill>
                <a:latin typeface="Aptos"/>
                <a:ea typeface="Aptos"/>
                <a:cs typeface="Aptos"/>
              </a:defRPr>
            </a:pPr>
            <a:r>
              <a:rPr sz="1200" b="0" i="0">
                <a:solidFill>
                  <a:srgbClr val="5C6A70"/>
                </a:solidFill>
                <a:latin typeface="Aptos"/>
                <a:ea typeface="Aptos"/>
                <a:cs typeface="Aptos"/>
              </a:rPr>
              <a:t>Clinical-style reports, XAI events and model cards.</a:t>
            </a:r>
          </a:p>
        </p:txBody>
      </p:sp>
      <p:sp>
        <p:nvSpPr>
          <p:cNvPr id="26" name="">
            <a:extLst xmlns:a="http://schemas.openxmlformats.org/drawingml/2006/main">
              <a:ext uri="{FF2B5EF4-FFF2-40B4-BE49-F238E27FC236}">
                <a16:creationId xmlns:a16="http://schemas.microsoft.com/office/drawing/2014/main" id="{DE4E537A-4449-4DB6-A670-B5336D36E2BB}"/>
              </a:ext>
            </a:extLst>
          </p:cNvPr>
          <p:cNvSpPr>
            <a:spLocks xmlns:a="http://schemas.openxmlformats.org/drawingml/2006/main" noGrp="1"/>
          </p:cNvSpPr>
          <p:nvPr/>
        </p:nvSpPr>
        <p:spPr>
          <a:xfrm xmlns:a="http://schemas.openxmlformats.org/drawingml/2006/main">
            <a:off x="1485900" y="5581650"/>
            <a:ext cx="922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145"/>
          </a:bodyPr>
          <a:lstStyle xmlns:a="http://schemas.openxmlformats.org/drawingml/2006/main"/>
          <a:p xmlns:a="http://schemas.openxmlformats.org/drawingml/2006/main">
            <a:pPr algn="ctr">
              <a:lnSpc>
                <a:spcPct val="100000"/>
              </a:lnSpc>
              <a:buNone/>
              <a:defRPr sz="1575" b="1" i="0">
                <a:solidFill>
                  <a:srgbClr val="0C3B32"/>
                </a:solidFill>
                <a:latin typeface="Aptos"/>
                <a:ea typeface="Aptos"/>
                <a:cs typeface="Aptos"/>
              </a:defRPr>
            </a:pPr>
            <a:r>
              <a:rPr sz="1575" b="1" i="0">
                <a:solidFill>
                  <a:srgbClr val="0C3B32"/>
                </a:solidFill>
                <a:latin typeface="Aptos"/>
                <a:ea typeface="Aptos"/>
                <a:cs typeface="Aptos"/>
              </a:rPr>
              <a:t>The contribution is the research infrastructure around the algorithm—not only the algorithm itself.</a:t>
            </a:r>
          </a:p>
        </p:txBody>
      </p:sp>
      <p:sp>
        <p:nvSpPr>
          <p:cNvPr id="27" name="">
            <a:extLst xmlns:a="http://schemas.openxmlformats.org/drawingml/2006/main">
              <a:ext uri="{FF2B5EF4-FFF2-40B4-BE49-F238E27FC236}">
                <a16:creationId xmlns:a16="http://schemas.microsoft.com/office/drawing/2014/main" id="{DA7F5040-1D61-4532-9798-B77D18322BC8}"/>
              </a:ext>
            </a:extLst>
          </p:cNvPr>
          <p:cNvSpPr>
            <a:spLocks xmlns:a="http://schemas.openxmlformats.org/drawingml/2006/main" noGrp="1"/>
          </p:cNvSpPr>
          <p:nvPr/>
        </p:nvSpPr>
        <p:spPr>
          <a:xfrm xmlns:a="http://schemas.openxmlformats.org/drawingml/2006/main">
            <a:off x="647700" y="621030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0" i="0">
                <a:solidFill>
                  <a:srgbClr val="5C6A70"/>
                </a:solidFill>
                <a:latin typeface="Aptos"/>
                <a:ea typeface="Aptos"/>
                <a:cs typeface="Aptos"/>
              </a:defRPr>
            </a:pPr>
            <a:r>
              <a:rPr sz="750" b="0" i="0">
                <a:solidFill>
                  <a:srgbClr val="5C6A70"/>
                </a:solidFill>
                <a:latin typeface="Aptos"/>
                <a:ea typeface="Aptos"/>
                <a:cs typeface="Aptos"/>
              </a:rPr>
              <a:t>Source: IINTS-AF Paper Technical Dossier; EUCYS Technical Brief.</a:t>
            </a:r>
          </a:p>
        </p:txBody>
      </p:sp>
      <p:sp>
        <p:nvSpPr>
          <p:cNvPr id="28" name="">
            <a:extLst xmlns:a="http://schemas.openxmlformats.org/drawingml/2006/main">
              <a:ext uri="{FF2B5EF4-FFF2-40B4-BE49-F238E27FC236}">
                <a16:creationId xmlns:a16="http://schemas.microsoft.com/office/drawing/2014/main" id="{746478CA-6710-4C68-B13D-86B21E3740A8}"/>
              </a:ext>
            </a:extLst>
          </p:cNvPr>
          <p:cNvSpPr>
            <a:spLocks xmlns:a="http://schemas.openxmlformats.org/drawingml/2006/main" noGrp="1"/>
          </p:cNvSpPr>
          <p:nvPr/>
        </p:nvSpPr>
        <p:spPr>
          <a:xfrm xmlns:a="http://schemas.openxmlformats.org/drawingml/2006/main">
            <a:off x="647700" y="6467475"/>
            <a:ext cx="10896600" cy="9525"/>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89E6940-E516-44B6-ACED-7ECA0087B1E9}"/>
              </a:ext>
            </a:extLst>
          </p:cNvPr>
          <p:cNvSpPr>
            <a:spLocks xmlns:a="http://schemas.openxmlformats.org/drawingml/2006/main" noGrp="1"/>
          </p:cNvSpPr>
          <p:nvPr/>
        </p:nvSpPr>
        <p:spPr>
          <a:xfrm xmlns:a="http://schemas.openxmlformats.org/drawingml/2006/main">
            <a:off x="647700" y="6553200"/>
            <a:ext cx="495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C6A70"/>
                </a:solidFill>
                <a:latin typeface="Aptos"/>
                <a:ea typeface="Aptos"/>
                <a:cs typeface="Aptos"/>
              </a:defRPr>
            </a:pPr>
            <a:r>
              <a:rPr sz="750" b="1" i="0">
                <a:solidFill>
                  <a:srgbClr val="5C6A70"/>
                </a:solidFill>
                <a:latin typeface="Aptos"/>
                <a:ea typeface="Aptos"/>
                <a:cs typeface="Aptos"/>
              </a:rPr>
              <a:t>RESEARCH &amp; EDUCATION ONLY · NOT A MEDICAL DEVICE</a:t>
            </a:r>
          </a:p>
        </p:txBody>
      </p:sp>
      <p:sp>
        <p:nvSpPr>
          <p:cNvPr id="30" name="">
            <a:extLst xmlns:a="http://schemas.openxmlformats.org/drawingml/2006/main">
              <a:ext uri="{FF2B5EF4-FFF2-40B4-BE49-F238E27FC236}">
                <a16:creationId xmlns:a16="http://schemas.microsoft.com/office/drawing/2014/main" id="{DC8B1CD2-00B1-4864-A79E-46BBD12B2C58}"/>
              </a:ext>
            </a:extLst>
          </p:cNvPr>
          <p:cNvSpPr>
            <a:spLocks xmlns:a="http://schemas.openxmlformats.org/drawingml/2006/main" noGrp="1"/>
          </p:cNvSpPr>
          <p:nvPr/>
        </p:nvSpPr>
        <p:spPr>
          <a:xfrm xmlns:a="http://schemas.openxmlformats.org/drawingml/2006/main">
            <a:off x="11096625" y="6534150"/>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1" i="0">
                <a:solidFill>
                  <a:srgbClr val="0C3B32"/>
                </a:solidFill>
                <a:latin typeface="Aptos"/>
                <a:ea typeface="Aptos"/>
                <a:cs typeface="Aptos"/>
              </a:defRPr>
            </a:pPr>
            <a:r>
              <a:rPr sz="900" b="1" i="0">
                <a:solidFill>
                  <a:srgbClr val="0C3B32"/>
                </a:solidFill>
                <a:latin typeface="Aptos"/>
                <a:ea typeface="Aptos"/>
                <a:cs typeface="Aptos"/>
              </a:rPr>
              <a:t>03</a:t>
            </a:r>
          </a:p>
        </p:txBody>
      </p:sp>
    </p:spTree>
    <p:extLst>
      <p:ext uri="{BB962C8B-B14F-4D97-AF65-F5344CB8AC3E}">
        <p14:creationId xmlns:p14="http://schemas.microsoft.com/office/powerpoint/2010/main" val="1825486888"/>
      </p:ext>
    </p:extLst>
  </p:cSld>
</p:sld>
</file>

<file path=ppt/slides/slide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082664C-D37A-4B7B-B36D-1FD09D01C190}"/>
              </a:ext>
            </a:extLst>
          </p:cNvPr>
          <p:cNvSpPr>
            <a:spLocks xmlns:a="http://schemas.openxmlformats.org/drawingml/2006/main" noGrp="1"/>
          </p:cNvSpPr>
          <p:nvPr/>
        </p:nvSpPr>
        <p:spPr>
          <a:xfrm xmlns:a="http://schemas.openxmlformats.org/drawingml/2006/main">
            <a:off x="647700" y="3429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E7D8A"/>
                </a:solidFill>
                <a:latin typeface="Aptos"/>
                <a:ea typeface="Aptos"/>
                <a:cs typeface="Aptos"/>
              </a:defRPr>
            </a:pPr>
            <a:r>
              <a:rPr sz="900" b="1" i="0">
                <a:solidFill>
                  <a:srgbClr val="2E7D8A"/>
                </a:solidFill>
                <a:latin typeface="Aptos"/>
                <a:ea typeface="Aptos"/>
                <a:cs typeface="Aptos"/>
              </a:rPr>
              <a:t>SOFTWARE ARCHITECTURE</a:t>
            </a:r>
          </a:p>
        </p:txBody>
      </p:sp>
      <p:sp>
        <p:nvSpPr>
          <p:cNvPr id="2" name="">
            <a:extLst xmlns:a="http://schemas.openxmlformats.org/drawingml/2006/main">
              <a:ext uri="{FF2B5EF4-FFF2-40B4-BE49-F238E27FC236}">
                <a16:creationId xmlns:a16="http://schemas.microsoft.com/office/drawing/2014/main" id="{523E0F64-5432-45C9-9847-635D74169084}"/>
              </a:ext>
            </a:extLst>
          </p:cNvPr>
          <p:cNvSpPr>
            <a:spLocks xmlns:a="http://schemas.openxmlformats.org/drawingml/2006/main" noGrp="1"/>
          </p:cNvSpPr>
          <p:nvPr/>
        </p:nvSpPr>
        <p:spPr>
          <a:xfrm xmlns:a="http://schemas.openxmlformats.org/drawingml/2006/main">
            <a:off x="6477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00" b="1" i="0">
                <a:solidFill>
                  <a:srgbClr val="0C3B32"/>
                </a:solidFill>
                <a:latin typeface="Aptos Display"/>
                <a:ea typeface="Aptos Display"/>
                <a:cs typeface="Aptos Display"/>
              </a:defRPr>
            </a:pPr>
            <a:r>
              <a:rPr sz="3000" b="1" i="0">
                <a:solidFill>
                  <a:srgbClr val="0C3B32"/>
                </a:solidFill>
                <a:latin typeface="Aptos Display"/>
                <a:ea typeface="Aptos Display"/>
                <a:cs typeface="Aptos Display"/>
              </a:rPr>
              <a:t>One pipeline, separated responsibilities</a:t>
            </a:r>
          </a:p>
        </p:txBody>
      </p:sp>
      <p:sp>
        <p:nvSpPr>
          <p:cNvPr id="3" name="">
            <a:extLst xmlns:a="http://schemas.openxmlformats.org/drawingml/2006/main">
              <a:ext uri="{FF2B5EF4-FFF2-40B4-BE49-F238E27FC236}">
                <a16:creationId xmlns:a16="http://schemas.microsoft.com/office/drawing/2014/main" id="{8E1E1A8A-902A-47CF-83AB-3999C648093F}"/>
              </a:ext>
            </a:extLst>
          </p:cNvPr>
          <p:cNvSpPr>
            <a:spLocks xmlns:a="http://schemas.openxmlformats.org/drawingml/2006/main" noGrp="1"/>
          </p:cNvSpPr>
          <p:nvPr/>
        </p:nvSpPr>
        <p:spPr>
          <a:xfrm xmlns:a="http://schemas.openxmlformats.org/drawingml/2006/main">
            <a:off x="647700" y="11811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5C6A70"/>
                </a:solidFill>
                <a:latin typeface="Aptos"/>
                <a:ea typeface="Aptos"/>
                <a:cs typeface="Aptos"/>
              </a:defRPr>
            </a:pPr>
            <a:r>
              <a:rPr sz="1275" b="0" i="0">
                <a:solidFill>
                  <a:srgbClr val="5C6A70"/>
                </a:solidFill>
                <a:latin typeface="Aptos"/>
                <a:ea typeface="Aptos"/>
                <a:cs typeface="Aptos"/>
              </a:rPr>
              <a:t>The design keeps data, physiology, algorithm proposals, safety authority and evidence generation distinct.</a:t>
            </a:r>
          </a:p>
        </p:txBody>
      </p:sp>
      <p:sp>
        <p:nvSpPr>
          <p:cNvPr id="4" name="">
            <a:extLst xmlns:a="http://schemas.openxmlformats.org/drawingml/2006/main">
              <a:ext uri="{FF2B5EF4-FFF2-40B4-BE49-F238E27FC236}">
                <a16:creationId xmlns:a16="http://schemas.microsoft.com/office/drawing/2014/main" id="{A7206F8F-05F3-46B9-8A1A-E5FDA9B1577D}"/>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A0EE4A2-D3DC-4BF4-8D71-6614F32115C7}"/>
              </a:ext>
            </a:extLst>
          </p:cNvPr>
          <p:cNvSpPr>
            <a:spLocks xmlns:a="http://schemas.openxmlformats.org/drawingml/2006/main" noGrp="1"/>
          </p:cNvSpPr>
          <p:nvPr/>
        </p:nvSpPr>
        <p:spPr>
          <a:xfrm xmlns:a="http://schemas.openxmlformats.org/drawingml/2006/main">
            <a:off x="590550" y="2362200"/>
            <a:ext cx="1581150" cy="1809750"/>
          </a:xfrm>
          <a:prstGeom xmlns:a="http://schemas.openxmlformats.org/drawingml/2006/main" prst="roundRect">
            <a:avLst>
              <a:gd name="adj" fmla="val 7229"/>
            </a:avLst>
          </a:prstGeom>
          <a:solidFill xmlns:a="http://schemas.openxmlformats.org/drawingml/2006/main">
            <a:srgbClr val="E7F0F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011349C-86D7-4D0E-B348-287887E67487}"/>
              </a:ext>
            </a:extLst>
          </p:cNvPr>
          <p:cNvSpPr>
            <a:spLocks xmlns:a="http://schemas.openxmlformats.org/drawingml/2006/main" noGrp="1"/>
          </p:cNvSpPr>
          <p:nvPr/>
        </p:nvSpPr>
        <p:spPr>
          <a:xfrm xmlns:a="http://schemas.openxmlformats.org/drawingml/2006/main">
            <a:off x="704850" y="2552700"/>
            <a:ext cx="1352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ctr">
              <a:lnSpc>
                <a:spcPct val="100000"/>
              </a:lnSpc>
              <a:buNone/>
              <a:defRPr sz="1200" b="1" i="0">
                <a:solidFill>
                  <a:srgbClr val="173A52"/>
                </a:solidFill>
                <a:latin typeface="Aptos Display"/>
                <a:ea typeface="Aptos Display"/>
                <a:cs typeface="Aptos Display"/>
              </a:defRPr>
            </a:pPr>
            <a:r>
              <a:rPr sz="1200" b="1" i="0">
                <a:solidFill>
                  <a:srgbClr val="173A52"/>
                </a:solidFill>
                <a:latin typeface="Aptos Display"/>
                <a:ea typeface="Aptos Display"/>
                <a:cs typeface="Aptos Display"/>
              </a:rPr>
              <a:t>DATA + SCENARIOS</a:t>
            </a:r>
          </a:p>
        </p:txBody>
      </p:sp>
      <p:sp>
        <p:nvSpPr>
          <p:cNvPr id="7" name="">
            <a:extLst xmlns:a="http://schemas.openxmlformats.org/drawingml/2006/main">
              <a:ext uri="{FF2B5EF4-FFF2-40B4-BE49-F238E27FC236}">
                <a16:creationId xmlns:a16="http://schemas.microsoft.com/office/drawing/2014/main" id="{782897C6-687E-44DA-B1BB-F0AD6FC2CF3C}"/>
              </a:ext>
            </a:extLst>
          </p:cNvPr>
          <p:cNvSpPr>
            <a:spLocks xmlns:a="http://schemas.openxmlformats.org/drawingml/2006/main" noGrp="1"/>
          </p:cNvSpPr>
          <p:nvPr/>
        </p:nvSpPr>
        <p:spPr>
          <a:xfrm xmlns:a="http://schemas.openxmlformats.org/drawingml/2006/main">
            <a:off x="704850" y="3105150"/>
            <a:ext cx="13525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5000"/>
              </a:lnSpc>
              <a:buNone/>
              <a:defRPr sz="1275" b="0" i="0">
                <a:solidFill>
                  <a:srgbClr val="5C6A70"/>
                </a:solidFill>
                <a:latin typeface="Aptos"/>
                <a:ea typeface="Aptos"/>
                <a:cs typeface="Aptos"/>
              </a:defRPr>
            </a:pPr>
            <a:r>
              <a:rPr sz="1275" b="0" i="0">
                <a:solidFill>
                  <a:srgbClr val="5C6A70"/>
                </a:solidFill>
                <a:latin typeface="Aptos"/>
                <a:ea typeface="Aptos"/>
                <a:cs typeface="Aptos"/>
              </a:rPr>
              <a:t>imports</a:t>
            </a:r>
          </a:p>
          <a:p xmlns:a="http://schemas.openxmlformats.org/drawingml/2006/main">
            <a:pPr algn="ctr">
              <a:lnSpc>
                <a:spcPct val="115000"/>
              </a:lnSpc>
              <a:buNone/>
              <a:defRPr sz="1275" b="0" i="0">
                <a:solidFill>
                  <a:srgbClr val="5C6A70"/>
                </a:solidFill>
                <a:latin typeface="Aptos"/>
                <a:ea typeface="Aptos"/>
                <a:cs typeface="Aptos"/>
              </a:defRPr>
            </a:pPr>
            <a:r>
              <a:rPr sz="1275" b="0" i="0">
                <a:solidFill>
                  <a:srgbClr val="5C6A70"/>
                </a:solidFill>
                <a:latin typeface="Aptos"/>
                <a:ea typeface="Aptos"/>
                <a:cs typeface="Aptos"/>
              </a:rPr>
              <a:t>profiles</a:t>
            </a:r>
          </a:p>
          <a:p xmlns:a="http://schemas.openxmlformats.org/drawingml/2006/main">
            <a:pPr algn="ctr">
              <a:lnSpc>
                <a:spcPct val="115000"/>
              </a:lnSpc>
              <a:buNone/>
              <a:defRPr sz="1275" b="0" i="0">
                <a:solidFill>
                  <a:srgbClr val="5C6A70"/>
                </a:solidFill>
                <a:latin typeface="Aptos"/>
                <a:ea typeface="Aptos"/>
                <a:cs typeface="Aptos"/>
              </a:defRPr>
            </a:pPr>
            <a:r>
              <a:rPr sz="1275" b="0" i="0">
                <a:solidFill>
                  <a:srgbClr val="5C6A70"/>
                </a:solidFill>
                <a:latin typeface="Aptos"/>
                <a:ea typeface="Aptos"/>
                <a:cs typeface="Aptos"/>
              </a:rPr>
              <a:t>events</a:t>
            </a:r>
          </a:p>
        </p:txBody>
      </p:sp>
      <p:sp>
        <p:nvSpPr>
          <p:cNvPr id="8" name="">
            <a:extLst xmlns:a="http://schemas.openxmlformats.org/drawingml/2006/main">
              <a:ext uri="{FF2B5EF4-FFF2-40B4-BE49-F238E27FC236}">
                <a16:creationId xmlns:a16="http://schemas.microsoft.com/office/drawing/2014/main" id="{1D4F3C8F-4C7F-4661-9A47-B8D73D3F7E5D}"/>
              </a:ext>
            </a:extLst>
          </p:cNvPr>
          <p:cNvSpPr>
            <a:spLocks xmlns:a="http://schemas.openxmlformats.org/drawingml/2006/main" noGrp="1"/>
          </p:cNvSpPr>
          <p:nvPr/>
        </p:nvSpPr>
        <p:spPr>
          <a:xfrm xmlns:a="http://schemas.openxmlformats.org/drawingml/2006/main">
            <a:off x="2209800" y="30861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444"/>
          </a:bodyPr>
          <a:lstStyle xmlns:a="http://schemas.openxmlformats.org/drawingml/2006/main"/>
          <a:p xmlns:a="http://schemas.openxmlformats.org/drawingml/2006/main">
            <a:pPr algn="ctr">
              <a:lnSpc>
                <a:spcPct val="100000"/>
              </a:lnSpc>
              <a:buNone/>
              <a:defRPr sz="2250" b="1" i="0">
                <a:solidFill>
                  <a:srgbClr val="2E7D8A"/>
                </a:solidFill>
                <a:latin typeface="Aptos"/>
                <a:ea typeface="Aptos"/>
                <a:cs typeface="Aptos"/>
              </a:defRPr>
            </a:pPr>
            <a:r>
              <a:rPr sz="2250" b="1" i="0">
                <a:solidFill>
                  <a:srgbClr val="2E7D8A"/>
                </a:solidFill>
                <a:latin typeface="Aptos"/>
                <a:ea typeface="Aptos"/>
                <a:cs typeface="Aptos"/>
              </a:rPr>
              <a:t>→</a:t>
            </a:r>
          </a:p>
        </p:txBody>
      </p:sp>
      <p:sp>
        <p:nvSpPr>
          <p:cNvPr id="9" name="">
            <a:extLst xmlns:a="http://schemas.openxmlformats.org/drawingml/2006/main">
              <a:ext uri="{FF2B5EF4-FFF2-40B4-BE49-F238E27FC236}">
                <a16:creationId xmlns:a16="http://schemas.microsoft.com/office/drawing/2014/main" id="{A5978B8A-77E4-4F48-8568-23C348FABD83}"/>
              </a:ext>
            </a:extLst>
          </p:cNvPr>
          <p:cNvSpPr>
            <a:spLocks xmlns:a="http://schemas.openxmlformats.org/drawingml/2006/main" noGrp="1"/>
          </p:cNvSpPr>
          <p:nvPr/>
        </p:nvSpPr>
        <p:spPr>
          <a:xfrm xmlns:a="http://schemas.openxmlformats.org/drawingml/2006/main">
            <a:off x="2552700" y="2362200"/>
            <a:ext cx="1581150" cy="1809750"/>
          </a:xfrm>
          <a:prstGeom xmlns:a="http://schemas.openxmlformats.org/drawingml/2006/main" prst="roundRect">
            <a:avLst>
              <a:gd name="adj" fmla="val 7229"/>
            </a:avLst>
          </a:prstGeom>
          <a:solidFill xmlns:a="http://schemas.openxmlformats.org/drawingml/2006/main">
            <a:srgbClr val="FFFDF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6ECB202-7743-4AA3-AF2D-E628833B22F1}"/>
              </a:ext>
            </a:extLst>
          </p:cNvPr>
          <p:cNvSpPr>
            <a:spLocks xmlns:a="http://schemas.openxmlformats.org/drawingml/2006/main" noGrp="1"/>
          </p:cNvSpPr>
          <p:nvPr/>
        </p:nvSpPr>
        <p:spPr>
          <a:xfrm xmlns:a="http://schemas.openxmlformats.org/drawingml/2006/main">
            <a:off x="2667000" y="2552700"/>
            <a:ext cx="1352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0C3B32"/>
                </a:solidFill>
                <a:latin typeface="Aptos Display"/>
                <a:ea typeface="Aptos Display"/>
                <a:cs typeface="Aptos Display"/>
              </a:defRPr>
            </a:pPr>
            <a:r>
              <a:rPr sz="1200" b="1" i="0">
                <a:solidFill>
                  <a:srgbClr val="0C3B32"/>
                </a:solidFill>
                <a:latin typeface="Aptos Display"/>
                <a:ea typeface="Aptos Display"/>
                <a:cs typeface="Aptos Display"/>
              </a:rPr>
              <a:t>ORCHESTRATOR</a:t>
            </a:r>
          </a:p>
        </p:txBody>
      </p:sp>
      <p:sp>
        <p:nvSpPr>
          <p:cNvPr id="11" name="">
            <a:extLst xmlns:a="http://schemas.openxmlformats.org/drawingml/2006/main">
              <a:ext uri="{FF2B5EF4-FFF2-40B4-BE49-F238E27FC236}">
                <a16:creationId xmlns:a16="http://schemas.microsoft.com/office/drawing/2014/main" id="{2EAE20B9-8A3F-4B7F-BB2B-9BBDF9E0C451}"/>
              </a:ext>
            </a:extLst>
          </p:cNvPr>
          <p:cNvSpPr>
            <a:spLocks xmlns:a="http://schemas.openxmlformats.org/drawingml/2006/main" noGrp="1"/>
          </p:cNvSpPr>
          <p:nvPr/>
        </p:nvSpPr>
        <p:spPr>
          <a:xfrm xmlns:a="http://schemas.openxmlformats.org/drawingml/2006/main">
            <a:off x="2667000" y="3105150"/>
            <a:ext cx="13525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5000"/>
              </a:lnSpc>
              <a:buNone/>
              <a:defRPr sz="1275" b="0" i="0">
                <a:solidFill>
                  <a:srgbClr val="5C6A70"/>
                </a:solidFill>
                <a:latin typeface="Aptos"/>
                <a:ea typeface="Aptos"/>
                <a:cs typeface="Aptos"/>
              </a:defRPr>
            </a:pPr>
            <a:r>
              <a:rPr sz="1275" b="0" i="0">
                <a:solidFill>
                  <a:srgbClr val="5C6A70"/>
                </a:solidFill>
                <a:latin typeface="Aptos"/>
                <a:ea typeface="Aptos"/>
                <a:cs typeface="Aptos"/>
              </a:rPr>
              <a:t>fixed seed</a:t>
            </a:r>
          </a:p>
          <a:p xmlns:a="http://schemas.openxmlformats.org/drawingml/2006/main">
            <a:pPr algn="ctr">
              <a:lnSpc>
                <a:spcPct val="115000"/>
              </a:lnSpc>
              <a:buNone/>
              <a:defRPr sz="1275" b="0" i="0">
                <a:solidFill>
                  <a:srgbClr val="5C6A70"/>
                </a:solidFill>
                <a:latin typeface="Aptos"/>
                <a:ea typeface="Aptos"/>
                <a:cs typeface="Aptos"/>
              </a:defRPr>
            </a:pPr>
            <a:r>
              <a:rPr sz="1275" b="0" i="0">
                <a:solidFill>
                  <a:srgbClr val="5C6A70"/>
                </a:solidFill>
                <a:latin typeface="Aptos"/>
                <a:ea typeface="Aptos"/>
                <a:cs typeface="Aptos"/>
              </a:rPr>
              <a:t>time-step loop</a:t>
            </a:r>
          </a:p>
        </p:txBody>
      </p:sp>
      <p:sp>
        <p:nvSpPr>
          <p:cNvPr id="12" name="">
            <a:extLst xmlns:a="http://schemas.openxmlformats.org/drawingml/2006/main">
              <a:ext uri="{FF2B5EF4-FFF2-40B4-BE49-F238E27FC236}">
                <a16:creationId xmlns:a16="http://schemas.microsoft.com/office/drawing/2014/main" id="{6DC0B001-0149-4CDC-AFDC-AA853DF9BB56}"/>
              </a:ext>
            </a:extLst>
          </p:cNvPr>
          <p:cNvSpPr>
            <a:spLocks xmlns:a="http://schemas.openxmlformats.org/drawingml/2006/main" noGrp="1"/>
          </p:cNvSpPr>
          <p:nvPr/>
        </p:nvSpPr>
        <p:spPr>
          <a:xfrm xmlns:a="http://schemas.openxmlformats.org/drawingml/2006/main">
            <a:off x="4171950" y="30861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444"/>
          </a:bodyPr>
          <a:lstStyle xmlns:a="http://schemas.openxmlformats.org/drawingml/2006/main"/>
          <a:p xmlns:a="http://schemas.openxmlformats.org/drawingml/2006/main">
            <a:pPr algn="ctr">
              <a:lnSpc>
                <a:spcPct val="100000"/>
              </a:lnSpc>
              <a:buNone/>
              <a:defRPr sz="2250" b="1" i="0">
                <a:solidFill>
                  <a:srgbClr val="2E7D8A"/>
                </a:solidFill>
                <a:latin typeface="Aptos"/>
                <a:ea typeface="Aptos"/>
                <a:cs typeface="Aptos"/>
              </a:defRPr>
            </a:pPr>
            <a:r>
              <a:rPr sz="2250" b="1" i="0">
                <a:solidFill>
                  <a:srgbClr val="2E7D8A"/>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08493C03-0B51-481D-9A62-1368D063D8B9}"/>
              </a:ext>
            </a:extLst>
          </p:cNvPr>
          <p:cNvSpPr>
            <a:spLocks xmlns:a="http://schemas.openxmlformats.org/drawingml/2006/main" noGrp="1"/>
          </p:cNvSpPr>
          <p:nvPr/>
        </p:nvSpPr>
        <p:spPr>
          <a:xfrm xmlns:a="http://schemas.openxmlformats.org/drawingml/2006/main">
            <a:off x="4514850" y="2362200"/>
            <a:ext cx="1638300" cy="1809750"/>
          </a:xfrm>
          <a:prstGeom xmlns:a="http://schemas.openxmlformats.org/drawingml/2006/main" prst="roundRect">
            <a:avLst>
              <a:gd name="adj" fmla="val 6977"/>
            </a:avLst>
          </a:prstGeom>
          <a:solidFill xmlns:a="http://schemas.openxmlformats.org/drawingml/2006/main">
            <a:srgbClr val="E4EE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9571C9D-385F-48E8-92EC-E025103B8B8B}"/>
              </a:ext>
            </a:extLst>
          </p:cNvPr>
          <p:cNvSpPr>
            <a:spLocks xmlns:a="http://schemas.openxmlformats.org/drawingml/2006/main" noGrp="1"/>
          </p:cNvSpPr>
          <p:nvPr/>
        </p:nvSpPr>
        <p:spPr>
          <a:xfrm xmlns:a="http://schemas.openxmlformats.org/drawingml/2006/main">
            <a:off x="4629150" y="2552700"/>
            <a:ext cx="1409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0C3B32"/>
                </a:solidFill>
                <a:latin typeface="Aptos Display"/>
                <a:ea typeface="Aptos Display"/>
                <a:cs typeface="Aptos Display"/>
              </a:defRPr>
            </a:pPr>
            <a:r>
              <a:rPr sz="1200" b="1" i="0">
                <a:solidFill>
                  <a:srgbClr val="0C3B32"/>
                </a:solidFill>
                <a:latin typeface="Aptos Display"/>
                <a:ea typeface="Aptos Display"/>
                <a:cs typeface="Aptos Display"/>
              </a:rPr>
              <a:t>DIGITAL TWIN</a:t>
            </a:r>
          </a:p>
        </p:txBody>
      </p:sp>
      <p:sp>
        <p:nvSpPr>
          <p:cNvPr id="15" name="">
            <a:extLst xmlns:a="http://schemas.openxmlformats.org/drawingml/2006/main">
              <a:ext uri="{FF2B5EF4-FFF2-40B4-BE49-F238E27FC236}">
                <a16:creationId xmlns:a16="http://schemas.microsoft.com/office/drawing/2014/main" id="{A1E46321-311D-4A7C-BCB5-6144E2937577}"/>
              </a:ext>
            </a:extLst>
          </p:cNvPr>
          <p:cNvSpPr>
            <a:spLocks xmlns:a="http://schemas.openxmlformats.org/drawingml/2006/main" noGrp="1"/>
          </p:cNvSpPr>
          <p:nvPr/>
        </p:nvSpPr>
        <p:spPr>
          <a:xfrm xmlns:a="http://schemas.openxmlformats.org/drawingml/2006/main">
            <a:off x="4629150" y="3105150"/>
            <a:ext cx="14097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5000"/>
              </a:lnSpc>
              <a:buNone/>
              <a:defRPr sz="1275" b="0" i="0">
                <a:solidFill>
                  <a:srgbClr val="5C6A70"/>
                </a:solidFill>
                <a:latin typeface="Aptos"/>
                <a:ea typeface="Aptos"/>
                <a:cs typeface="Aptos"/>
              </a:defRPr>
            </a:pPr>
            <a:r>
              <a:rPr sz="1275" b="0" i="0">
                <a:solidFill>
                  <a:srgbClr val="5C6A70"/>
                </a:solidFill>
                <a:latin typeface="Aptos"/>
                <a:ea typeface="Aptos"/>
                <a:cs typeface="Aptos"/>
              </a:rPr>
              <a:t>patient ODEs</a:t>
            </a:r>
          </a:p>
          <a:p xmlns:a="http://schemas.openxmlformats.org/drawingml/2006/main">
            <a:pPr algn="ctr">
              <a:lnSpc>
                <a:spcPct val="115000"/>
              </a:lnSpc>
              <a:buNone/>
              <a:defRPr sz="1275" b="0" i="0">
                <a:solidFill>
                  <a:srgbClr val="5C6A70"/>
                </a:solidFill>
                <a:latin typeface="Aptos"/>
                <a:ea typeface="Aptos"/>
                <a:cs typeface="Aptos"/>
              </a:defRPr>
            </a:pPr>
            <a:r>
              <a:rPr sz="1275" b="0" i="0">
                <a:solidFill>
                  <a:srgbClr val="5C6A70"/>
                </a:solidFill>
                <a:latin typeface="Aptos"/>
                <a:ea typeface="Aptos"/>
                <a:cs typeface="Aptos"/>
              </a:rPr>
              <a:t>sensor model</a:t>
            </a:r>
          </a:p>
        </p:txBody>
      </p:sp>
      <p:sp>
        <p:nvSpPr>
          <p:cNvPr id="16" name="">
            <a:extLst xmlns:a="http://schemas.openxmlformats.org/drawingml/2006/main">
              <a:ext uri="{FF2B5EF4-FFF2-40B4-BE49-F238E27FC236}">
                <a16:creationId xmlns:a16="http://schemas.microsoft.com/office/drawing/2014/main" id="{48861728-18F9-44AB-85E6-8B1A96338E24}"/>
              </a:ext>
            </a:extLst>
          </p:cNvPr>
          <p:cNvSpPr>
            <a:spLocks xmlns:a="http://schemas.openxmlformats.org/drawingml/2006/main" noGrp="1"/>
          </p:cNvSpPr>
          <p:nvPr/>
        </p:nvSpPr>
        <p:spPr>
          <a:xfrm xmlns:a="http://schemas.openxmlformats.org/drawingml/2006/main">
            <a:off x="6191250" y="30861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444"/>
          </a:bodyPr>
          <a:lstStyle xmlns:a="http://schemas.openxmlformats.org/drawingml/2006/main"/>
          <a:p xmlns:a="http://schemas.openxmlformats.org/drawingml/2006/main">
            <a:pPr algn="ctr">
              <a:lnSpc>
                <a:spcPct val="100000"/>
              </a:lnSpc>
              <a:buNone/>
              <a:defRPr sz="2250" b="1" i="0">
                <a:solidFill>
                  <a:srgbClr val="2E7D8A"/>
                </a:solidFill>
                <a:latin typeface="Aptos"/>
                <a:ea typeface="Aptos"/>
                <a:cs typeface="Aptos"/>
              </a:defRPr>
            </a:pPr>
            <a:r>
              <a:rPr sz="2250" b="1" i="0">
                <a:solidFill>
                  <a:srgbClr val="2E7D8A"/>
                </a:solidFill>
                <a:latin typeface="Aptos"/>
                <a:ea typeface="Aptos"/>
                <a:cs typeface="Aptos"/>
              </a:rPr>
              <a:t>→</a:t>
            </a:r>
          </a:p>
        </p:txBody>
      </p:sp>
      <p:sp>
        <p:nvSpPr>
          <p:cNvPr id="17" name="">
            <a:extLst xmlns:a="http://schemas.openxmlformats.org/drawingml/2006/main">
              <a:ext uri="{FF2B5EF4-FFF2-40B4-BE49-F238E27FC236}">
                <a16:creationId xmlns:a16="http://schemas.microsoft.com/office/drawing/2014/main" id="{7B380DFC-ED35-4697-84E3-2063978A41E4}"/>
              </a:ext>
            </a:extLst>
          </p:cNvPr>
          <p:cNvSpPr>
            <a:spLocks xmlns:a="http://schemas.openxmlformats.org/drawingml/2006/main" noGrp="1"/>
          </p:cNvSpPr>
          <p:nvPr/>
        </p:nvSpPr>
        <p:spPr>
          <a:xfrm xmlns:a="http://schemas.openxmlformats.org/drawingml/2006/main">
            <a:off x="6534150" y="2362200"/>
            <a:ext cx="1638300" cy="1809750"/>
          </a:xfrm>
          <a:prstGeom xmlns:a="http://schemas.openxmlformats.org/drawingml/2006/main" prst="roundRect">
            <a:avLst>
              <a:gd name="adj" fmla="val 6977"/>
            </a:avLst>
          </a:prstGeom>
          <a:solidFill xmlns:a="http://schemas.openxmlformats.org/drawingml/2006/main">
            <a:srgbClr val="F6E9C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9591ABB-2046-4A82-B356-770057626D3E}"/>
              </a:ext>
            </a:extLst>
          </p:cNvPr>
          <p:cNvSpPr>
            <a:spLocks xmlns:a="http://schemas.openxmlformats.org/drawingml/2006/main" noGrp="1"/>
          </p:cNvSpPr>
          <p:nvPr/>
        </p:nvSpPr>
        <p:spPr>
          <a:xfrm xmlns:a="http://schemas.openxmlformats.org/drawingml/2006/main">
            <a:off x="6648450" y="2552700"/>
            <a:ext cx="1409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7A4C00"/>
                </a:solidFill>
                <a:latin typeface="Aptos Display"/>
                <a:ea typeface="Aptos Display"/>
                <a:cs typeface="Aptos Display"/>
              </a:defRPr>
            </a:pPr>
            <a:r>
              <a:rPr sz="1200" b="1" i="0">
                <a:solidFill>
                  <a:srgbClr val="7A4C00"/>
                </a:solidFill>
                <a:latin typeface="Aptos Display"/>
                <a:ea typeface="Aptos Display"/>
                <a:cs typeface="Aptos Display"/>
              </a:rPr>
              <a:t>ALGORITHM</a:t>
            </a:r>
          </a:p>
        </p:txBody>
      </p:sp>
      <p:sp>
        <p:nvSpPr>
          <p:cNvPr id="19" name="">
            <a:extLst xmlns:a="http://schemas.openxmlformats.org/drawingml/2006/main">
              <a:ext uri="{FF2B5EF4-FFF2-40B4-BE49-F238E27FC236}">
                <a16:creationId xmlns:a16="http://schemas.microsoft.com/office/drawing/2014/main" id="{6CFEBF27-428F-436B-87BA-EF9AD6E26DA4}"/>
              </a:ext>
            </a:extLst>
          </p:cNvPr>
          <p:cNvSpPr>
            <a:spLocks xmlns:a="http://schemas.openxmlformats.org/drawingml/2006/main" noGrp="1"/>
          </p:cNvSpPr>
          <p:nvPr/>
        </p:nvSpPr>
        <p:spPr>
          <a:xfrm xmlns:a="http://schemas.openxmlformats.org/drawingml/2006/main">
            <a:off x="6648450" y="3105150"/>
            <a:ext cx="14097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5000"/>
              </a:lnSpc>
              <a:buNone/>
              <a:defRPr sz="1275" b="0" i="0">
                <a:solidFill>
                  <a:srgbClr val="5C6A70"/>
                </a:solidFill>
                <a:latin typeface="Aptos"/>
                <a:ea typeface="Aptos"/>
                <a:cs typeface="Aptos"/>
              </a:defRPr>
            </a:pPr>
            <a:r>
              <a:rPr sz="1275" b="0" i="0">
                <a:solidFill>
                  <a:srgbClr val="5C6A70"/>
                </a:solidFill>
                <a:latin typeface="Aptos"/>
                <a:ea typeface="Aptos"/>
                <a:cs typeface="Aptos"/>
              </a:rPr>
              <a:t>PID · MPC · AI</a:t>
            </a:r>
          </a:p>
          <a:p xmlns:a="http://schemas.openxmlformats.org/drawingml/2006/main">
            <a:pPr algn="ctr">
              <a:lnSpc>
                <a:spcPct val="115000"/>
              </a:lnSpc>
              <a:buNone/>
              <a:defRPr sz="1275" b="0" i="0">
                <a:solidFill>
                  <a:srgbClr val="5C6A70"/>
                </a:solidFill>
                <a:latin typeface="Aptos"/>
                <a:ea typeface="Aptos"/>
                <a:cs typeface="Aptos"/>
              </a:defRPr>
            </a:pPr>
            <a:r>
              <a:rPr sz="1275" b="0" i="0">
                <a:solidFill>
                  <a:srgbClr val="5C6A70"/>
                </a:solidFill>
                <a:latin typeface="Aptos"/>
                <a:ea typeface="Aptos"/>
                <a:cs typeface="Aptos"/>
              </a:rPr>
              <a:t>custom plugin</a:t>
            </a:r>
          </a:p>
        </p:txBody>
      </p:sp>
      <p:sp>
        <p:nvSpPr>
          <p:cNvPr id="20" name="">
            <a:extLst xmlns:a="http://schemas.openxmlformats.org/drawingml/2006/main">
              <a:ext uri="{FF2B5EF4-FFF2-40B4-BE49-F238E27FC236}">
                <a16:creationId xmlns:a16="http://schemas.microsoft.com/office/drawing/2014/main" id="{51414273-F0D1-48C6-ACA2-137757B8E25B}"/>
              </a:ext>
            </a:extLst>
          </p:cNvPr>
          <p:cNvSpPr>
            <a:spLocks xmlns:a="http://schemas.openxmlformats.org/drawingml/2006/main" noGrp="1"/>
          </p:cNvSpPr>
          <p:nvPr/>
        </p:nvSpPr>
        <p:spPr>
          <a:xfrm xmlns:a="http://schemas.openxmlformats.org/drawingml/2006/main">
            <a:off x="8210550" y="30861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444"/>
          </a:bodyPr>
          <a:lstStyle xmlns:a="http://schemas.openxmlformats.org/drawingml/2006/main"/>
          <a:p xmlns:a="http://schemas.openxmlformats.org/drawingml/2006/main">
            <a:pPr algn="ctr">
              <a:lnSpc>
                <a:spcPct val="100000"/>
              </a:lnSpc>
              <a:buNone/>
              <a:defRPr sz="2250" b="1" i="0">
                <a:solidFill>
                  <a:srgbClr val="2E7D8A"/>
                </a:solidFill>
                <a:latin typeface="Aptos"/>
                <a:ea typeface="Aptos"/>
                <a:cs typeface="Aptos"/>
              </a:defRPr>
            </a:pPr>
            <a:r>
              <a:rPr sz="2250" b="1" i="0">
                <a:solidFill>
                  <a:srgbClr val="2E7D8A"/>
                </a:solidFill>
                <a:latin typeface="Aptos"/>
                <a:ea typeface="Aptos"/>
                <a:cs typeface="Aptos"/>
              </a:rPr>
              <a:t>→</a:t>
            </a:r>
          </a:p>
        </p:txBody>
      </p:sp>
      <p:sp>
        <p:nvSpPr>
          <p:cNvPr id="21" name="">
            <a:extLst xmlns:a="http://schemas.openxmlformats.org/drawingml/2006/main">
              <a:ext uri="{FF2B5EF4-FFF2-40B4-BE49-F238E27FC236}">
                <a16:creationId xmlns:a16="http://schemas.microsoft.com/office/drawing/2014/main" id="{90459108-549B-45F7-A9E7-028FAE3A4715}"/>
              </a:ext>
            </a:extLst>
          </p:cNvPr>
          <p:cNvSpPr>
            <a:spLocks xmlns:a="http://schemas.openxmlformats.org/drawingml/2006/main" noGrp="1"/>
          </p:cNvSpPr>
          <p:nvPr/>
        </p:nvSpPr>
        <p:spPr>
          <a:xfrm xmlns:a="http://schemas.openxmlformats.org/drawingml/2006/main">
            <a:off x="8553450" y="2362200"/>
            <a:ext cx="1638300" cy="1809750"/>
          </a:xfrm>
          <a:prstGeom xmlns:a="http://schemas.openxmlformats.org/drawingml/2006/main" prst="roundRect">
            <a:avLst>
              <a:gd name="adj" fmla="val 6977"/>
            </a:avLst>
          </a:prstGeom>
          <a:solidFill xmlns:a="http://schemas.openxmlformats.org/drawingml/2006/main">
            <a:srgbClr val="F5E4E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E501741-815F-466B-8CCE-3657E32814AC}"/>
              </a:ext>
            </a:extLst>
          </p:cNvPr>
          <p:cNvSpPr>
            <a:spLocks xmlns:a="http://schemas.openxmlformats.org/drawingml/2006/main" noGrp="1"/>
          </p:cNvSpPr>
          <p:nvPr/>
        </p:nvSpPr>
        <p:spPr>
          <a:xfrm xmlns:a="http://schemas.openxmlformats.org/drawingml/2006/main">
            <a:off x="8667750" y="2552700"/>
            <a:ext cx="1409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C5534A"/>
                </a:solidFill>
                <a:latin typeface="Aptos Display"/>
                <a:ea typeface="Aptos Display"/>
                <a:cs typeface="Aptos Display"/>
              </a:defRPr>
            </a:pPr>
            <a:r>
              <a:rPr sz="1200" b="1" i="0">
                <a:solidFill>
                  <a:srgbClr val="C5534A"/>
                </a:solidFill>
                <a:latin typeface="Aptos Display"/>
                <a:ea typeface="Aptos Display"/>
                <a:cs typeface="Aptos Display"/>
              </a:rPr>
              <a:t>SAFETY GATE</a:t>
            </a:r>
          </a:p>
        </p:txBody>
      </p:sp>
      <p:sp>
        <p:nvSpPr>
          <p:cNvPr id="23" name="">
            <a:extLst xmlns:a="http://schemas.openxmlformats.org/drawingml/2006/main">
              <a:ext uri="{FF2B5EF4-FFF2-40B4-BE49-F238E27FC236}">
                <a16:creationId xmlns:a16="http://schemas.microsoft.com/office/drawing/2014/main" id="{ABFFDC4B-D61D-47A1-8D55-ED07364AABA3}"/>
              </a:ext>
            </a:extLst>
          </p:cNvPr>
          <p:cNvSpPr>
            <a:spLocks xmlns:a="http://schemas.openxmlformats.org/drawingml/2006/main" noGrp="1"/>
          </p:cNvSpPr>
          <p:nvPr/>
        </p:nvSpPr>
        <p:spPr>
          <a:xfrm xmlns:a="http://schemas.openxmlformats.org/drawingml/2006/main">
            <a:off x="8667750" y="3105150"/>
            <a:ext cx="14097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5000"/>
              </a:lnSpc>
              <a:buNone/>
              <a:defRPr sz="1275" b="0" i="0">
                <a:solidFill>
                  <a:srgbClr val="5C6A70"/>
                </a:solidFill>
                <a:latin typeface="Aptos"/>
                <a:ea typeface="Aptos"/>
                <a:cs typeface="Aptos"/>
              </a:defRPr>
            </a:pPr>
            <a:r>
              <a:rPr sz="1275" b="0" i="0">
                <a:solidFill>
                  <a:srgbClr val="5C6A70"/>
                </a:solidFill>
                <a:latin typeface="Aptos"/>
                <a:ea typeface="Aptos"/>
                <a:cs typeface="Aptos"/>
              </a:rPr>
              <a:t>bounds · trend</a:t>
            </a:r>
          </a:p>
          <a:p xmlns:a="http://schemas.openxmlformats.org/drawingml/2006/main">
            <a:pPr algn="ctr">
              <a:lnSpc>
                <a:spcPct val="115000"/>
              </a:lnSpc>
              <a:buNone/>
              <a:defRPr sz="1275" b="0" i="0">
                <a:solidFill>
                  <a:srgbClr val="5C6A70"/>
                </a:solidFill>
                <a:latin typeface="Aptos"/>
                <a:ea typeface="Aptos"/>
                <a:cs typeface="Aptos"/>
              </a:defRPr>
            </a:pPr>
            <a:r>
              <a:rPr sz="1275" b="0" i="0">
                <a:solidFill>
                  <a:srgbClr val="5C6A70"/>
                </a:solidFill>
                <a:latin typeface="Aptos"/>
                <a:ea typeface="Aptos"/>
                <a:cs typeface="Aptos"/>
              </a:rPr>
              <a:t>IOB · dose window</a:t>
            </a:r>
          </a:p>
        </p:txBody>
      </p:sp>
      <p:sp>
        <p:nvSpPr>
          <p:cNvPr id="24" name="">
            <a:extLst xmlns:a="http://schemas.openxmlformats.org/drawingml/2006/main">
              <a:ext uri="{FF2B5EF4-FFF2-40B4-BE49-F238E27FC236}">
                <a16:creationId xmlns:a16="http://schemas.microsoft.com/office/drawing/2014/main" id="{AFB3C407-1BEA-40BB-9BDF-8F8BF4F19CCF}"/>
              </a:ext>
            </a:extLst>
          </p:cNvPr>
          <p:cNvSpPr>
            <a:spLocks xmlns:a="http://schemas.openxmlformats.org/drawingml/2006/main" noGrp="1"/>
          </p:cNvSpPr>
          <p:nvPr/>
        </p:nvSpPr>
        <p:spPr>
          <a:xfrm xmlns:a="http://schemas.openxmlformats.org/drawingml/2006/main">
            <a:off x="10229850" y="30861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444"/>
          </a:bodyPr>
          <a:lstStyle xmlns:a="http://schemas.openxmlformats.org/drawingml/2006/main"/>
          <a:p xmlns:a="http://schemas.openxmlformats.org/drawingml/2006/main">
            <a:pPr algn="ctr">
              <a:lnSpc>
                <a:spcPct val="100000"/>
              </a:lnSpc>
              <a:buNone/>
              <a:defRPr sz="2250" b="1" i="0">
                <a:solidFill>
                  <a:srgbClr val="2E7D8A"/>
                </a:solidFill>
                <a:latin typeface="Aptos"/>
                <a:ea typeface="Aptos"/>
                <a:cs typeface="Aptos"/>
              </a:defRPr>
            </a:pPr>
            <a:r>
              <a:rPr sz="2250" b="1" i="0">
                <a:solidFill>
                  <a:srgbClr val="2E7D8A"/>
                </a:solidFill>
                <a:latin typeface="Aptos"/>
                <a:ea typeface="Aptos"/>
                <a:cs typeface="Aptos"/>
              </a:rPr>
              <a:t>→</a:t>
            </a:r>
          </a:p>
        </p:txBody>
      </p:sp>
      <p:sp>
        <p:nvSpPr>
          <p:cNvPr id="25" name="">
            <a:extLst xmlns:a="http://schemas.openxmlformats.org/drawingml/2006/main">
              <a:ext uri="{FF2B5EF4-FFF2-40B4-BE49-F238E27FC236}">
                <a16:creationId xmlns:a16="http://schemas.microsoft.com/office/drawing/2014/main" id="{1738F9A5-3DBA-40DA-B5FE-A5928C3EBDB1}"/>
              </a:ext>
            </a:extLst>
          </p:cNvPr>
          <p:cNvSpPr>
            <a:spLocks xmlns:a="http://schemas.openxmlformats.org/drawingml/2006/main" noGrp="1"/>
          </p:cNvSpPr>
          <p:nvPr/>
        </p:nvSpPr>
        <p:spPr>
          <a:xfrm xmlns:a="http://schemas.openxmlformats.org/drawingml/2006/main">
            <a:off x="10572750" y="2362200"/>
            <a:ext cx="1028700" cy="1809750"/>
          </a:xfrm>
          <a:prstGeom xmlns:a="http://schemas.openxmlformats.org/drawingml/2006/main" prst="roundRect">
            <a:avLst>
              <a:gd name="adj" fmla="val 11111"/>
            </a:avLst>
          </a:prstGeom>
          <a:solidFill xmlns:a="http://schemas.openxmlformats.org/drawingml/2006/main">
            <a:srgbClr val="E7F0F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8CFA61B-5E7D-42C4-9500-CBBC8EAF5DAD}"/>
              </a:ext>
            </a:extLst>
          </p:cNvPr>
          <p:cNvSpPr>
            <a:spLocks xmlns:a="http://schemas.openxmlformats.org/drawingml/2006/main" noGrp="1"/>
          </p:cNvSpPr>
          <p:nvPr/>
        </p:nvSpPr>
        <p:spPr>
          <a:xfrm xmlns:a="http://schemas.openxmlformats.org/drawingml/2006/main">
            <a:off x="10687050" y="2552700"/>
            <a:ext cx="800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173A52"/>
                </a:solidFill>
                <a:latin typeface="Aptos Display"/>
                <a:ea typeface="Aptos Display"/>
                <a:cs typeface="Aptos Display"/>
              </a:defRPr>
            </a:pPr>
            <a:r>
              <a:rPr sz="1050" b="1" i="0">
                <a:solidFill>
                  <a:srgbClr val="173A52"/>
                </a:solidFill>
                <a:latin typeface="Aptos Display"/>
                <a:ea typeface="Aptos Display"/>
                <a:cs typeface="Aptos Display"/>
              </a:rPr>
              <a:t>EVIDENCE</a:t>
            </a:r>
          </a:p>
        </p:txBody>
      </p:sp>
      <p:sp>
        <p:nvSpPr>
          <p:cNvPr id="27" name="">
            <a:extLst xmlns:a="http://schemas.openxmlformats.org/drawingml/2006/main">
              <a:ext uri="{FF2B5EF4-FFF2-40B4-BE49-F238E27FC236}">
                <a16:creationId xmlns:a16="http://schemas.microsoft.com/office/drawing/2014/main" id="{30E75FAE-B833-41EE-A489-FAE8ED1141C1}"/>
              </a:ext>
            </a:extLst>
          </p:cNvPr>
          <p:cNvSpPr>
            <a:spLocks xmlns:a="http://schemas.openxmlformats.org/drawingml/2006/main" noGrp="1"/>
          </p:cNvSpPr>
          <p:nvPr/>
        </p:nvSpPr>
        <p:spPr>
          <a:xfrm xmlns:a="http://schemas.openxmlformats.org/drawingml/2006/main">
            <a:off x="10687050" y="3105150"/>
            <a:ext cx="800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5000"/>
              </a:lnSpc>
              <a:buNone/>
              <a:defRPr sz="1275" b="0" i="0">
                <a:solidFill>
                  <a:srgbClr val="5C6A70"/>
                </a:solidFill>
                <a:latin typeface="Aptos"/>
                <a:ea typeface="Aptos"/>
                <a:cs typeface="Aptos"/>
              </a:defRPr>
            </a:pPr>
            <a:r>
              <a:rPr sz="1275" b="0" i="0">
                <a:solidFill>
                  <a:srgbClr val="5C6A70"/>
                </a:solidFill>
                <a:latin typeface="Aptos"/>
                <a:ea typeface="Aptos"/>
                <a:cs typeface="Aptos"/>
              </a:rPr>
              <a:t>CSV</a:t>
            </a:r>
          </a:p>
          <a:p xmlns:a="http://schemas.openxmlformats.org/drawingml/2006/main">
            <a:pPr algn="ctr">
              <a:lnSpc>
                <a:spcPct val="115000"/>
              </a:lnSpc>
              <a:buNone/>
              <a:defRPr sz="1275" b="0" i="0">
                <a:solidFill>
                  <a:srgbClr val="5C6A70"/>
                </a:solidFill>
                <a:latin typeface="Aptos"/>
                <a:ea typeface="Aptos"/>
                <a:cs typeface="Aptos"/>
              </a:defRPr>
            </a:pPr>
            <a:r>
              <a:rPr sz="1275" b="0" i="0">
                <a:solidFill>
                  <a:srgbClr val="5C6A70"/>
                </a:solidFill>
                <a:latin typeface="Aptos"/>
                <a:ea typeface="Aptos"/>
                <a:cs typeface="Aptos"/>
              </a:rPr>
              <a:t>PDF</a:t>
            </a:r>
          </a:p>
          <a:p xmlns:a="http://schemas.openxmlformats.org/drawingml/2006/main">
            <a:pPr algn="ctr">
              <a:lnSpc>
                <a:spcPct val="115000"/>
              </a:lnSpc>
              <a:buNone/>
              <a:defRPr sz="1275" b="0" i="0">
                <a:solidFill>
                  <a:srgbClr val="5C6A70"/>
                </a:solidFill>
                <a:latin typeface="Aptos"/>
                <a:ea typeface="Aptos"/>
                <a:cs typeface="Aptos"/>
              </a:defRPr>
            </a:pPr>
            <a:r>
              <a:rPr sz="1275" b="0" i="0">
                <a:solidFill>
                  <a:srgbClr val="5C6A70"/>
                </a:solidFill>
                <a:latin typeface="Aptos"/>
                <a:ea typeface="Aptos"/>
                <a:cs typeface="Aptos"/>
              </a:rPr>
              <a:t>audit</a:t>
            </a:r>
          </a:p>
        </p:txBody>
      </p:sp>
      <p:sp>
        <p:nvSpPr>
          <p:cNvPr id="28" name="">
            <a:extLst xmlns:a="http://schemas.openxmlformats.org/drawingml/2006/main">
              <a:ext uri="{FF2B5EF4-FFF2-40B4-BE49-F238E27FC236}">
                <a16:creationId xmlns:a16="http://schemas.microsoft.com/office/drawing/2014/main" id="{04C3CCA7-5D1B-437E-8151-4A40AE17AE40}"/>
              </a:ext>
            </a:extLst>
          </p:cNvPr>
          <p:cNvSpPr>
            <a:spLocks xmlns:a="http://schemas.openxmlformats.org/drawingml/2006/main" noGrp="1"/>
          </p:cNvSpPr>
          <p:nvPr/>
        </p:nvSpPr>
        <p:spPr>
          <a:xfrm xmlns:a="http://schemas.openxmlformats.org/drawingml/2006/main">
            <a:off x="4495800" y="4533900"/>
            <a:ext cx="3676650" cy="742950"/>
          </a:xfrm>
          <a:prstGeom xmlns:a="http://schemas.openxmlformats.org/drawingml/2006/main" prst="roundRect">
            <a:avLst>
              <a:gd name="adj" fmla="val 15385"/>
            </a:avLst>
          </a:prstGeom>
          <a:solidFill xmlns:a="http://schemas.openxmlformats.org/drawingml/2006/main">
            <a:srgbClr val="0C3B3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A5B53BA-162D-47B6-969D-A709AFEDD373}"/>
              </a:ext>
            </a:extLst>
          </p:cNvPr>
          <p:cNvSpPr>
            <a:spLocks xmlns:a="http://schemas.openxmlformats.org/drawingml/2006/main" noGrp="1"/>
          </p:cNvSpPr>
          <p:nvPr/>
        </p:nvSpPr>
        <p:spPr>
          <a:xfrm xmlns:a="http://schemas.openxmlformats.org/drawingml/2006/main">
            <a:off x="4667250" y="46863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D89A2B"/>
                </a:solidFill>
                <a:latin typeface="Aptos"/>
                <a:ea typeface="Aptos"/>
                <a:cs typeface="Aptos"/>
              </a:defRPr>
            </a:pPr>
            <a:r>
              <a:rPr sz="975" b="1" i="0">
                <a:solidFill>
                  <a:srgbClr val="D89A2B"/>
                </a:solidFill>
                <a:latin typeface="Aptos"/>
                <a:ea typeface="Aptos"/>
                <a:cs typeface="Aptos"/>
              </a:rPr>
              <a:t>STATE</a:t>
            </a:r>
          </a:p>
        </p:txBody>
      </p:sp>
      <p:sp>
        <p:nvSpPr>
          <p:cNvPr id="30" name="">
            <a:extLst xmlns:a="http://schemas.openxmlformats.org/drawingml/2006/main">
              <a:ext uri="{FF2B5EF4-FFF2-40B4-BE49-F238E27FC236}">
                <a16:creationId xmlns:a16="http://schemas.microsoft.com/office/drawing/2014/main" id="{E088DD7B-E6D2-4515-BD62-8C2A1ADBD60F}"/>
              </a:ext>
            </a:extLst>
          </p:cNvPr>
          <p:cNvSpPr>
            <a:spLocks xmlns:a="http://schemas.openxmlformats.org/drawingml/2006/main" noGrp="1"/>
          </p:cNvSpPr>
          <p:nvPr/>
        </p:nvSpPr>
        <p:spPr>
          <a:xfrm xmlns:a="http://schemas.openxmlformats.org/drawingml/2006/main">
            <a:off x="4667250" y="4933950"/>
            <a:ext cx="3295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817"/>
          </a:bodyPr>
          <a:lstStyle xmlns:a="http://schemas.openxmlformats.org/drawingml/2006/main"/>
          <a:p xmlns:a="http://schemas.openxmlformats.org/drawingml/2006/main">
            <a:pPr algn="l">
              <a:lnSpc>
                <a:spcPct val="100000"/>
              </a:lnSpc>
              <a:buNone/>
              <a:defRPr sz="1125" b="0" i="0">
                <a:solidFill>
                  <a:srgbClr val="FFFFFF"/>
                </a:solidFill>
                <a:latin typeface="Aptos"/>
                <a:ea typeface="Aptos"/>
                <a:cs typeface="Aptos"/>
              </a:defRPr>
            </a:pPr>
            <a:r>
              <a:rPr sz="1125" b="0" i="0">
                <a:solidFill>
                  <a:srgbClr val="FFFFFF"/>
                </a:solidFill>
                <a:latin typeface="Aptos"/>
                <a:ea typeface="Aptos"/>
                <a:cs typeface="Aptos"/>
              </a:rPr>
              <a:t>glucose · IOB · COB · activity · stress · sensor quality</a:t>
            </a:r>
          </a:p>
        </p:txBody>
      </p:sp>
      <p:sp>
        <p:nvSpPr>
          <p:cNvPr id="31" name="">
            <a:extLst xmlns:a="http://schemas.openxmlformats.org/drawingml/2006/main">
              <a:ext uri="{FF2B5EF4-FFF2-40B4-BE49-F238E27FC236}">
                <a16:creationId xmlns:a16="http://schemas.microsoft.com/office/drawing/2014/main" id="{CE2722E4-7947-45D3-AC0F-2C1880FF1410}"/>
              </a:ext>
            </a:extLst>
          </p:cNvPr>
          <p:cNvSpPr>
            <a:spLocks xmlns:a="http://schemas.openxmlformats.org/drawingml/2006/main" noGrp="1"/>
          </p:cNvSpPr>
          <p:nvPr/>
        </p:nvSpPr>
        <p:spPr>
          <a:xfrm xmlns:a="http://schemas.openxmlformats.org/drawingml/2006/main">
            <a:off x="8553450" y="4533900"/>
            <a:ext cx="3048000" cy="742950"/>
          </a:xfrm>
          <a:prstGeom xmlns:a="http://schemas.openxmlformats.org/drawingml/2006/main" prst="roundRect">
            <a:avLst>
              <a:gd name="adj" fmla="val 15385"/>
            </a:avLst>
          </a:prstGeom>
          <a:solidFill xmlns:a="http://schemas.openxmlformats.org/drawingml/2006/main">
            <a:srgbClr val="C5534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4C9078D-0EB3-49BB-95B0-FA2DB3CFC614}"/>
              </a:ext>
            </a:extLst>
          </p:cNvPr>
          <p:cNvSpPr>
            <a:spLocks xmlns:a="http://schemas.openxmlformats.org/drawingml/2006/main" noGrp="1"/>
          </p:cNvSpPr>
          <p:nvPr/>
        </p:nvSpPr>
        <p:spPr>
          <a:xfrm xmlns:a="http://schemas.openxmlformats.org/drawingml/2006/main">
            <a:off x="8724900" y="46863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FFFFF"/>
                </a:solidFill>
                <a:latin typeface="Aptos"/>
                <a:ea typeface="Aptos"/>
                <a:cs typeface="Aptos"/>
              </a:defRPr>
            </a:pPr>
            <a:r>
              <a:rPr sz="975" b="1" i="0">
                <a:solidFill>
                  <a:srgbClr val="FFFFFF"/>
                </a:solidFill>
                <a:latin typeface="Aptos"/>
                <a:ea typeface="Aptos"/>
                <a:cs typeface="Aptos"/>
              </a:rPr>
              <a:t>DECISION TRACE</a:t>
            </a:r>
          </a:p>
        </p:txBody>
      </p:sp>
      <p:sp>
        <p:nvSpPr>
          <p:cNvPr id="33" name="">
            <a:extLst xmlns:a="http://schemas.openxmlformats.org/drawingml/2006/main">
              <a:ext uri="{FF2B5EF4-FFF2-40B4-BE49-F238E27FC236}">
                <a16:creationId xmlns:a16="http://schemas.microsoft.com/office/drawing/2014/main" id="{D442E1FB-CA1C-419A-A805-1C19701AA827}"/>
              </a:ext>
            </a:extLst>
          </p:cNvPr>
          <p:cNvSpPr>
            <a:spLocks xmlns:a="http://schemas.openxmlformats.org/drawingml/2006/main" noGrp="1"/>
          </p:cNvSpPr>
          <p:nvPr/>
        </p:nvSpPr>
        <p:spPr>
          <a:xfrm xmlns:a="http://schemas.openxmlformats.org/drawingml/2006/main">
            <a:off x="8724900" y="49339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FFFFFF"/>
                </a:solidFill>
                <a:latin typeface="Aptos"/>
                <a:ea typeface="Aptos"/>
                <a:cs typeface="Aptos"/>
              </a:defRPr>
            </a:pPr>
            <a:r>
              <a:rPr sz="1125" b="0" i="0">
                <a:solidFill>
                  <a:srgbClr val="FFFFFF"/>
                </a:solidFill>
                <a:latin typeface="Aptos"/>
                <a:ea typeface="Aptos"/>
                <a:cs typeface="Aptos"/>
              </a:rPr>
              <a:t>accepted · reduced · blocked + reason</a:t>
            </a:r>
          </a:p>
        </p:txBody>
      </p:sp>
      <p:sp>
        <p:nvSpPr>
          <p:cNvPr id="34" name="">
            <a:extLst xmlns:a="http://schemas.openxmlformats.org/drawingml/2006/main">
              <a:ext uri="{FF2B5EF4-FFF2-40B4-BE49-F238E27FC236}">
                <a16:creationId xmlns:a16="http://schemas.microsoft.com/office/drawing/2014/main" id="{2189080C-330F-4862-93A6-9B823531BED1}"/>
              </a:ext>
            </a:extLst>
          </p:cNvPr>
          <p:cNvSpPr>
            <a:spLocks xmlns:a="http://schemas.openxmlformats.org/drawingml/2006/main" noGrp="1"/>
          </p:cNvSpPr>
          <p:nvPr/>
        </p:nvSpPr>
        <p:spPr>
          <a:xfrm xmlns:a="http://schemas.openxmlformats.org/drawingml/2006/main">
            <a:off x="1733550" y="5619750"/>
            <a:ext cx="8724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0C3B32"/>
                </a:solidFill>
                <a:latin typeface="Aptos Display"/>
                <a:ea typeface="Aptos Display"/>
                <a:cs typeface="Aptos Display"/>
              </a:defRPr>
            </a:pPr>
            <a:r>
              <a:rPr sz="1800" b="1" i="0">
                <a:solidFill>
                  <a:srgbClr val="0C3B32"/>
                </a:solidFill>
                <a:latin typeface="Aptos Display"/>
                <a:ea typeface="Aptos Display"/>
                <a:cs typeface="Aptos Display"/>
              </a:rPr>
              <a:t>Key design rule: candidate logic proposes; the safety layer authorises.</a:t>
            </a:r>
          </a:p>
        </p:txBody>
      </p:sp>
      <p:sp>
        <p:nvSpPr>
          <p:cNvPr id="35" name="">
            <a:extLst xmlns:a="http://schemas.openxmlformats.org/drawingml/2006/main">
              <a:ext uri="{FF2B5EF4-FFF2-40B4-BE49-F238E27FC236}">
                <a16:creationId xmlns:a16="http://schemas.microsoft.com/office/drawing/2014/main" id="{2DA2D74C-4DAD-448A-9F4C-F7F47CB3C6E6}"/>
              </a:ext>
            </a:extLst>
          </p:cNvPr>
          <p:cNvSpPr>
            <a:spLocks xmlns:a="http://schemas.openxmlformats.org/drawingml/2006/main" noGrp="1"/>
          </p:cNvSpPr>
          <p:nvPr/>
        </p:nvSpPr>
        <p:spPr>
          <a:xfrm xmlns:a="http://schemas.openxmlformats.org/drawingml/2006/main">
            <a:off x="647700" y="621030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0" i="0">
                <a:solidFill>
                  <a:srgbClr val="5C6A70"/>
                </a:solidFill>
                <a:latin typeface="Aptos"/>
                <a:ea typeface="Aptos"/>
                <a:cs typeface="Aptos"/>
              </a:defRPr>
            </a:pPr>
            <a:r>
              <a:rPr sz="750" b="0" i="0">
                <a:solidFill>
                  <a:srgbClr val="5C6A70"/>
                </a:solidFill>
                <a:latin typeface="Aptos"/>
                <a:ea typeface="Aptos"/>
                <a:cs typeface="Aptos"/>
              </a:rPr>
              <a:t>Code map: src/iints/data · core · api · safety · analysis · validation.</a:t>
            </a:r>
          </a:p>
        </p:txBody>
      </p:sp>
      <p:sp>
        <p:nvSpPr>
          <p:cNvPr id="36" name="">
            <a:extLst xmlns:a="http://schemas.openxmlformats.org/drawingml/2006/main">
              <a:ext uri="{FF2B5EF4-FFF2-40B4-BE49-F238E27FC236}">
                <a16:creationId xmlns:a16="http://schemas.microsoft.com/office/drawing/2014/main" id="{E694462B-E46C-48BF-97A8-A6A1883C034E}"/>
              </a:ext>
            </a:extLst>
          </p:cNvPr>
          <p:cNvSpPr>
            <a:spLocks xmlns:a="http://schemas.openxmlformats.org/drawingml/2006/main" noGrp="1"/>
          </p:cNvSpPr>
          <p:nvPr/>
        </p:nvSpPr>
        <p:spPr>
          <a:xfrm xmlns:a="http://schemas.openxmlformats.org/drawingml/2006/main">
            <a:off x="647700" y="6467475"/>
            <a:ext cx="10896600" cy="9525"/>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EF73F1A7-C78C-46F2-B144-7AD57AE9673A}"/>
              </a:ext>
            </a:extLst>
          </p:cNvPr>
          <p:cNvSpPr>
            <a:spLocks xmlns:a="http://schemas.openxmlformats.org/drawingml/2006/main" noGrp="1"/>
          </p:cNvSpPr>
          <p:nvPr/>
        </p:nvSpPr>
        <p:spPr>
          <a:xfrm xmlns:a="http://schemas.openxmlformats.org/drawingml/2006/main">
            <a:off x="647700" y="6553200"/>
            <a:ext cx="495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C6A70"/>
                </a:solidFill>
                <a:latin typeface="Aptos"/>
                <a:ea typeface="Aptos"/>
                <a:cs typeface="Aptos"/>
              </a:defRPr>
            </a:pPr>
            <a:r>
              <a:rPr sz="750" b="1" i="0">
                <a:solidFill>
                  <a:srgbClr val="5C6A70"/>
                </a:solidFill>
                <a:latin typeface="Aptos"/>
                <a:ea typeface="Aptos"/>
                <a:cs typeface="Aptos"/>
              </a:rPr>
              <a:t>RESEARCH &amp; EDUCATION ONLY · NOT A MEDICAL DEVICE</a:t>
            </a:r>
          </a:p>
        </p:txBody>
      </p:sp>
      <p:sp>
        <p:nvSpPr>
          <p:cNvPr id="38" name="">
            <a:extLst xmlns:a="http://schemas.openxmlformats.org/drawingml/2006/main">
              <a:ext uri="{FF2B5EF4-FFF2-40B4-BE49-F238E27FC236}">
                <a16:creationId xmlns:a16="http://schemas.microsoft.com/office/drawing/2014/main" id="{95A4F921-2A54-4E61-8B28-FB6D2501F47C}"/>
              </a:ext>
            </a:extLst>
          </p:cNvPr>
          <p:cNvSpPr>
            <a:spLocks xmlns:a="http://schemas.openxmlformats.org/drawingml/2006/main" noGrp="1"/>
          </p:cNvSpPr>
          <p:nvPr/>
        </p:nvSpPr>
        <p:spPr>
          <a:xfrm xmlns:a="http://schemas.openxmlformats.org/drawingml/2006/main">
            <a:off x="11096625" y="6534150"/>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1" i="0">
                <a:solidFill>
                  <a:srgbClr val="0C3B32"/>
                </a:solidFill>
                <a:latin typeface="Aptos"/>
                <a:ea typeface="Aptos"/>
                <a:cs typeface="Aptos"/>
              </a:defRPr>
            </a:pPr>
            <a:r>
              <a:rPr sz="900" b="1" i="0">
                <a:solidFill>
                  <a:srgbClr val="0C3B32"/>
                </a:solidFill>
                <a:latin typeface="Aptos"/>
                <a:ea typeface="Aptos"/>
                <a:cs typeface="Aptos"/>
              </a:rPr>
              <a:t>04</a:t>
            </a:r>
          </a:p>
        </p:txBody>
      </p:sp>
    </p:spTree>
    <p:extLst>
      <p:ext uri="{BB962C8B-B14F-4D97-AF65-F5344CB8AC3E}">
        <p14:creationId xmlns:p14="http://schemas.microsoft.com/office/powerpoint/2010/main" val="2121769045"/>
      </p:ext>
    </p:extLst>
  </p:cSld>
</p:sld>
</file>

<file path=ppt/slides/slide5.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2DCBDAD-C50D-49E7-BA43-1DB599124BF7}"/>
              </a:ext>
            </a:extLst>
          </p:cNvPr>
          <p:cNvSpPr>
            <a:spLocks xmlns:a="http://schemas.openxmlformats.org/drawingml/2006/main" noGrp="1"/>
          </p:cNvSpPr>
          <p:nvPr/>
        </p:nvSpPr>
        <p:spPr>
          <a:xfrm xmlns:a="http://schemas.openxmlformats.org/drawingml/2006/main">
            <a:off x="647700" y="3429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E7D8A"/>
                </a:solidFill>
                <a:latin typeface="Aptos"/>
                <a:ea typeface="Aptos"/>
                <a:cs typeface="Aptos"/>
              </a:defRPr>
            </a:pPr>
            <a:r>
              <a:rPr sz="900" b="1" i="0">
                <a:solidFill>
                  <a:srgbClr val="2E7D8A"/>
                </a:solidFill>
                <a:latin typeface="Aptos"/>
                <a:ea typeface="Aptos"/>
                <a:cs typeface="Aptos"/>
              </a:rPr>
              <a:t>SIMULATION LOOP</a:t>
            </a:r>
          </a:p>
        </p:txBody>
      </p:sp>
      <p:sp>
        <p:nvSpPr>
          <p:cNvPr id="2" name="">
            <a:extLst xmlns:a="http://schemas.openxmlformats.org/drawingml/2006/main">
              <a:ext uri="{FF2B5EF4-FFF2-40B4-BE49-F238E27FC236}">
                <a16:creationId xmlns:a16="http://schemas.microsoft.com/office/drawing/2014/main" id="{FF1D8B08-27C7-40A2-9DC4-408F47B57960}"/>
              </a:ext>
            </a:extLst>
          </p:cNvPr>
          <p:cNvSpPr>
            <a:spLocks xmlns:a="http://schemas.openxmlformats.org/drawingml/2006/main" noGrp="1"/>
          </p:cNvSpPr>
          <p:nvPr/>
        </p:nvSpPr>
        <p:spPr>
          <a:xfrm xmlns:a="http://schemas.openxmlformats.org/drawingml/2006/main">
            <a:off x="6477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00" b="1" i="0">
                <a:solidFill>
                  <a:srgbClr val="0C3B32"/>
                </a:solidFill>
                <a:latin typeface="Aptos Display"/>
                <a:ea typeface="Aptos Display"/>
                <a:cs typeface="Aptos Display"/>
              </a:defRPr>
            </a:pPr>
            <a:r>
              <a:rPr sz="3000" b="1" i="0">
                <a:solidFill>
                  <a:srgbClr val="0C3B32"/>
                </a:solidFill>
                <a:latin typeface="Aptos Display"/>
                <a:ea typeface="Aptos Display"/>
                <a:cs typeface="Aptos Display"/>
              </a:rPr>
              <a:t>What happens during one time step?</a:t>
            </a:r>
          </a:p>
        </p:txBody>
      </p:sp>
      <p:sp>
        <p:nvSpPr>
          <p:cNvPr id="3" name="">
            <a:extLst xmlns:a="http://schemas.openxmlformats.org/drawingml/2006/main">
              <a:ext uri="{FF2B5EF4-FFF2-40B4-BE49-F238E27FC236}">
                <a16:creationId xmlns:a16="http://schemas.microsoft.com/office/drawing/2014/main" id="{1B127A29-E14C-42D0-BC92-D3AC0F537472}"/>
              </a:ext>
            </a:extLst>
          </p:cNvPr>
          <p:cNvSpPr>
            <a:spLocks xmlns:a="http://schemas.openxmlformats.org/drawingml/2006/main" noGrp="1"/>
          </p:cNvSpPr>
          <p:nvPr/>
        </p:nvSpPr>
        <p:spPr>
          <a:xfrm xmlns:a="http://schemas.openxmlformats.org/drawingml/2006/main">
            <a:off x="647700" y="11811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5C6A70"/>
                </a:solidFill>
                <a:latin typeface="Aptos"/>
                <a:ea typeface="Aptos"/>
                <a:cs typeface="Aptos"/>
              </a:defRPr>
            </a:pPr>
            <a:r>
              <a:rPr sz="1275" b="0" i="0">
                <a:solidFill>
                  <a:srgbClr val="5C6A70"/>
                </a:solidFill>
                <a:latin typeface="Aptos"/>
                <a:ea typeface="Aptos"/>
                <a:cs typeface="Aptos"/>
              </a:rPr>
              <a:t>A five-minute research tick turns a scenario event into a new physiological state and an auditable decision.</a:t>
            </a:r>
          </a:p>
        </p:txBody>
      </p:sp>
      <p:sp>
        <p:nvSpPr>
          <p:cNvPr id="4" name="">
            <a:extLst xmlns:a="http://schemas.openxmlformats.org/drawingml/2006/main">
              <a:ext uri="{FF2B5EF4-FFF2-40B4-BE49-F238E27FC236}">
                <a16:creationId xmlns:a16="http://schemas.microsoft.com/office/drawing/2014/main" id="{B3E90E47-DB18-4FBC-A5BB-704E3A7C0845}"/>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0BDA525-5295-4E87-A309-A519A3B06087}"/>
              </a:ext>
            </a:extLst>
          </p:cNvPr>
          <p:cNvSpPr>
            <a:spLocks xmlns:a="http://schemas.openxmlformats.org/drawingml/2006/main" noGrp="1"/>
          </p:cNvSpPr>
          <p:nvPr/>
        </p:nvSpPr>
        <p:spPr>
          <a:xfrm xmlns:a="http://schemas.openxmlformats.org/drawingml/2006/main">
            <a:off x="552450" y="2209800"/>
            <a:ext cx="1562100" cy="2000250"/>
          </a:xfrm>
          <a:prstGeom xmlns:a="http://schemas.openxmlformats.org/drawingml/2006/main" prst="roundRect">
            <a:avLst>
              <a:gd name="adj" fmla="val 7317"/>
            </a:avLst>
          </a:prstGeom>
          <a:solidFill xmlns:a="http://schemas.openxmlformats.org/drawingml/2006/main">
            <a:srgbClr val="E7F0F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E6C2DD8-2CC6-4162-97F9-BBFEAC4CCC36}"/>
              </a:ext>
            </a:extLst>
          </p:cNvPr>
          <p:cNvSpPr>
            <a:spLocks xmlns:a="http://schemas.openxmlformats.org/drawingml/2006/main" noGrp="1"/>
          </p:cNvSpPr>
          <p:nvPr/>
        </p:nvSpPr>
        <p:spPr>
          <a:xfrm xmlns:a="http://schemas.openxmlformats.org/drawingml/2006/main">
            <a:off x="1076325" y="2381250"/>
            <a:ext cx="514350" cy="514350"/>
          </a:xfrm>
          <a:prstGeom xmlns:a="http://schemas.openxmlformats.org/drawingml/2006/main" prst="ellipse">
            <a:avLst/>
          </a:prstGeom>
          <a:solidFill xmlns:a="http://schemas.openxmlformats.org/drawingml/2006/main">
            <a:srgbClr val="173A5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C03A3A4-CE04-4752-ADB6-DE901CEC4CA4}"/>
              </a:ext>
            </a:extLst>
          </p:cNvPr>
          <p:cNvSpPr>
            <a:spLocks xmlns:a="http://schemas.openxmlformats.org/drawingml/2006/main" noGrp="1"/>
          </p:cNvSpPr>
          <p:nvPr/>
        </p:nvSpPr>
        <p:spPr>
          <a:xfrm xmlns:a="http://schemas.openxmlformats.org/drawingml/2006/main">
            <a:off x="1076325" y="24765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Aptos"/>
                <a:ea typeface="Aptos"/>
                <a:cs typeface="Aptos"/>
              </a:defRPr>
            </a:pPr>
            <a:r>
              <a:rPr sz="1650" b="1" i="0">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5C46057F-43AD-481F-BDC4-C091E867963B}"/>
              </a:ext>
            </a:extLst>
          </p:cNvPr>
          <p:cNvSpPr>
            <a:spLocks xmlns:a="http://schemas.openxmlformats.org/drawingml/2006/main" noGrp="1"/>
          </p:cNvSpPr>
          <p:nvPr/>
        </p:nvSpPr>
        <p:spPr>
          <a:xfrm xmlns:a="http://schemas.openxmlformats.org/drawingml/2006/main">
            <a:off x="666750" y="30861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173A52"/>
                </a:solidFill>
                <a:latin typeface="Aptos"/>
                <a:ea typeface="Aptos"/>
                <a:cs typeface="Aptos"/>
              </a:defRPr>
            </a:pPr>
            <a:r>
              <a:rPr sz="1200" b="1" i="0">
                <a:solidFill>
                  <a:srgbClr val="173A52"/>
                </a:solidFill>
                <a:latin typeface="Aptos"/>
                <a:ea typeface="Aptos"/>
                <a:cs typeface="Aptos"/>
              </a:rPr>
              <a:t>EVENT</a:t>
            </a:r>
          </a:p>
        </p:txBody>
      </p:sp>
      <p:sp>
        <p:nvSpPr>
          <p:cNvPr id="9" name="">
            <a:extLst xmlns:a="http://schemas.openxmlformats.org/drawingml/2006/main">
              <a:ext uri="{FF2B5EF4-FFF2-40B4-BE49-F238E27FC236}">
                <a16:creationId xmlns:a16="http://schemas.microsoft.com/office/drawing/2014/main" id="{7283D8EF-507A-470D-93BD-86A1620D09D7}"/>
              </a:ext>
            </a:extLst>
          </p:cNvPr>
          <p:cNvSpPr>
            <a:spLocks xmlns:a="http://schemas.openxmlformats.org/drawingml/2006/main" noGrp="1"/>
          </p:cNvSpPr>
          <p:nvPr/>
        </p:nvSpPr>
        <p:spPr>
          <a:xfrm xmlns:a="http://schemas.openxmlformats.org/drawingml/2006/main">
            <a:off x="666750" y="3429000"/>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697"/>
          </a:bodyPr>
          <a:lstStyle xmlns:a="http://schemas.openxmlformats.org/drawingml/2006/main"/>
          <a:p xmlns:a="http://schemas.openxmlformats.org/drawingml/2006/main">
            <a:pPr algn="ctr">
              <a:lnSpc>
                <a:spcPct val="110000"/>
              </a:lnSpc>
              <a:buNone/>
              <a:defRPr sz="1200" b="0" i="0">
                <a:solidFill>
                  <a:srgbClr val="5C6A70"/>
                </a:solidFill>
                <a:latin typeface="Aptos"/>
                <a:ea typeface="Aptos"/>
                <a:cs typeface="Aptos"/>
              </a:defRPr>
            </a:pPr>
            <a:r>
              <a:rPr sz="1200" b="0" i="0">
                <a:solidFill>
                  <a:srgbClr val="5C6A70"/>
                </a:solidFill>
                <a:latin typeface="Aptos"/>
                <a:ea typeface="Aptos"/>
                <a:cs typeface="Aptos"/>
              </a:rPr>
              <a:t>meal</a:t>
            </a:r>
          </a:p>
          <a:p xmlns:a="http://schemas.openxmlformats.org/drawingml/2006/main">
            <a:pPr algn="ctr">
              <a:lnSpc>
                <a:spcPct val="110000"/>
              </a:lnSpc>
              <a:buNone/>
              <a:defRPr sz="1200" b="0" i="0">
                <a:solidFill>
                  <a:srgbClr val="5C6A70"/>
                </a:solidFill>
                <a:latin typeface="Aptos"/>
                <a:ea typeface="Aptos"/>
                <a:cs typeface="Aptos"/>
              </a:defRPr>
            </a:pPr>
            <a:r>
              <a:rPr sz="1200" b="0" i="0">
                <a:solidFill>
                  <a:srgbClr val="5C6A70"/>
                </a:solidFill>
                <a:latin typeface="Aptos"/>
                <a:ea typeface="Aptos"/>
                <a:cs typeface="Aptos"/>
              </a:rPr>
              <a:t>exercise</a:t>
            </a:r>
          </a:p>
          <a:p xmlns:a="http://schemas.openxmlformats.org/drawingml/2006/main">
            <a:pPr algn="ctr">
              <a:lnSpc>
                <a:spcPct val="110000"/>
              </a:lnSpc>
              <a:buNone/>
              <a:defRPr sz="1200" b="0" i="0">
                <a:solidFill>
                  <a:srgbClr val="5C6A70"/>
                </a:solidFill>
                <a:latin typeface="Aptos"/>
                <a:ea typeface="Aptos"/>
                <a:cs typeface="Aptos"/>
              </a:defRPr>
            </a:pPr>
            <a:r>
              <a:rPr sz="1200" b="0" i="0">
                <a:solidFill>
                  <a:srgbClr val="5C6A70"/>
                </a:solidFill>
                <a:latin typeface="Aptos"/>
                <a:ea typeface="Aptos"/>
                <a:cs typeface="Aptos"/>
              </a:rPr>
              <a:t>stress</a:t>
            </a:r>
          </a:p>
        </p:txBody>
      </p:sp>
      <p:sp>
        <p:nvSpPr>
          <p:cNvPr id="10" name="">
            <a:extLst xmlns:a="http://schemas.openxmlformats.org/drawingml/2006/main">
              <a:ext uri="{FF2B5EF4-FFF2-40B4-BE49-F238E27FC236}">
                <a16:creationId xmlns:a16="http://schemas.microsoft.com/office/drawing/2014/main" id="{3C1CE463-F570-459C-90C1-02EEC6D19BD7}"/>
              </a:ext>
            </a:extLst>
          </p:cNvPr>
          <p:cNvSpPr>
            <a:spLocks xmlns:a="http://schemas.openxmlformats.org/drawingml/2006/main" noGrp="1"/>
          </p:cNvSpPr>
          <p:nvPr/>
        </p:nvSpPr>
        <p:spPr>
          <a:xfrm xmlns:a="http://schemas.openxmlformats.org/drawingml/2006/main">
            <a:off x="2105025" y="30003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444"/>
          </a:bodyPr>
          <a:lstStyle xmlns:a="http://schemas.openxmlformats.org/drawingml/2006/main"/>
          <a:p xmlns:a="http://schemas.openxmlformats.org/drawingml/2006/main">
            <a:pPr algn="ctr">
              <a:lnSpc>
                <a:spcPct val="100000"/>
              </a:lnSpc>
              <a:buNone/>
              <a:defRPr sz="2250" b="1" i="0">
                <a:solidFill>
                  <a:srgbClr val="2E7D8A"/>
                </a:solidFill>
                <a:latin typeface="Aptos"/>
                <a:ea typeface="Aptos"/>
                <a:cs typeface="Aptos"/>
              </a:defRPr>
            </a:pPr>
            <a:r>
              <a:rPr sz="2250" b="1" i="0">
                <a:solidFill>
                  <a:srgbClr val="2E7D8A"/>
                </a:solidFill>
                <a:latin typeface="Aptos"/>
                <a:ea typeface="Aptos"/>
                <a:cs typeface="Aptos"/>
              </a:rPr>
              <a:t>→</a:t>
            </a:r>
          </a:p>
        </p:txBody>
      </p:sp>
      <p:sp>
        <p:nvSpPr>
          <p:cNvPr id="11" name="">
            <a:extLst xmlns:a="http://schemas.openxmlformats.org/drawingml/2006/main">
              <a:ext uri="{FF2B5EF4-FFF2-40B4-BE49-F238E27FC236}">
                <a16:creationId xmlns:a16="http://schemas.microsoft.com/office/drawing/2014/main" id="{B78CA169-CC60-4A99-9811-5C59B3771BA5}"/>
              </a:ext>
            </a:extLst>
          </p:cNvPr>
          <p:cNvSpPr>
            <a:spLocks xmlns:a="http://schemas.openxmlformats.org/drawingml/2006/main" noGrp="1"/>
          </p:cNvSpPr>
          <p:nvPr/>
        </p:nvSpPr>
        <p:spPr>
          <a:xfrm xmlns:a="http://schemas.openxmlformats.org/drawingml/2006/main">
            <a:off x="2400300" y="2209800"/>
            <a:ext cx="1562100" cy="2000250"/>
          </a:xfrm>
          <a:prstGeom xmlns:a="http://schemas.openxmlformats.org/drawingml/2006/main" prst="roundRect">
            <a:avLst>
              <a:gd name="adj" fmla="val 7317"/>
            </a:avLst>
          </a:prstGeom>
          <a:solidFill xmlns:a="http://schemas.openxmlformats.org/drawingml/2006/main">
            <a:srgbClr val="E4EE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A9A7799-4AE9-4B0A-9029-29FFDC358620}"/>
              </a:ext>
            </a:extLst>
          </p:cNvPr>
          <p:cNvSpPr>
            <a:spLocks xmlns:a="http://schemas.openxmlformats.org/drawingml/2006/main" noGrp="1"/>
          </p:cNvSpPr>
          <p:nvPr/>
        </p:nvSpPr>
        <p:spPr>
          <a:xfrm xmlns:a="http://schemas.openxmlformats.org/drawingml/2006/main">
            <a:off x="2924175" y="2381250"/>
            <a:ext cx="514350" cy="514350"/>
          </a:xfrm>
          <a:prstGeom xmlns:a="http://schemas.openxmlformats.org/drawingml/2006/main" prst="ellipse">
            <a:avLst/>
          </a:prstGeom>
          <a:solidFill xmlns:a="http://schemas.openxmlformats.org/drawingml/2006/main">
            <a:srgbClr val="0C3B3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9FEA34F-6E4C-4754-AB7C-61C4BC9FCA24}"/>
              </a:ext>
            </a:extLst>
          </p:cNvPr>
          <p:cNvSpPr>
            <a:spLocks xmlns:a="http://schemas.openxmlformats.org/drawingml/2006/main" noGrp="1"/>
          </p:cNvSpPr>
          <p:nvPr/>
        </p:nvSpPr>
        <p:spPr>
          <a:xfrm xmlns:a="http://schemas.openxmlformats.org/drawingml/2006/main">
            <a:off x="2924175" y="24765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Aptos"/>
                <a:ea typeface="Aptos"/>
                <a:cs typeface="Aptos"/>
              </a:defRPr>
            </a:pPr>
            <a:r>
              <a:rPr sz="1650" b="1" i="0">
                <a:solidFill>
                  <a:srgbClr val="FFFFFF"/>
                </a:solidFill>
                <a:latin typeface="Aptos"/>
                <a:ea typeface="Aptos"/>
                <a:cs typeface="Aptos"/>
              </a:rPr>
              <a:t>2</a:t>
            </a:r>
          </a:p>
        </p:txBody>
      </p:sp>
      <p:sp>
        <p:nvSpPr>
          <p:cNvPr id="14" name="">
            <a:extLst xmlns:a="http://schemas.openxmlformats.org/drawingml/2006/main">
              <a:ext uri="{FF2B5EF4-FFF2-40B4-BE49-F238E27FC236}">
                <a16:creationId xmlns:a16="http://schemas.microsoft.com/office/drawing/2014/main" id="{B226C49D-7E10-4376-9C49-89BD33C60F51}"/>
              </a:ext>
            </a:extLst>
          </p:cNvPr>
          <p:cNvSpPr>
            <a:spLocks xmlns:a="http://schemas.openxmlformats.org/drawingml/2006/main" noGrp="1"/>
          </p:cNvSpPr>
          <p:nvPr/>
        </p:nvSpPr>
        <p:spPr>
          <a:xfrm xmlns:a="http://schemas.openxmlformats.org/drawingml/2006/main">
            <a:off x="2514600" y="30861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0C3B32"/>
                </a:solidFill>
                <a:latin typeface="Aptos"/>
                <a:ea typeface="Aptos"/>
                <a:cs typeface="Aptos"/>
              </a:defRPr>
            </a:pPr>
            <a:r>
              <a:rPr sz="1200" b="1" i="0">
                <a:solidFill>
                  <a:srgbClr val="0C3B32"/>
                </a:solidFill>
                <a:latin typeface="Aptos"/>
                <a:ea typeface="Aptos"/>
                <a:cs typeface="Aptos"/>
              </a:rPr>
              <a:t>PATIENT</a:t>
            </a:r>
          </a:p>
        </p:txBody>
      </p:sp>
      <p:sp>
        <p:nvSpPr>
          <p:cNvPr id="15" name="">
            <a:extLst xmlns:a="http://schemas.openxmlformats.org/drawingml/2006/main">
              <a:ext uri="{FF2B5EF4-FFF2-40B4-BE49-F238E27FC236}">
                <a16:creationId xmlns:a16="http://schemas.microsoft.com/office/drawing/2014/main" id="{3E64FDF8-D979-4DEF-A265-89F24738715D}"/>
              </a:ext>
            </a:extLst>
          </p:cNvPr>
          <p:cNvSpPr>
            <a:spLocks xmlns:a="http://schemas.openxmlformats.org/drawingml/2006/main" noGrp="1"/>
          </p:cNvSpPr>
          <p:nvPr/>
        </p:nvSpPr>
        <p:spPr>
          <a:xfrm xmlns:a="http://schemas.openxmlformats.org/drawingml/2006/main">
            <a:off x="2514600" y="3429000"/>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1200" b="0" i="0">
                <a:solidFill>
                  <a:srgbClr val="5C6A70"/>
                </a:solidFill>
                <a:latin typeface="Aptos"/>
                <a:ea typeface="Aptos"/>
                <a:cs typeface="Aptos"/>
              </a:defRPr>
            </a:pPr>
            <a:r>
              <a:rPr sz="1200" b="0" i="0">
                <a:solidFill>
                  <a:srgbClr val="5C6A70"/>
                </a:solidFill>
                <a:latin typeface="Aptos"/>
                <a:ea typeface="Aptos"/>
                <a:cs typeface="Aptos"/>
              </a:rPr>
              <a:t>update ODE</a:t>
            </a:r>
          </a:p>
          <a:p xmlns:a="http://schemas.openxmlformats.org/drawingml/2006/main">
            <a:pPr algn="ctr">
              <a:lnSpc>
                <a:spcPct val="110000"/>
              </a:lnSpc>
              <a:buNone/>
              <a:defRPr sz="1200" b="0" i="0">
                <a:solidFill>
                  <a:srgbClr val="5C6A70"/>
                </a:solidFill>
                <a:latin typeface="Aptos"/>
                <a:ea typeface="Aptos"/>
                <a:cs typeface="Aptos"/>
              </a:defRPr>
            </a:pPr>
            <a:r>
              <a:rPr sz="1200" b="0" i="0">
                <a:solidFill>
                  <a:srgbClr val="5C6A70"/>
                </a:solidFill>
                <a:latin typeface="Aptos"/>
                <a:ea typeface="Aptos"/>
                <a:cs typeface="Aptos"/>
              </a:rPr>
              <a:t>states</a:t>
            </a:r>
          </a:p>
        </p:txBody>
      </p:sp>
      <p:sp>
        <p:nvSpPr>
          <p:cNvPr id="16" name="">
            <a:extLst xmlns:a="http://schemas.openxmlformats.org/drawingml/2006/main">
              <a:ext uri="{FF2B5EF4-FFF2-40B4-BE49-F238E27FC236}">
                <a16:creationId xmlns:a16="http://schemas.microsoft.com/office/drawing/2014/main" id="{62D96624-E304-44DA-BE50-19DABFF07594}"/>
              </a:ext>
            </a:extLst>
          </p:cNvPr>
          <p:cNvSpPr>
            <a:spLocks xmlns:a="http://schemas.openxmlformats.org/drawingml/2006/main" noGrp="1"/>
          </p:cNvSpPr>
          <p:nvPr/>
        </p:nvSpPr>
        <p:spPr>
          <a:xfrm xmlns:a="http://schemas.openxmlformats.org/drawingml/2006/main">
            <a:off x="3952875" y="30003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444"/>
          </a:bodyPr>
          <a:lstStyle xmlns:a="http://schemas.openxmlformats.org/drawingml/2006/main"/>
          <a:p xmlns:a="http://schemas.openxmlformats.org/drawingml/2006/main">
            <a:pPr algn="ctr">
              <a:lnSpc>
                <a:spcPct val="100000"/>
              </a:lnSpc>
              <a:buNone/>
              <a:defRPr sz="2250" b="1" i="0">
                <a:solidFill>
                  <a:srgbClr val="2E7D8A"/>
                </a:solidFill>
                <a:latin typeface="Aptos"/>
                <a:ea typeface="Aptos"/>
                <a:cs typeface="Aptos"/>
              </a:defRPr>
            </a:pPr>
            <a:r>
              <a:rPr sz="2250" b="1" i="0">
                <a:solidFill>
                  <a:srgbClr val="2E7D8A"/>
                </a:solidFill>
                <a:latin typeface="Aptos"/>
                <a:ea typeface="Aptos"/>
                <a:cs typeface="Aptos"/>
              </a:rPr>
              <a:t>→</a:t>
            </a:r>
          </a:p>
        </p:txBody>
      </p:sp>
      <p:sp>
        <p:nvSpPr>
          <p:cNvPr id="17" name="">
            <a:extLst xmlns:a="http://schemas.openxmlformats.org/drawingml/2006/main">
              <a:ext uri="{FF2B5EF4-FFF2-40B4-BE49-F238E27FC236}">
                <a16:creationId xmlns:a16="http://schemas.microsoft.com/office/drawing/2014/main" id="{02C436FF-D42C-4BC7-A97A-CE89122DFD3B}"/>
              </a:ext>
            </a:extLst>
          </p:cNvPr>
          <p:cNvSpPr>
            <a:spLocks xmlns:a="http://schemas.openxmlformats.org/drawingml/2006/main" noGrp="1"/>
          </p:cNvSpPr>
          <p:nvPr/>
        </p:nvSpPr>
        <p:spPr>
          <a:xfrm xmlns:a="http://schemas.openxmlformats.org/drawingml/2006/main">
            <a:off x="4248150" y="2209800"/>
            <a:ext cx="1562100" cy="2000250"/>
          </a:xfrm>
          <a:prstGeom xmlns:a="http://schemas.openxmlformats.org/drawingml/2006/main" prst="roundRect">
            <a:avLst>
              <a:gd name="adj" fmla="val 7317"/>
            </a:avLst>
          </a:prstGeom>
          <a:solidFill xmlns:a="http://schemas.openxmlformats.org/drawingml/2006/main">
            <a:srgbClr val="E7F0F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DDE865B-1122-4396-A6E7-C8752E0232A2}"/>
              </a:ext>
            </a:extLst>
          </p:cNvPr>
          <p:cNvSpPr>
            <a:spLocks xmlns:a="http://schemas.openxmlformats.org/drawingml/2006/main" noGrp="1"/>
          </p:cNvSpPr>
          <p:nvPr/>
        </p:nvSpPr>
        <p:spPr>
          <a:xfrm xmlns:a="http://schemas.openxmlformats.org/drawingml/2006/main">
            <a:off x="4772025" y="2381250"/>
            <a:ext cx="514350" cy="514350"/>
          </a:xfrm>
          <a:prstGeom xmlns:a="http://schemas.openxmlformats.org/drawingml/2006/main" prst="ellipse">
            <a:avLst/>
          </a:prstGeom>
          <a:solidFill xmlns:a="http://schemas.openxmlformats.org/drawingml/2006/main">
            <a:srgbClr val="2E7D8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CDD9423-B0AD-411C-A784-F0E04F762AD5}"/>
              </a:ext>
            </a:extLst>
          </p:cNvPr>
          <p:cNvSpPr>
            <a:spLocks xmlns:a="http://schemas.openxmlformats.org/drawingml/2006/main" noGrp="1"/>
          </p:cNvSpPr>
          <p:nvPr/>
        </p:nvSpPr>
        <p:spPr>
          <a:xfrm xmlns:a="http://schemas.openxmlformats.org/drawingml/2006/main">
            <a:off x="4772025" y="24765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Aptos"/>
                <a:ea typeface="Aptos"/>
                <a:cs typeface="Aptos"/>
              </a:defRPr>
            </a:pPr>
            <a:r>
              <a:rPr sz="1650" b="1" i="0">
                <a:solidFill>
                  <a:srgbClr val="FFFFFF"/>
                </a:solidFill>
                <a:latin typeface="Aptos"/>
                <a:ea typeface="Aptos"/>
                <a:cs typeface="Aptos"/>
              </a:rPr>
              <a:t>3</a:t>
            </a:r>
          </a:p>
        </p:txBody>
      </p:sp>
      <p:sp>
        <p:nvSpPr>
          <p:cNvPr id="20" name="">
            <a:extLst xmlns:a="http://schemas.openxmlformats.org/drawingml/2006/main">
              <a:ext uri="{FF2B5EF4-FFF2-40B4-BE49-F238E27FC236}">
                <a16:creationId xmlns:a16="http://schemas.microsoft.com/office/drawing/2014/main" id="{915F4F38-37E4-4217-88F9-0011997E259C}"/>
              </a:ext>
            </a:extLst>
          </p:cNvPr>
          <p:cNvSpPr>
            <a:spLocks xmlns:a="http://schemas.openxmlformats.org/drawingml/2006/main" noGrp="1"/>
          </p:cNvSpPr>
          <p:nvPr/>
        </p:nvSpPr>
        <p:spPr>
          <a:xfrm xmlns:a="http://schemas.openxmlformats.org/drawingml/2006/main">
            <a:off x="4362450" y="30861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2E7D8A"/>
                </a:solidFill>
                <a:latin typeface="Aptos"/>
                <a:ea typeface="Aptos"/>
                <a:cs typeface="Aptos"/>
              </a:defRPr>
            </a:pPr>
            <a:r>
              <a:rPr sz="1200" b="1" i="0">
                <a:solidFill>
                  <a:srgbClr val="2E7D8A"/>
                </a:solidFill>
                <a:latin typeface="Aptos"/>
                <a:ea typeface="Aptos"/>
                <a:cs typeface="Aptos"/>
              </a:rPr>
              <a:t>CGM</a:t>
            </a:r>
          </a:p>
        </p:txBody>
      </p:sp>
      <p:sp>
        <p:nvSpPr>
          <p:cNvPr id="21" name="">
            <a:extLst xmlns:a="http://schemas.openxmlformats.org/drawingml/2006/main">
              <a:ext uri="{FF2B5EF4-FFF2-40B4-BE49-F238E27FC236}">
                <a16:creationId xmlns:a16="http://schemas.microsoft.com/office/drawing/2014/main" id="{568CC6B1-B67F-4416-BF28-1AA48F1B7979}"/>
              </a:ext>
            </a:extLst>
          </p:cNvPr>
          <p:cNvSpPr>
            <a:spLocks xmlns:a="http://schemas.openxmlformats.org/drawingml/2006/main" noGrp="1"/>
          </p:cNvSpPr>
          <p:nvPr/>
        </p:nvSpPr>
        <p:spPr>
          <a:xfrm xmlns:a="http://schemas.openxmlformats.org/drawingml/2006/main">
            <a:off x="4362450" y="3429000"/>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1200" b="0" i="0">
                <a:solidFill>
                  <a:srgbClr val="5C6A70"/>
                </a:solidFill>
                <a:latin typeface="Aptos"/>
                <a:ea typeface="Aptos"/>
                <a:cs typeface="Aptos"/>
              </a:defRPr>
            </a:pPr>
            <a:r>
              <a:rPr sz="1200" b="0" i="0">
                <a:solidFill>
                  <a:srgbClr val="5C6A70"/>
                </a:solidFill>
                <a:latin typeface="Aptos"/>
                <a:ea typeface="Aptos"/>
                <a:cs typeface="Aptos"/>
              </a:rPr>
              <a:t>lag + noise</a:t>
            </a:r>
          </a:p>
          <a:p xmlns:a="http://schemas.openxmlformats.org/drawingml/2006/main">
            <a:pPr algn="ctr">
              <a:lnSpc>
                <a:spcPct val="110000"/>
              </a:lnSpc>
              <a:buNone/>
              <a:defRPr sz="1200" b="0" i="0">
                <a:solidFill>
                  <a:srgbClr val="5C6A70"/>
                </a:solidFill>
                <a:latin typeface="Aptos"/>
                <a:ea typeface="Aptos"/>
                <a:cs typeface="Aptos"/>
              </a:defRPr>
            </a:pPr>
            <a:r>
              <a:rPr sz="1200" b="0" i="0">
                <a:solidFill>
                  <a:srgbClr val="5C6A70"/>
                </a:solidFill>
                <a:latin typeface="Aptos"/>
                <a:ea typeface="Aptos"/>
                <a:cs typeface="Aptos"/>
              </a:rPr>
              <a:t>+ artifacts</a:t>
            </a:r>
          </a:p>
        </p:txBody>
      </p:sp>
      <p:sp>
        <p:nvSpPr>
          <p:cNvPr id="22" name="">
            <a:extLst xmlns:a="http://schemas.openxmlformats.org/drawingml/2006/main">
              <a:ext uri="{FF2B5EF4-FFF2-40B4-BE49-F238E27FC236}">
                <a16:creationId xmlns:a16="http://schemas.microsoft.com/office/drawing/2014/main" id="{A73616A8-58B2-409A-A839-929B94DCA69F}"/>
              </a:ext>
            </a:extLst>
          </p:cNvPr>
          <p:cNvSpPr>
            <a:spLocks xmlns:a="http://schemas.openxmlformats.org/drawingml/2006/main" noGrp="1"/>
          </p:cNvSpPr>
          <p:nvPr/>
        </p:nvSpPr>
        <p:spPr>
          <a:xfrm xmlns:a="http://schemas.openxmlformats.org/drawingml/2006/main">
            <a:off x="5800725" y="30003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444"/>
          </a:bodyPr>
          <a:lstStyle xmlns:a="http://schemas.openxmlformats.org/drawingml/2006/main"/>
          <a:p xmlns:a="http://schemas.openxmlformats.org/drawingml/2006/main">
            <a:pPr algn="ctr">
              <a:lnSpc>
                <a:spcPct val="100000"/>
              </a:lnSpc>
              <a:buNone/>
              <a:defRPr sz="2250" b="1" i="0">
                <a:solidFill>
                  <a:srgbClr val="2E7D8A"/>
                </a:solidFill>
                <a:latin typeface="Aptos"/>
                <a:ea typeface="Aptos"/>
                <a:cs typeface="Aptos"/>
              </a:defRPr>
            </a:pPr>
            <a:r>
              <a:rPr sz="2250" b="1" i="0">
                <a:solidFill>
                  <a:srgbClr val="2E7D8A"/>
                </a:solidFill>
                <a:latin typeface="Aptos"/>
                <a:ea typeface="Aptos"/>
                <a:cs typeface="Aptos"/>
              </a:rPr>
              <a:t>→</a:t>
            </a:r>
          </a:p>
        </p:txBody>
      </p:sp>
      <p:sp>
        <p:nvSpPr>
          <p:cNvPr id="23" name="">
            <a:extLst xmlns:a="http://schemas.openxmlformats.org/drawingml/2006/main">
              <a:ext uri="{FF2B5EF4-FFF2-40B4-BE49-F238E27FC236}">
                <a16:creationId xmlns:a16="http://schemas.microsoft.com/office/drawing/2014/main" id="{0FE5399C-79BF-4A10-87CA-795B3B8ADB68}"/>
              </a:ext>
            </a:extLst>
          </p:cNvPr>
          <p:cNvSpPr>
            <a:spLocks xmlns:a="http://schemas.openxmlformats.org/drawingml/2006/main" noGrp="1"/>
          </p:cNvSpPr>
          <p:nvPr/>
        </p:nvSpPr>
        <p:spPr>
          <a:xfrm xmlns:a="http://schemas.openxmlformats.org/drawingml/2006/main">
            <a:off x="6096000" y="2209800"/>
            <a:ext cx="1562100" cy="2000250"/>
          </a:xfrm>
          <a:prstGeom xmlns:a="http://schemas.openxmlformats.org/drawingml/2006/main" prst="roundRect">
            <a:avLst>
              <a:gd name="adj" fmla="val 7317"/>
            </a:avLst>
          </a:prstGeom>
          <a:solidFill xmlns:a="http://schemas.openxmlformats.org/drawingml/2006/main">
            <a:srgbClr val="F6E9C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FD15930-B718-41A4-AEEE-26151FBD9FB7}"/>
              </a:ext>
            </a:extLst>
          </p:cNvPr>
          <p:cNvSpPr>
            <a:spLocks xmlns:a="http://schemas.openxmlformats.org/drawingml/2006/main" noGrp="1"/>
          </p:cNvSpPr>
          <p:nvPr/>
        </p:nvSpPr>
        <p:spPr>
          <a:xfrm xmlns:a="http://schemas.openxmlformats.org/drawingml/2006/main">
            <a:off x="6619875" y="2381250"/>
            <a:ext cx="514350" cy="514350"/>
          </a:xfrm>
          <a:prstGeom xmlns:a="http://schemas.openxmlformats.org/drawingml/2006/main" prst="ellipse">
            <a:avLst/>
          </a:prstGeom>
          <a:solidFill xmlns:a="http://schemas.openxmlformats.org/drawingml/2006/main">
            <a:srgbClr val="7A4C0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5CD52AC-5EFC-42C3-A77A-BCB5451AA6ED}"/>
              </a:ext>
            </a:extLst>
          </p:cNvPr>
          <p:cNvSpPr>
            <a:spLocks xmlns:a="http://schemas.openxmlformats.org/drawingml/2006/main" noGrp="1"/>
          </p:cNvSpPr>
          <p:nvPr/>
        </p:nvSpPr>
        <p:spPr>
          <a:xfrm xmlns:a="http://schemas.openxmlformats.org/drawingml/2006/main">
            <a:off x="6619875" y="24765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Aptos"/>
                <a:ea typeface="Aptos"/>
                <a:cs typeface="Aptos"/>
              </a:defRPr>
            </a:pPr>
            <a:r>
              <a:rPr sz="1650" b="1" i="0">
                <a:solidFill>
                  <a:srgbClr val="FFFFFF"/>
                </a:solidFill>
                <a:latin typeface="Aptos"/>
                <a:ea typeface="Aptos"/>
                <a:cs typeface="Aptos"/>
              </a:rPr>
              <a:t>4</a:t>
            </a:r>
          </a:p>
        </p:txBody>
      </p:sp>
      <p:sp>
        <p:nvSpPr>
          <p:cNvPr id="26" name="">
            <a:extLst xmlns:a="http://schemas.openxmlformats.org/drawingml/2006/main">
              <a:ext uri="{FF2B5EF4-FFF2-40B4-BE49-F238E27FC236}">
                <a16:creationId xmlns:a16="http://schemas.microsoft.com/office/drawing/2014/main" id="{E1E2F173-37B5-4404-B61D-C6D4E867C11C}"/>
              </a:ext>
            </a:extLst>
          </p:cNvPr>
          <p:cNvSpPr>
            <a:spLocks xmlns:a="http://schemas.openxmlformats.org/drawingml/2006/main" noGrp="1"/>
          </p:cNvSpPr>
          <p:nvPr/>
        </p:nvSpPr>
        <p:spPr>
          <a:xfrm xmlns:a="http://schemas.openxmlformats.org/drawingml/2006/main">
            <a:off x="6210300" y="30861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7A4C00"/>
                </a:solidFill>
                <a:latin typeface="Aptos"/>
                <a:ea typeface="Aptos"/>
                <a:cs typeface="Aptos"/>
              </a:defRPr>
            </a:pPr>
            <a:r>
              <a:rPr sz="1200" b="1" i="0">
                <a:solidFill>
                  <a:srgbClr val="7A4C00"/>
                </a:solidFill>
                <a:latin typeface="Aptos"/>
                <a:ea typeface="Aptos"/>
                <a:cs typeface="Aptos"/>
              </a:rPr>
              <a:t>PROPOSAL</a:t>
            </a:r>
          </a:p>
        </p:txBody>
      </p:sp>
      <p:sp>
        <p:nvSpPr>
          <p:cNvPr id="27" name="">
            <a:extLst xmlns:a="http://schemas.openxmlformats.org/drawingml/2006/main">
              <a:ext uri="{FF2B5EF4-FFF2-40B4-BE49-F238E27FC236}">
                <a16:creationId xmlns:a16="http://schemas.microsoft.com/office/drawing/2014/main" id="{6BDF0D07-42E9-40A1-9377-4D989A0DE7F3}"/>
              </a:ext>
            </a:extLst>
          </p:cNvPr>
          <p:cNvSpPr>
            <a:spLocks xmlns:a="http://schemas.openxmlformats.org/drawingml/2006/main" noGrp="1"/>
          </p:cNvSpPr>
          <p:nvPr/>
        </p:nvSpPr>
        <p:spPr>
          <a:xfrm xmlns:a="http://schemas.openxmlformats.org/drawingml/2006/main">
            <a:off x="6210300" y="3429000"/>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1200" b="0" i="0">
                <a:solidFill>
                  <a:srgbClr val="5C6A70"/>
                </a:solidFill>
                <a:latin typeface="Aptos"/>
                <a:ea typeface="Aptos"/>
                <a:cs typeface="Aptos"/>
              </a:defRPr>
            </a:pPr>
            <a:r>
              <a:rPr sz="1200" b="0" i="0">
                <a:solidFill>
                  <a:srgbClr val="5C6A70"/>
                </a:solidFill>
                <a:latin typeface="Aptos"/>
                <a:ea typeface="Aptos"/>
                <a:cs typeface="Aptos"/>
              </a:rPr>
              <a:t>insulin or</a:t>
            </a:r>
          </a:p>
          <a:p xmlns:a="http://schemas.openxmlformats.org/drawingml/2006/main">
            <a:pPr algn="ctr">
              <a:lnSpc>
                <a:spcPct val="110000"/>
              </a:lnSpc>
              <a:buNone/>
              <a:defRPr sz="1200" b="0" i="0">
                <a:solidFill>
                  <a:srgbClr val="5C6A70"/>
                </a:solidFill>
                <a:latin typeface="Aptos"/>
                <a:ea typeface="Aptos"/>
                <a:cs typeface="Aptos"/>
              </a:defRPr>
            </a:pPr>
            <a:r>
              <a:rPr sz="1200" b="0" i="0">
                <a:solidFill>
                  <a:srgbClr val="5C6A70"/>
                </a:solidFill>
                <a:latin typeface="Aptos"/>
                <a:ea typeface="Aptos"/>
                <a:cs typeface="Aptos"/>
              </a:rPr>
              <a:t>glucagon</a:t>
            </a:r>
          </a:p>
        </p:txBody>
      </p:sp>
      <p:sp>
        <p:nvSpPr>
          <p:cNvPr id="28" name="">
            <a:extLst xmlns:a="http://schemas.openxmlformats.org/drawingml/2006/main">
              <a:ext uri="{FF2B5EF4-FFF2-40B4-BE49-F238E27FC236}">
                <a16:creationId xmlns:a16="http://schemas.microsoft.com/office/drawing/2014/main" id="{8451768C-7652-4FEE-9121-D69E9425C808}"/>
              </a:ext>
            </a:extLst>
          </p:cNvPr>
          <p:cNvSpPr>
            <a:spLocks xmlns:a="http://schemas.openxmlformats.org/drawingml/2006/main" noGrp="1"/>
          </p:cNvSpPr>
          <p:nvPr/>
        </p:nvSpPr>
        <p:spPr>
          <a:xfrm xmlns:a="http://schemas.openxmlformats.org/drawingml/2006/main">
            <a:off x="7648575" y="30003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444"/>
          </a:bodyPr>
          <a:lstStyle xmlns:a="http://schemas.openxmlformats.org/drawingml/2006/main"/>
          <a:p xmlns:a="http://schemas.openxmlformats.org/drawingml/2006/main">
            <a:pPr algn="ctr">
              <a:lnSpc>
                <a:spcPct val="100000"/>
              </a:lnSpc>
              <a:buNone/>
              <a:defRPr sz="2250" b="1" i="0">
                <a:solidFill>
                  <a:srgbClr val="2E7D8A"/>
                </a:solidFill>
                <a:latin typeface="Aptos"/>
                <a:ea typeface="Aptos"/>
                <a:cs typeface="Aptos"/>
              </a:defRPr>
            </a:pPr>
            <a:r>
              <a:rPr sz="2250" b="1" i="0">
                <a:solidFill>
                  <a:srgbClr val="2E7D8A"/>
                </a:solidFill>
                <a:latin typeface="Aptos"/>
                <a:ea typeface="Aptos"/>
                <a:cs typeface="Aptos"/>
              </a:rPr>
              <a:t>→</a:t>
            </a:r>
          </a:p>
        </p:txBody>
      </p:sp>
      <p:sp>
        <p:nvSpPr>
          <p:cNvPr id="29" name="">
            <a:extLst xmlns:a="http://schemas.openxmlformats.org/drawingml/2006/main">
              <a:ext uri="{FF2B5EF4-FFF2-40B4-BE49-F238E27FC236}">
                <a16:creationId xmlns:a16="http://schemas.microsoft.com/office/drawing/2014/main" id="{88557329-88EC-4FF6-9C88-A41EF1C4A5A5}"/>
              </a:ext>
            </a:extLst>
          </p:cNvPr>
          <p:cNvSpPr>
            <a:spLocks xmlns:a="http://schemas.openxmlformats.org/drawingml/2006/main" noGrp="1"/>
          </p:cNvSpPr>
          <p:nvPr/>
        </p:nvSpPr>
        <p:spPr>
          <a:xfrm xmlns:a="http://schemas.openxmlformats.org/drawingml/2006/main">
            <a:off x="7943850" y="2209800"/>
            <a:ext cx="1562100" cy="2000250"/>
          </a:xfrm>
          <a:prstGeom xmlns:a="http://schemas.openxmlformats.org/drawingml/2006/main" prst="roundRect">
            <a:avLst>
              <a:gd name="adj" fmla="val 7317"/>
            </a:avLst>
          </a:prstGeom>
          <a:solidFill xmlns:a="http://schemas.openxmlformats.org/drawingml/2006/main">
            <a:srgbClr val="F5E4E1"/>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4D490D4-EF19-4D28-B35A-3E3DE6F6A284}"/>
              </a:ext>
            </a:extLst>
          </p:cNvPr>
          <p:cNvSpPr>
            <a:spLocks xmlns:a="http://schemas.openxmlformats.org/drawingml/2006/main" noGrp="1"/>
          </p:cNvSpPr>
          <p:nvPr/>
        </p:nvSpPr>
        <p:spPr>
          <a:xfrm xmlns:a="http://schemas.openxmlformats.org/drawingml/2006/main">
            <a:off x="8467725" y="2381250"/>
            <a:ext cx="514350" cy="514350"/>
          </a:xfrm>
          <a:prstGeom xmlns:a="http://schemas.openxmlformats.org/drawingml/2006/main" prst="ellipse">
            <a:avLst/>
          </a:prstGeom>
          <a:solidFill xmlns:a="http://schemas.openxmlformats.org/drawingml/2006/main">
            <a:srgbClr val="C5534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3D07C894-18D7-4F8A-AADE-7C6791A48BB8}"/>
              </a:ext>
            </a:extLst>
          </p:cNvPr>
          <p:cNvSpPr>
            <a:spLocks xmlns:a="http://schemas.openxmlformats.org/drawingml/2006/main" noGrp="1"/>
          </p:cNvSpPr>
          <p:nvPr/>
        </p:nvSpPr>
        <p:spPr>
          <a:xfrm xmlns:a="http://schemas.openxmlformats.org/drawingml/2006/main">
            <a:off x="8467725" y="24765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Aptos"/>
                <a:ea typeface="Aptos"/>
                <a:cs typeface="Aptos"/>
              </a:defRPr>
            </a:pPr>
            <a:r>
              <a:rPr sz="1650" b="1" i="0">
                <a:solidFill>
                  <a:srgbClr val="FFFFFF"/>
                </a:solidFill>
                <a:latin typeface="Aptos"/>
                <a:ea typeface="Aptos"/>
                <a:cs typeface="Aptos"/>
              </a:rPr>
              <a:t>5</a:t>
            </a:r>
          </a:p>
        </p:txBody>
      </p:sp>
      <p:sp>
        <p:nvSpPr>
          <p:cNvPr id="32" name="">
            <a:extLst xmlns:a="http://schemas.openxmlformats.org/drawingml/2006/main">
              <a:ext uri="{FF2B5EF4-FFF2-40B4-BE49-F238E27FC236}">
                <a16:creationId xmlns:a16="http://schemas.microsoft.com/office/drawing/2014/main" id="{07A86D85-AD32-4D5A-8114-556A5235F173}"/>
              </a:ext>
            </a:extLst>
          </p:cNvPr>
          <p:cNvSpPr>
            <a:spLocks xmlns:a="http://schemas.openxmlformats.org/drawingml/2006/main" noGrp="1"/>
          </p:cNvSpPr>
          <p:nvPr/>
        </p:nvSpPr>
        <p:spPr>
          <a:xfrm xmlns:a="http://schemas.openxmlformats.org/drawingml/2006/main">
            <a:off x="8058150" y="30861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C5534A"/>
                </a:solidFill>
                <a:latin typeface="Aptos"/>
                <a:ea typeface="Aptos"/>
                <a:cs typeface="Aptos"/>
              </a:defRPr>
            </a:pPr>
            <a:r>
              <a:rPr sz="1200" b="1" i="0">
                <a:solidFill>
                  <a:srgbClr val="C5534A"/>
                </a:solidFill>
                <a:latin typeface="Aptos"/>
                <a:ea typeface="Aptos"/>
                <a:cs typeface="Aptos"/>
              </a:rPr>
              <a:t>VERIFY</a:t>
            </a:r>
          </a:p>
        </p:txBody>
      </p:sp>
      <p:sp>
        <p:nvSpPr>
          <p:cNvPr id="33" name="">
            <a:extLst xmlns:a="http://schemas.openxmlformats.org/drawingml/2006/main">
              <a:ext uri="{FF2B5EF4-FFF2-40B4-BE49-F238E27FC236}">
                <a16:creationId xmlns:a16="http://schemas.microsoft.com/office/drawing/2014/main" id="{346B49D7-16C4-437C-BF1D-7266D60E0778}"/>
              </a:ext>
            </a:extLst>
          </p:cNvPr>
          <p:cNvSpPr>
            <a:spLocks xmlns:a="http://schemas.openxmlformats.org/drawingml/2006/main" noGrp="1"/>
          </p:cNvSpPr>
          <p:nvPr/>
        </p:nvSpPr>
        <p:spPr>
          <a:xfrm xmlns:a="http://schemas.openxmlformats.org/drawingml/2006/main">
            <a:off x="8058150" y="3429000"/>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1200" b="0" i="0">
                <a:solidFill>
                  <a:srgbClr val="5C6A70"/>
                </a:solidFill>
                <a:latin typeface="Aptos"/>
                <a:ea typeface="Aptos"/>
                <a:cs typeface="Aptos"/>
              </a:defRPr>
            </a:pPr>
            <a:r>
              <a:rPr sz="1200" b="0" i="0">
                <a:solidFill>
                  <a:srgbClr val="5C6A70"/>
                </a:solidFill>
                <a:latin typeface="Aptos"/>
                <a:ea typeface="Aptos"/>
                <a:cs typeface="Aptos"/>
              </a:rPr>
              <a:t>limits · trend</a:t>
            </a:r>
          </a:p>
          <a:p xmlns:a="http://schemas.openxmlformats.org/drawingml/2006/main">
            <a:pPr algn="ctr">
              <a:lnSpc>
                <a:spcPct val="110000"/>
              </a:lnSpc>
              <a:buNone/>
              <a:defRPr sz="1200" b="0" i="0">
                <a:solidFill>
                  <a:srgbClr val="5C6A70"/>
                </a:solidFill>
                <a:latin typeface="Aptos"/>
                <a:ea typeface="Aptos"/>
                <a:cs typeface="Aptos"/>
              </a:defRPr>
            </a:pPr>
            <a:r>
              <a:rPr sz="1200" b="0" i="0">
                <a:solidFill>
                  <a:srgbClr val="5C6A70"/>
                </a:solidFill>
                <a:latin typeface="Aptos"/>
                <a:ea typeface="Aptos"/>
                <a:cs typeface="Aptos"/>
              </a:rPr>
              <a:t>IOB · contract</a:t>
            </a:r>
          </a:p>
        </p:txBody>
      </p:sp>
      <p:sp>
        <p:nvSpPr>
          <p:cNvPr id="34" name="">
            <a:extLst xmlns:a="http://schemas.openxmlformats.org/drawingml/2006/main">
              <a:ext uri="{FF2B5EF4-FFF2-40B4-BE49-F238E27FC236}">
                <a16:creationId xmlns:a16="http://schemas.microsoft.com/office/drawing/2014/main" id="{C1BD588F-D9A0-422E-8A59-6B489454E9B4}"/>
              </a:ext>
            </a:extLst>
          </p:cNvPr>
          <p:cNvSpPr>
            <a:spLocks xmlns:a="http://schemas.openxmlformats.org/drawingml/2006/main" noGrp="1"/>
          </p:cNvSpPr>
          <p:nvPr/>
        </p:nvSpPr>
        <p:spPr>
          <a:xfrm xmlns:a="http://schemas.openxmlformats.org/drawingml/2006/main">
            <a:off x="9496425" y="30003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444"/>
          </a:bodyPr>
          <a:lstStyle xmlns:a="http://schemas.openxmlformats.org/drawingml/2006/main"/>
          <a:p xmlns:a="http://schemas.openxmlformats.org/drawingml/2006/main">
            <a:pPr algn="ctr">
              <a:lnSpc>
                <a:spcPct val="100000"/>
              </a:lnSpc>
              <a:buNone/>
              <a:defRPr sz="2250" b="1" i="0">
                <a:solidFill>
                  <a:srgbClr val="2E7D8A"/>
                </a:solidFill>
                <a:latin typeface="Aptos"/>
                <a:ea typeface="Aptos"/>
                <a:cs typeface="Aptos"/>
              </a:defRPr>
            </a:pPr>
            <a:r>
              <a:rPr sz="2250" b="1" i="0">
                <a:solidFill>
                  <a:srgbClr val="2E7D8A"/>
                </a:solidFill>
                <a:latin typeface="Aptos"/>
                <a:ea typeface="Aptos"/>
                <a:cs typeface="Aptos"/>
              </a:rPr>
              <a:t>→</a:t>
            </a:r>
          </a:p>
        </p:txBody>
      </p:sp>
      <p:sp>
        <p:nvSpPr>
          <p:cNvPr id="35" name="">
            <a:extLst xmlns:a="http://schemas.openxmlformats.org/drawingml/2006/main">
              <a:ext uri="{FF2B5EF4-FFF2-40B4-BE49-F238E27FC236}">
                <a16:creationId xmlns:a16="http://schemas.microsoft.com/office/drawing/2014/main" id="{A2C64E31-989B-4EF3-A7D6-663D34366332}"/>
              </a:ext>
            </a:extLst>
          </p:cNvPr>
          <p:cNvSpPr>
            <a:spLocks xmlns:a="http://schemas.openxmlformats.org/drawingml/2006/main" noGrp="1"/>
          </p:cNvSpPr>
          <p:nvPr/>
        </p:nvSpPr>
        <p:spPr>
          <a:xfrm xmlns:a="http://schemas.openxmlformats.org/drawingml/2006/main">
            <a:off x="9791700" y="2209800"/>
            <a:ext cx="1562100" cy="2000250"/>
          </a:xfrm>
          <a:prstGeom xmlns:a="http://schemas.openxmlformats.org/drawingml/2006/main" prst="roundRect">
            <a:avLst>
              <a:gd name="adj" fmla="val 7317"/>
            </a:avLst>
          </a:prstGeom>
          <a:solidFill xmlns:a="http://schemas.openxmlformats.org/drawingml/2006/main">
            <a:srgbClr val="FFFDF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263EDBE5-5B37-4F47-AFB7-A08DEEE22317}"/>
              </a:ext>
            </a:extLst>
          </p:cNvPr>
          <p:cNvSpPr>
            <a:spLocks xmlns:a="http://schemas.openxmlformats.org/drawingml/2006/main" noGrp="1"/>
          </p:cNvSpPr>
          <p:nvPr/>
        </p:nvSpPr>
        <p:spPr>
          <a:xfrm xmlns:a="http://schemas.openxmlformats.org/drawingml/2006/main">
            <a:off x="10315575" y="2381250"/>
            <a:ext cx="514350" cy="514350"/>
          </a:xfrm>
          <a:prstGeom xmlns:a="http://schemas.openxmlformats.org/drawingml/2006/main" prst="ellipse">
            <a:avLst/>
          </a:prstGeom>
          <a:solidFill xmlns:a="http://schemas.openxmlformats.org/drawingml/2006/main">
            <a:srgbClr val="0C3B32"/>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5D064DD-B364-4D3C-9381-7D2BE6AF8479}"/>
              </a:ext>
            </a:extLst>
          </p:cNvPr>
          <p:cNvSpPr>
            <a:spLocks xmlns:a="http://schemas.openxmlformats.org/drawingml/2006/main" noGrp="1"/>
          </p:cNvSpPr>
          <p:nvPr/>
        </p:nvSpPr>
        <p:spPr>
          <a:xfrm xmlns:a="http://schemas.openxmlformats.org/drawingml/2006/main">
            <a:off x="10315575" y="24765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Aptos"/>
                <a:ea typeface="Aptos"/>
                <a:cs typeface="Aptos"/>
              </a:defRPr>
            </a:pPr>
            <a:r>
              <a:rPr sz="1650" b="1" i="0">
                <a:solidFill>
                  <a:srgbClr val="FFFFFF"/>
                </a:solidFill>
                <a:latin typeface="Aptos"/>
                <a:ea typeface="Aptos"/>
                <a:cs typeface="Aptos"/>
              </a:rPr>
              <a:t>6</a:t>
            </a:r>
          </a:p>
        </p:txBody>
      </p:sp>
      <p:sp>
        <p:nvSpPr>
          <p:cNvPr id="38" name="">
            <a:extLst xmlns:a="http://schemas.openxmlformats.org/drawingml/2006/main">
              <a:ext uri="{FF2B5EF4-FFF2-40B4-BE49-F238E27FC236}">
                <a16:creationId xmlns:a16="http://schemas.microsoft.com/office/drawing/2014/main" id="{0607956D-CDA8-45A3-8C7C-2267AF75E502}"/>
              </a:ext>
            </a:extLst>
          </p:cNvPr>
          <p:cNvSpPr>
            <a:spLocks xmlns:a="http://schemas.openxmlformats.org/drawingml/2006/main" noGrp="1"/>
          </p:cNvSpPr>
          <p:nvPr/>
        </p:nvSpPr>
        <p:spPr>
          <a:xfrm xmlns:a="http://schemas.openxmlformats.org/drawingml/2006/main">
            <a:off x="9906000" y="30861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0C3B32"/>
                </a:solidFill>
                <a:latin typeface="Aptos"/>
                <a:ea typeface="Aptos"/>
                <a:cs typeface="Aptos"/>
              </a:defRPr>
            </a:pPr>
            <a:r>
              <a:rPr sz="1200" b="1" i="0">
                <a:solidFill>
                  <a:srgbClr val="0C3B32"/>
                </a:solidFill>
                <a:latin typeface="Aptos"/>
                <a:ea typeface="Aptos"/>
                <a:cs typeface="Aptos"/>
              </a:rPr>
              <a:t>RECORD</a:t>
            </a:r>
          </a:p>
        </p:txBody>
      </p:sp>
      <p:sp>
        <p:nvSpPr>
          <p:cNvPr id="39" name="">
            <a:extLst xmlns:a="http://schemas.openxmlformats.org/drawingml/2006/main">
              <a:ext uri="{FF2B5EF4-FFF2-40B4-BE49-F238E27FC236}">
                <a16:creationId xmlns:a16="http://schemas.microsoft.com/office/drawing/2014/main" id="{9D578BEA-19DB-4D24-8335-2BB6D0CE93B4}"/>
              </a:ext>
            </a:extLst>
          </p:cNvPr>
          <p:cNvSpPr>
            <a:spLocks xmlns:a="http://schemas.openxmlformats.org/drawingml/2006/main" noGrp="1"/>
          </p:cNvSpPr>
          <p:nvPr/>
        </p:nvSpPr>
        <p:spPr>
          <a:xfrm xmlns:a="http://schemas.openxmlformats.org/drawingml/2006/main">
            <a:off x="9906000" y="3429000"/>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1200" b="0" i="0">
                <a:solidFill>
                  <a:srgbClr val="5C6A70"/>
                </a:solidFill>
                <a:latin typeface="Aptos"/>
                <a:ea typeface="Aptos"/>
                <a:cs typeface="Aptos"/>
              </a:defRPr>
            </a:pPr>
            <a:r>
              <a:rPr sz="1200" b="0" i="0">
                <a:solidFill>
                  <a:srgbClr val="5C6A70"/>
                </a:solidFill>
                <a:latin typeface="Aptos"/>
                <a:ea typeface="Aptos"/>
                <a:cs typeface="Aptos"/>
              </a:rPr>
              <a:t>next state</a:t>
            </a:r>
          </a:p>
          <a:p xmlns:a="http://schemas.openxmlformats.org/drawingml/2006/main">
            <a:pPr algn="ctr">
              <a:lnSpc>
                <a:spcPct val="110000"/>
              </a:lnSpc>
              <a:buNone/>
              <a:defRPr sz="1200" b="0" i="0">
                <a:solidFill>
                  <a:srgbClr val="5C6A70"/>
                </a:solidFill>
                <a:latin typeface="Aptos"/>
                <a:ea typeface="Aptos"/>
                <a:cs typeface="Aptos"/>
              </a:defRPr>
            </a:pPr>
            <a:r>
              <a:rPr sz="1200" b="0" i="0">
                <a:solidFill>
                  <a:srgbClr val="5C6A70"/>
                </a:solidFill>
                <a:latin typeface="Aptos"/>
                <a:ea typeface="Aptos"/>
                <a:cs typeface="Aptos"/>
              </a:rPr>
              <a:t>+ reason</a:t>
            </a:r>
          </a:p>
        </p:txBody>
      </p:sp>
      <p:sp>
        <p:nvSpPr>
          <p:cNvPr id="40" name="">
            <a:extLst xmlns:a="http://schemas.openxmlformats.org/drawingml/2006/main">
              <a:ext uri="{FF2B5EF4-FFF2-40B4-BE49-F238E27FC236}">
                <a16:creationId xmlns:a16="http://schemas.microsoft.com/office/drawing/2014/main" id="{B9035BC9-D4B0-4576-B125-56B1A71DB4E0}"/>
              </a:ext>
            </a:extLst>
          </p:cNvPr>
          <p:cNvSpPr>
            <a:spLocks xmlns:a="http://schemas.openxmlformats.org/drawingml/2006/main" noGrp="1"/>
          </p:cNvSpPr>
          <p:nvPr/>
        </p:nvSpPr>
        <p:spPr>
          <a:xfrm xmlns:a="http://schemas.openxmlformats.org/drawingml/2006/main">
            <a:off x="2438400" y="4629150"/>
            <a:ext cx="7315200" cy="857250"/>
          </a:xfrm>
          <a:prstGeom xmlns:a="http://schemas.openxmlformats.org/drawingml/2006/main" prst="roundRect">
            <a:avLst>
              <a:gd name="adj" fmla="val 13333"/>
            </a:avLst>
          </a:prstGeom>
          <a:solidFill xmlns:a="http://schemas.openxmlformats.org/drawingml/2006/main">
            <a:srgbClr val="0C3B32"/>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24AC1360-27CA-4ADD-AFC0-5CE4A85B0010}"/>
              </a:ext>
            </a:extLst>
          </p:cNvPr>
          <p:cNvSpPr>
            <a:spLocks xmlns:a="http://schemas.openxmlformats.org/drawingml/2006/main" noGrp="1"/>
          </p:cNvSpPr>
          <p:nvPr/>
        </p:nvSpPr>
        <p:spPr>
          <a:xfrm xmlns:a="http://schemas.openxmlformats.org/drawingml/2006/main">
            <a:off x="2724150" y="48196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D89A2B"/>
                </a:solidFill>
                <a:latin typeface="Aptos Display"/>
                <a:ea typeface="Aptos Display"/>
                <a:cs typeface="Aptos Display"/>
              </a:defRPr>
            </a:pPr>
            <a:r>
              <a:rPr sz="1800" b="1" i="0">
                <a:solidFill>
                  <a:srgbClr val="D89A2B"/>
                </a:solidFill>
                <a:latin typeface="Aptos Display"/>
                <a:ea typeface="Aptos Display"/>
                <a:cs typeface="Aptos Display"/>
              </a:rPr>
              <a:t>PROPOSAL ≠ PERMISSION</a:t>
            </a:r>
          </a:p>
        </p:txBody>
      </p:sp>
      <p:sp>
        <p:nvSpPr>
          <p:cNvPr id="42" name="">
            <a:extLst xmlns:a="http://schemas.openxmlformats.org/drawingml/2006/main">
              <a:ext uri="{FF2B5EF4-FFF2-40B4-BE49-F238E27FC236}">
                <a16:creationId xmlns:a16="http://schemas.microsoft.com/office/drawing/2014/main" id="{E879C61F-548D-47FA-BEA1-C30F00B8EE4C}"/>
              </a:ext>
            </a:extLst>
          </p:cNvPr>
          <p:cNvSpPr>
            <a:spLocks xmlns:a="http://schemas.openxmlformats.org/drawingml/2006/main" noGrp="1"/>
          </p:cNvSpPr>
          <p:nvPr/>
        </p:nvSpPr>
        <p:spPr>
          <a:xfrm xmlns:a="http://schemas.openxmlformats.org/drawingml/2006/main">
            <a:off x="5867400" y="4762500"/>
            <a:ext cx="3600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474"/>
          </a:bodyPr>
          <a:lstStyle xmlns:a="http://schemas.openxmlformats.org/drawingml/2006/main"/>
          <a:p xmlns:a="http://schemas.openxmlformats.org/drawingml/2006/main">
            <a:pPr algn="l">
              <a:lnSpc>
                <a:spcPct val="100000"/>
              </a:lnSpc>
              <a:buNone/>
              <a:defRPr sz="1275" b="0" i="0">
                <a:solidFill>
                  <a:srgbClr val="FFFFFF"/>
                </a:solidFill>
                <a:latin typeface="Aptos"/>
                <a:ea typeface="Aptos"/>
                <a:cs typeface="Aptos"/>
              </a:defRPr>
            </a:pPr>
            <a:r>
              <a:rPr sz="1275" b="0" i="0">
                <a:solidFill>
                  <a:srgbClr val="FFFFFF"/>
                </a:solidFill>
                <a:latin typeface="Aptos"/>
                <a:ea typeface="Aptos"/>
                <a:cs typeface="Aptos"/>
              </a:rPr>
              <a:t>The distinction is logged at every step—especially when the supervisor changes the action.</a:t>
            </a:r>
          </a:p>
        </p:txBody>
      </p:sp>
      <p:sp>
        <p:nvSpPr>
          <p:cNvPr id="43" name="">
            <a:extLst xmlns:a="http://schemas.openxmlformats.org/drawingml/2006/main">
              <a:ext uri="{FF2B5EF4-FFF2-40B4-BE49-F238E27FC236}">
                <a16:creationId xmlns:a16="http://schemas.microsoft.com/office/drawing/2014/main" id="{F97EB19F-03A2-4CB1-A5D6-C29D269E9B57}"/>
              </a:ext>
            </a:extLst>
          </p:cNvPr>
          <p:cNvSpPr>
            <a:spLocks xmlns:a="http://schemas.openxmlformats.org/drawingml/2006/main" noGrp="1"/>
          </p:cNvSpPr>
          <p:nvPr/>
        </p:nvSpPr>
        <p:spPr>
          <a:xfrm xmlns:a="http://schemas.openxmlformats.org/drawingml/2006/main">
            <a:off x="647700" y="621030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0" i="0">
                <a:solidFill>
                  <a:srgbClr val="5C6A70"/>
                </a:solidFill>
                <a:latin typeface="Aptos"/>
                <a:ea typeface="Aptos"/>
                <a:cs typeface="Aptos"/>
              </a:defRPr>
            </a:pPr>
            <a:r>
              <a:rPr sz="750" b="0" i="0">
                <a:solidFill>
                  <a:srgbClr val="5C6A70"/>
                </a:solidFill>
                <a:latin typeface="Aptos"/>
                <a:ea typeface="Aptos"/>
                <a:cs typeface="Aptos"/>
              </a:rPr>
              <a:t>Source: src/iints/core/simulator.py and src/iints/core/supervisor.py.</a:t>
            </a:r>
          </a:p>
        </p:txBody>
      </p:sp>
      <p:sp>
        <p:nvSpPr>
          <p:cNvPr id="44" name="">
            <a:extLst xmlns:a="http://schemas.openxmlformats.org/drawingml/2006/main">
              <a:ext uri="{FF2B5EF4-FFF2-40B4-BE49-F238E27FC236}">
                <a16:creationId xmlns:a16="http://schemas.microsoft.com/office/drawing/2014/main" id="{A41CE9D5-CC66-4D6D-A47F-1FF1744D8334}"/>
              </a:ext>
            </a:extLst>
          </p:cNvPr>
          <p:cNvSpPr>
            <a:spLocks xmlns:a="http://schemas.openxmlformats.org/drawingml/2006/main" noGrp="1"/>
          </p:cNvSpPr>
          <p:nvPr/>
        </p:nvSpPr>
        <p:spPr>
          <a:xfrm xmlns:a="http://schemas.openxmlformats.org/drawingml/2006/main">
            <a:off x="647700" y="6467475"/>
            <a:ext cx="10896600" cy="9525"/>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1EA6593-6D83-4116-8F7E-FC05A28B5060}"/>
              </a:ext>
            </a:extLst>
          </p:cNvPr>
          <p:cNvSpPr>
            <a:spLocks xmlns:a="http://schemas.openxmlformats.org/drawingml/2006/main" noGrp="1"/>
          </p:cNvSpPr>
          <p:nvPr/>
        </p:nvSpPr>
        <p:spPr>
          <a:xfrm xmlns:a="http://schemas.openxmlformats.org/drawingml/2006/main">
            <a:off x="647700" y="6553200"/>
            <a:ext cx="495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C6A70"/>
                </a:solidFill>
                <a:latin typeface="Aptos"/>
                <a:ea typeface="Aptos"/>
                <a:cs typeface="Aptos"/>
              </a:defRPr>
            </a:pPr>
            <a:r>
              <a:rPr sz="750" b="1" i="0">
                <a:solidFill>
                  <a:srgbClr val="5C6A70"/>
                </a:solidFill>
                <a:latin typeface="Aptos"/>
                <a:ea typeface="Aptos"/>
                <a:cs typeface="Aptos"/>
              </a:rPr>
              <a:t>RESEARCH &amp; EDUCATION ONLY · NOT A MEDICAL DEVICE</a:t>
            </a:r>
          </a:p>
        </p:txBody>
      </p:sp>
      <p:sp>
        <p:nvSpPr>
          <p:cNvPr id="46" name="">
            <a:extLst xmlns:a="http://schemas.openxmlformats.org/drawingml/2006/main">
              <a:ext uri="{FF2B5EF4-FFF2-40B4-BE49-F238E27FC236}">
                <a16:creationId xmlns:a16="http://schemas.microsoft.com/office/drawing/2014/main" id="{3EF6F090-8ED0-45E8-A5AE-680FB9CB3A8C}"/>
              </a:ext>
            </a:extLst>
          </p:cNvPr>
          <p:cNvSpPr>
            <a:spLocks xmlns:a="http://schemas.openxmlformats.org/drawingml/2006/main" noGrp="1"/>
          </p:cNvSpPr>
          <p:nvPr/>
        </p:nvSpPr>
        <p:spPr>
          <a:xfrm xmlns:a="http://schemas.openxmlformats.org/drawingml/2006/main">
            <a:off x="11096625" y="6534150"/>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1" i="0">
                <a:solidFill>
                  <a:srgbClr val="0C3B32"/>
                </a:solidFill>
                <a:latin typeface="Aptos"/>
                <a:ea typeface="Aptos"/>
                <a:cs typeface="Aptos"/>
              </a:defRPr>
            </a:pPr>
            <a:r>
              <a:rPr sz="900" b="1" i="0">
                <a:solidFill>
                  <a:srgbClr val="0C3B32"/>
                </a:solidFill>
                <a:latin typeface="Aptos"/>
                <a:ea typeface="Aptos"/>
                <a:cs typeface="Aptos"/>
              </a:rPr>
              <a:t>05</a:t>
            </a:r>
          </a:p>
        </p:txBody>
      </p:sp>
    </p:spTree>
    <p:extLst>
      <p:ext uri="{BB962C8B-B14F-4D97-AF65-F5344CB8AC3E}">
        <p14:creationId xmlns:p14="http://schemas.microsoft.com/office/powerpoint/2010/main" val="1597929882"/>
      </p:ext>
    </p:extLst>
  </p:cSld>
</p:sld>
</file>

<file path=ppt/slides/slide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C434436-4507-4451-8DDF-5B44CD899E86}"/>
              </a:ext>
            </a:extLst>
          </p:cNvPr>
          <p:cNvSpPr>
            <a:spLocks xmlns:a="http://schemas.openxmlformats.org/drawingml/2006/main" noGrp="1"/>
          </p:cNvSpPr>
          <p:nvPr/>
        </p:nvSpPr>
        <p:spPr>
          <a:xfrm xmlns:a="http://schemas.openxmlformats.org/drawingml/2006/main">
            <a:off x="647700" y="3429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E7D8A"/>
                </a:solidFill>
                <a:latin typeface="Aptos"/>
                <a:ea typeface="Aptos"/>
                <a:cs typeface="Aptos"/>
              </a:defRPr>
            </a:pPr>
            <a:r>
              <a:rPr sz="900" b="1" i="0">
                <a:solidFill>
                  <a:srgbClr val="2E7D8A"/>
                </a:solidFill>
                <a:latin typeface="Aptos"/>
                <a:ea typeface="Aptos"/>
                <a:cs typeface="Aptos"/>
              </a:rPr>
              <a:t>MATHEMATICAL CORE</a:t>
            </a:r>
          </a:p>
        </p:txBody>
      </p:sp>
      <p:sp>
        <p:nvSpPr>
          <p:cNvPr id="2" name="">
            <a:extLst xmlns:a="http://schemas.openxmlformats.org/drawingml/2006/main">
              <a:ext uri="{FF2B5EF4-FFF2-40B4-BE49-F238E27FC236}">
                <a16:creationId xmlns:a16="http://schemas.microsoft.com/office/drawing/2014/main" id="{FB4D40D0-E342-438B-8D5F-6E255CB97004}"/>
              </a:ext>
            </a:extLst>
          </p:cNvPr>
          <p:cNvSpPr>
            <a:spLocks xmlns:a="http://schemas.openxmlformats.org/drawingml/2006/main" noGrp="1"/>
          </p:cNvSpPr>
          <p:nvPr/>
        </p:nvSpPr>
        <p:spPr>
          <a:xfrm xmlns:a="http://schemas.openxmlformats.org/drawingml/2006/main">
            <a:off x="6477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00" b="1" i="0">
                <a:solidFill>
                  <a:srgbClr val="0C3B32"/>
                </a:solidFill>
                <a:latin typeface="Aptos Display"/>
                <a:ea typeface="Aptos Display"/>
                <a:cs typeface="Aptos Display"/>
              </a:defRPr>
            </a:pPr>
            <a:r>
              <a:rPr sz="3000" b="1" i="0">
                <a:solidFill>
                  <a:srgbClr val="0C3B32"/>
                </a:solidFill>
                <a:latin typeface="Aptos Display"/>
                <a:ea typeface="Aptos Display"/>
                <a:cs typeface="Aptos Display"/>
              </a:rPr>
              <a:t>Two mathematical lenses on the same patient</a:t>
            </a:r>
          </a:p>
        </p:txBody>
      </p:sp>
      <p:sp>
        <p:nvSpPr>
          <p:cNvPr id="3" name="">
            <a:extLst xmlns:a="http://schemas.openxmlformats.org/drawingml/2006/main">
              <a:ext uri="{FF2B5EF4-FFF2-40B4-BE49-F238E27FC236}">
                <a16:creationId xmlns:a16="http://schemas.microsoft.com/office/drawing/2014/main" id="{64F47DAF-AB74-46C9-86CD-38ABF4B1C352}"/>
              </a:ext>
            </a:extLst>
          </p:cNvPr>
          <p:cNvSpPr>
            <a:spLocks xmlns:a="http://schemas.openxmlformats.org/drawingml/2006/main" noGrp="1"/>
          </p:cNvSpPr>
          <p:nvPr/>
        </p:nvSpPr>
        <p:spPr>
          <a:xfrm xmlns:a="http://schemas.openxmlformats.org/drawingml/2006/main">
            <a:off x="647700" y="11811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5C6A70"/>
                </a:solidFill>
                <a:latin typeface="Aptos"/>
                <a:ea typeface="Aptos"/>
                <a:cs typeface="Aptos"/>
              </a:defRPr>
            </a:pPr>
            <a:r>
              <a:rPr sz="1275" b="0" i="0">
                <a:solidFill>
                  <a:srgbClr val="5C6A70"/>
                </a:solidFill>
                <a:latin typeface="Aptos"/>
                <a:ea typeface="Aptos"/>
                <a:cs typeface="Aptos"/>
              </a:rPr>
              <a:t>A fast transparent model supports sweeps; richer ODE models support mechanistic research questions.</a:t>
            </a:r>
          </a:p>
        </p:txBody>
      </p:sp>
      <p:sp>
        <p:nvSpPr>
          <p:cNvPr id="4" name="">
            <a:extLst xmlns:a="http://schemas.openxmlformats.org/drawingml/2006/main">
              <a:ext uri="{FF2B5EF4-FFF2-40B4-BE49-F238E27FC236}">
                <a16:creationId xmlns:a16="http://schemas.microsoft.com/office/drawing/2014/main" id="{74577E84-88EE-4D12-B498-F704A49A2B76}"/>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32D78EC-25A5-480F-9B69-03867EE7A13E}"/>
              </a:ext>
            </a:extLst>
          </p:cNvPr>
          <p:cNvSpPr>
            <a:spLocks xmlns:a="http://schemas.openxmlformats.org/drawingml/2006/main" noGrp="1"/>
          </p:cNvSpPr>
          <p:nvPr/>
        </p:nvSpPr>
        <p:spPr>
          <a:xfrm xmlns:a="http://schemas.openxmlformats.org/drawingml/2006/main">
            <a:off x="647700" y="1866900"/>
            <a:ext cx="5143500" cy="3714750"/>
          </a:xfrm>
          <a:prstGeom xmlns:a="http://schemas.openxmlformats.org/drawingml/2006/main" prst="roundRect">
            <a:avLst>
              <a:gd name="adj" fmla="val 3077"/>
            </a:avLst>
          </a:prstGeom>
          <a:solidFill xmlns:a="http://schemas.openxmlformats.org/drawingml/2006/main">
            <a:srgbClr val="FFFDF8"/>
          </a:solidFill>
          <a:ln xmlns:a="http://schemas.openxmlformats.org/drawingml/2006/main" w="9525">
            <a:solidFill>
              <a:srgbClr val="C9D1CC"/>
            </a:solidFill>
            <a:prstDash val="solid"/>
          </a:ln>
        </p:spPr>
      </p:sp>
      <p:sp>
        <p:nvSpPr>
          <p:cNvPr id="6" name="">
            <a:extLst xmlns:a="http://schemas.openxmlformats.org/drawingml/2006/main">
              <a:ext uri="{FF2B5EF4-FFF2-40B4-BE49-F238E27FC236}">
                <a16:creationId xmlns:a16="http://schemas.microsoft.com/office/drawing/2014/main" id="{E814B7AB-318B-41BE-B0DD-2D36A1CCD2ED}"/>
              </a:ext>
            </a:extLst>
          </p:cNvPr>
          <p:cNvSpPr>
            <a:spLocks xmlns:a="http://schemas.openxmlformats.org/drawingml/2006/main" noGrp="1"/>
          </p:cNvSpPr>
          <p:nvPr/>
        </p:nvSpPr>
        <p:spPr>
          <a:xfrm xmlns:a="http://schemas.openxmlformats.org/drawingml/2006/main">
            <a:off x="876300" y="2076450"/>
            <a:ext cx="1562100" cy="304800"/>
          </a:xfrm>
          <a:prstGeom xmlns:a="http://schemas.openxmlformats.org/drawingml/2006/main" prst="roundRect">
            <a:avLst>
              <a:gd name="adj" fmla="val 37500"/>
            </a:avLst>
          </a:prstGeom>
          <a:solidFill xmlns:a="http://schemas.openxmlformats.org/drawingml/2006/main">
            <a:srgbClr val="E4EEE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C6D3DE1-F48A-48C9-B4DB-C160724F472D}"/>
              </a:ext>
            </a:extLst>
          </p:cNvPr>
          <p:cNvSpPr>
            <a:spLocks xmlns:a="http://schemas.openxmlformats.org/drawingml/2006/main" noGrp="1"/>
          </p:cNvSpPr>
          <p:nvPr/>
        </p:nvSpPr>
        <p:spPr>
          <a:xfrm xmlns:a="http://schemas.openxmlformats.org/drawingml/2006/main">
            <a:off x="971550" y="211455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0C3B32"/>
                </a:solidFill>
                <a:latin typeface="Aptos"/>
                <a:ea typeface="Aptos"/>
                <a:cs typeface="Aptos"/>
              </a:defRPr>
            </a:pPr>
            <a:r>
              <a:rPr sz="1050" b="1" i="0">
                <a:solidFill>
                  <a:srgbClr val="0C3B32"/>
                </a:solidFill>
                <a:latin typeface="Aptos"/>
                <a:ea typeface="Aptos"/>
                <a:cs typeface="Aptos"/>
              </a:rPr>
              <a:t>BERGMAN-STYLE</a:t>
            </a:r>
          </a:p>
        </p:txBody>
      </p:sp>
      <p:sp>
        <p:nvSpPr>
          <p:cNvPr id="8" name="">
            <a:extLst xmlns:a="http://schemas.openxmlformats.org/drawingml/2006/main">
              <a:ext uri="{FF2B5EF4-FFF2-40B4-BE49-F238E27FC236}">
                <a16:creationId xmlns:a16="http://schemas.microsoft.com/office/drawing/2014/main" id="{4CEABC8C-DBD8-4DA6-B29C-6A904373AE90}"/>
              </a:ext>
            </a:extLst>
          </p:cNvPr>
          <p:cNvSpPr>
            <a:spLocks xmlns:a="http://schemas.openxmlformats.org/drawingml/2006/main" noGrp="1"/>
          </p:cNvSpPr>
          <p:nvPr/>
        </p:nvSpPr>
        <p:spPr>
          <a:xfrm xmlns:a="http://schemas.openxmlformats.org/drawingml/2006/main">
            <a:off x="876300" y="257175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0C3B32"/>
                </a:solidFill>
                <a:latin typeface="Aptos Display"/>
                <a:ea typeface="Aptos Display"/>
                <a:cs typeface="Aptos Display"/>
              </a:defRPr>
            </a:pPr>
            <a:r>
              <a:rPr sz="2175" b="1" i="0">
                <a:solidFill>
                  <a:srgbClr val="0C3B32"/>
                </a:solidFill>
                <a:latin typeface="Aptos Display"/>
                <a:ea typeface="Aptos Display"/>
                <a:cs typeface="Aptos Display"/>
              </a:rPr>
              <a:t>Minimal-model extension</a:t>
            </a:r>
          </a:p>
        </p:txBody>
      </p:sp>
      <p:sp>
        <p:nvSpPr>
          <p:cNvPr id="9" name="">
            <a:extLst xmlns:a="http://schemas.openxmlformats.org/drawingml/2006/main">
              <a:ext uri="{FF2B5EF4-FFF2-40B4-BE49-F238E27FC236}">
                <a16:creationId xmlns:a16="http://schemas.microsoft.com/office/drawing/2014/main" id="{74D5D007-397B-4C05-8DA8-9D5040F434F0}"/>
              </a:ext>
            </a:extLst>
          </p:cNvPr>
          <p:cNvSpPr>
            <a:spLocks xmlns:a="http://schemas.openxmlformats.org/drawingml/2006/main" noGrp="1"/>
          </p:cNvSpPr>
          <p:nvPr/>
        </p:nvSpPr>
        <p:spPr>
          <a:xfrm xmlns:a="http://schemas.openxmlformats.org/drawingml/2006/main">
            <a:off x="876300" y="3048000"/>
            <a:ext cx="4476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5C6A70"/>
                </a:solidFill>
                <a:latin typeface="Aptos"/>
                <a:ea typeface="Aptos"/>
                <a:cs typeface="Aptos"/>
              </a:defRPr>
            </a:pPr>
            <a:r>
              <a:rPr sz="1350" b="0" i="0">
                <a:solidFill>
                  <a:srgbClr val="5C6A70"/>
                </a:solidFill>
                <a:latin typeface="Aptos"/>
                <a:ea typeface="Aptos"/>
                <a:cs typeface="Aptos"/>
              </a:rPr>
              <a:t>Glucose G · remote insulin action X · plasma insulin I</a:t>
            </a:r>
          </a:p>
          <a:p xmlns:a="http://schemas.openxmlformats.org/drawingml/2006/main">
            <a:pPr algn="l">
              <a:lnSpc>
                <a:spcPct val="108000"/>
              </a:lnSpc>
              <a:buNone/>
              <a:defRPr sz="1350" b="0" i="0">
                <a:solidFill>
                  <a:srgbClr val="5C6A70"/>
                </a:solidFill>
                <a:latin typeface="Aptos"/>
                <a:ea typeface="Aptos"/>
                <a:cs typeface="Aptos"/>
              </a:defRPr>
            </a:pPr>
            <a:r>
              <a:rPr sz="1350" b="0" i="0">
                <a:solidFill>
                  <a:srgbClr val="5C6A70"/>
                </a:solidFill>
                <a:latin typeface="Aptos"/>
                <a:ea typeface="Aptos"/>
                <a:cs typeface="Aptos"/>
              </a:rPr>
              <a:t>+ gut, subcutaneous insulin, glucagon and HAAF states</a:t>
            </a:r>
          </a:p>
        </p:txBody>
      </p:sp>
      <p:sp>
        <p:nvSpPr>
          <p:cNvPr id="10" name="">
            <a:extLst xmlns:a="http://schemas.openxmlformats.org/drawingml/2006/main">
              <a:ext uri="{FF2B5EF4-FFF2-40B4-BE49-F238E27FC236}">
                <a16:creationId xmlns:a16="http://schemas.microsoft.com/office/drawing/2014/main" id="{4DB328C3-FC57-436F-B0C6-F3F18FE52A1F}"/>
              </a:ext>
            </a:extLst>
          </p:cNvPr>
          <p:cNvSpPr>
            <a:spLocks xmlns:a="http://schemas.openxmlformats.org/drawingml/2006/main" noGrp="1"/>
          </p:cNvSpPr>
          <p:nvPr/>
        </p:nvSpPr>
        <p:spPr>
          <a:xfrm xmlns:a="http://schemas.openxmlformats.org/drawingml/2006/main">
            <a:off x="876300" y="3905250"/>
            <a:ext cx="4686300" cy="876300"/>
          </a:xfrm>
          <a:prstGeom xmlns:a="http://schemas.openxmlformats.org/drawingml/2006/main" prst="roundRect">
            <a:avLst>
              <a:gd name="adj" fmla="val 13043"/>
            </a:avLst>
          </a:prstGeom>
          <a:solidFill xmlns:a="http://schemas.openxmlformats.org/drawingml/2006/main">
            <a:srgbClr val="E4EEE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BB9D55C-3092-4A6C-978A-6E2B5DD0CAA0}"/>
              </a:ext>
            </a:extLst>
          </p:cNvPr>
          <p:cNvSpPr>
            <a:spLocks xmlns:a="http://schemas.openxmlformats.org/drawingml/2006/main" noGrp="1"/>
          </p:cNvSpPr>
          <p:nvPr/>
        </p:nvSpPr>
        <p:spPr>
          <a:xfrm xmlns:a="http://schemas.openxmlformats.org/drawingml/2006/main">
            <a:off x="1047750" y="4114800"/>
            <a:ext cx="4343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i="0">
                <a:solidFill>
                  <a:srgbClr val="0C3B32"/>
                </a:solidFill>
                <a:latin typeface="Cambria Math"/>
                <a:ea typeface="Cambria Math"/>
                <a:cs typeface="Cambria Math"/>
              </a:defRPr>
            </a:pPr>
            <a:r>
              <a:rPr sz="1575" b="0" i="0">
                <a:solidFill>
                  <a:srgbClr val="0C3B32"/>
                </a:solidFill>
                <a:latin typeface="Cambria Math"/>
                <a:ea typeface="Cambria Math"/>
                <a:cs typeface="Cambria Math"/>
              </a:rPr>
              <a:t>dG/dt = −(p₁ᵉᶠᶠ + X)G + p₁ᵉᶠᶠGᵦ + Rₐ + Ddawn − Uexercise − FR</a:t>
            </a:r>
          </a:p>
        </p:txBody>
      </p:sp>
      <p:sp>
        <p:nvSpPr>
          <p:cNvPr id="12" name="">
            <a:extLst xmlns:a="http://schemas.openxmlformats.org/drawingml/2006/main">
              <a:ext uri="{FF2B5EF4-FFF2-40B4-BE49-F238E27FC236}">
                <a16:creationId xmlns:a16="http://schemas.microsoft.com/office/drawing/2014/main" id="{B9EFB24E-2E70-4F1F-A97E-DD5D118789D6}"/>
              </a:ext>
            </a:extLst>
          </p:cNvPr>
          <p:cNvSpPr>
            <a:spLocks xmlns:a="http://schemas.openxmlformats.org/drawingml/2006/main" noGrp="1"/>
          </p:cNvSpPr>
          <p:nvPr/>
        </p:nvSpPr>
        <p:spPr>
          <a:xfrm xmlns:a="http://schemas.openxmlformats.org/drawingml/2006/main">
            <a:off x="876300" y="502920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222"/>
          </a:bodyPr>
          <a:lstStyle xmlns:a="http://schemas.openxmlformats.org/drawingml/2006/main"/>
          <a:p xmlns:a="http://schemas.openxmlformats.org/drawingml/2006/main">
            <a:pPr algn="l">
              <a:lnSpc>
                <a:spcPct val="100000"/>
              </a:lnSpc>
              <a:buNone/>
              <a:defRPr sz="1200" b="1" i="0">
                <a:solidFill>
                  <a:srgbClr val="0C3B32"/>
                </a:solidFill>
                <a:latin typeface="Aptos"/>
                <a:ea typeface="Aptos"/>
                <a:cs typeface="Aptos"/>
              </a:defRPr>
            </a:pPr>
            <a:r>
              <a:rPr sz="1200" b="1" i="0">
                <a:solidFill>
                  <a:srgbClr val="0C3B32"/>
                </a:solidFill>
                <a:latin typeface="Aptos"/>
                <a:ea typeface="Aptos"/>
                <a:cs typeface="Aptos"/>
              </a:rPr>
              <a:t>Best for: interpretable sensitivity studies and faster scenario sweeps.</a:t>
            </a:r>
          </a:p>
        </p:txBody>
      </p:sp>
      <p:sp>
        <p:nvSpPr>
          <p:cNvPr id="13" name="">
            <a:extLst xmlns:a="http://schemas.openxmlformats.org/drawingml/2006/main">
              <a:ext uri="{FF2B5EF4-FFF2-40B4-BE49-F238E27FC236}">
                <a16:creationId xmlns:a16="http://schemas.microsoft.com/office/drawing/2014/main" id="{113A1C96-D442-45E7-9F82-A4BCD485E4B2}"/>
              </a:ext>
            </a:extLst>
          </p:cNvPr>
          <p:cNvSpPr>
            <a:spLocks xmlns:a="http://schemas.openxmlformats.org/drawingml/2006/main" noGrp="1"/>
          </p:cNvSpPr>
          <p:nvPr/>
        </p:nvSpPr>
        <p:spPr>
          <a:xfrm xmlns:a="http://schemas.openxmlformats.org/drawingml/2006/main">
            <a:off x="6076950" y="1866900"/>
            <a:ext cx="5467350" cy="3714750"/>
          </a:xfrm>
          <a:prstGeom xmlns:a="http://schemas.openxmlformats.org/drawingml/2006/main" prst="roundRect">
            <a:avLst>
              <a:gd name="adj" fmla="val 3077"/>
            </a:avLst>
          </a:prstGeom>
          <a:solidFill xmlns:a="http://schemas.openxmlformats.org/drawingml/2006/main">
            <a:srgbClr val="173A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878EA4C-0CFB-42B9-98D2-2DB6D7D67960}"/>
              </a:ext>
            </a:extLst>
          </p:cNvPr>
          <p:cNvSpPr>
            <a:spLocks xmlns:a="http://schemas.openxmlformats.org/drawingml/2006/main" noGrp="1"/>
          </p:cNvSpPr>
          <p:nvPr/>
        </p:nvSpPr>
        <p:spPr>
          <a:xfrm xmlns:a="http://schemas.openxmlformats.org/drawingml/2006/main">
            <a:off x="6305550" y="2076450"/>
            <a:ext cx="2209800" cy="304800"/>
          </a:xfrm>
          <a:prstGeom xmlns:a="http://schemas.openxmlformats.org/drawingml/2006/main" prst="roundRect">
            <a:avLst>
              <a:gd name="adj" fmla="val 37500"/>
            </a:avLst>
          </a:prstGeom>
          <a:solidFill xmlns:a="http://schemas.openxmlformats.org/drawingml/2006/main">
            <a:srgbClr val="D89A2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8539E42-75D6-4092-9355-509E9F748BD6}"/>
              </a:ext>
            </a:extLst>
          </p:cNvPr>
          <p:cNvSpPr>
            <a:spLocks xmlns:a="http://schemas.openxmlformats.org/drawingml/2006/main" noGrp="1"/>
          </p:cNvSpPr>
          <p:nvPr/>
        </p:nvSpPr>
        <p:spPr>
          <a:xfrm xmlns:a="http://schemas.openxmlformats.org/drawingml/2006/main">
            <a:off x="6400800" y="2114550"/>
            <a:ext cx="2019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173A52"/>
                </a:solidFill>
                <a:latin typeface="Aptos"/>
                <a:ea typeface="Aptos"/>
                <a:cs typeface="Aptos"/>
              </a:defRPr>
            </a:pPr>
            <a:r>
              <a:rPr sz="1050" b="1" i="0">
                <a:solidFill>
                  <a:srgbClr val="173A52"/>
                </a:solidFill>
                <a:latin typeface="Aptos"/>
                <a:ea typeface="Aptos"/>
                <a:cs typeface="Aptos"/>
              </a:rPr>
              <a:t>HOVORKA-STYLE · 19 STATES</a:t>
            </a:r>
          </a:p>
        </p:txBody>
      </p:sp>
      <p:sp>
        <p:nvSpPr>
          <p:cNvPr id="16" name="">
            <a:extLst xmlns:a="http://schemas.openxmlformats.org/drawingml/2006/main">
              <a:ext uri="{FF2B5EF4-FFF2-40B4-BE49-F238E27FC236}">
                <a16:creationId xmlns:a16="http://schemas.microsoft.com/office/drawing/2014/main" id="{DCABBEA2-86AC-4D30-91D5-CDDDEC3A3707}"/>
              </a:ext>
            </a:extLst>
          </p:cNvPr>
          <p:cNvSpPr>
            <a:spLocks xmlns:a="http://schemas.openxmlformats.org/drawingml/2006/main" noGrp="1"/>
          </p:cNvSpPr>
          <p:nvPr/>
        </p:nvSpPr>
        <p:spPr>
          <a:xfrm xmlns:a="http://schemas.openxmlformats.org/drawingml/2006/main">
            <a:off x="6305550" y="25717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FFFFFF"/>
                </a:solidFill>
                <a:latin typeface="Aptos Display"/>
                <a:ea typeface="Aptos Display"/>
                <a:cs typeface="Aptos Display"/>
              </a:defRPr>
            </a:pPr>
            <a:r>
              <a:rPr sz="2175" b="1" i="0">
                <a:solidFill>
                  <a:srgbClr val="FFFFFF"/>
                </a:solidFill>
                <a:latin typeface="Aptos Display"/>
                <a:ea typeface="Aptos Display"/>
                <a:cs typeface="Aptos Display"/>
              </a:rPr>
              <a:t>Compartmental physiology</a:t>
            </a:r>
          </a:p>
        </p:txBody>
      </p:sp>
      <p:sp>
        <p:nvSpPr>
          <p:cNvPr id="17" name="">
            <a:extLst xmlns:a="http://schemas.openxmlformats.org/drawingml/2006/main">
              <a:ext uri="{FF2B5EF4-FFF2-40B4-BE49-F238E27FC236}">
                <a16:creationId xmlns:a16="http://schemas.microsoft.com/office/drawing/2014/main" id="{7D05339B-7C0B-4D76-9349-E6B52DFDF217}"/>
              </a:ext>
            </a:extLst>
          </p:cNvPr>
          <p:cNvSpPr>
            <a:spLocks xmlns:a="http://schemas.openxmlformats.org/drawingml/2006/main" noGrp="1"/>
          </p:cNvSpPr>
          <p:nvPr/>
        </p:nvSpPr>
        <p:spPr>
          <a:xfrm xmlns:a="http://schemas.openxmlformats.org/drawingml/2006/main">
            <a:off x="6305550" y="3048000"/>
            <a:ext cx="4857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D8E5EC"/>
                </a:solidFill>
                <a:latin typeface="Aptos"/>
                <a:ea typeface="Aptos"/>
                <a:cs typeface="Aptos"/>
              </a:defRPr>
            </a:pPr>
            <a:r>
              <a:rPr sz="1275" b="0" i="0">
                <a:solidFill>
                  <a:srgbClr val="D8E5EC"/>
                </a:solidFill>
                <a:latin typeface="Aptos"/>
                <a:ea typeface="Aptos"/>
                <a:cs typeface="Aptos"/>
              </a:rPr>
              <a:t>Accessible/non-accessible glucose · insulin depots · three insulin-action channels · meal compartments · stress/exercise · glucagon · HAAF · GLUT4</a:t>
            </a:r>
          </a:p>
        </p:txBody>
      </p:sp>
      <p:sp>
        <p:nvSpPr>
          <p:cNvPr id="18" name="">
            <a:extLst xmlns:a="http://schemas.openxmlformats.org/drawingml/2006/main">
              <a:ext uri="{FF2B5EF4-FFF2-40B4-BE49-F238E27FC236}">
                <a16:creationId xmlns:a16="http://schemas.microsoft.com/office/drawing/2014/main" id="{ED1A81F9-4DBD-4A1A-9681-6E6C1B87115E}"/>
              </a:ext>
            </a:extLst>
          </p:cNvPr>
          <p:cNvSpPr>
            <a:spLocks xmlns:a="http://schemas.openxmlformats.org/drawingml/2006/main" noGrp="1"/>
          </p:cNvSpPr>
          <p:nvPr/>
        </p:nvSpPr>
        <p:spPr>
          <a:xfrm xmlns:a="http://schemas.openxmlformats.org/drawingml/2006/main">
            <a:off x="6305550" y="3905250"/>
            <a:ext cx="5010150" cy="876300"/>
          </a:xfrm>
          <a:prstGeom xmlns:a="http://schemas.openxmlformats.org/drawingml/2006/main" prst="roundRect">
            <a:avLst>
              <a:gd name="adj" fmla="val 13043"/>
            </a:avLst>
          </a:prstGeom>
          <a:solidFill xmlns:a="http://schemas.openxmlformats.org/drawingml/2006/main">
            <a:srgbClr val="244D6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4D0CAD8-619D-4AE4-97DC-7486C300781E}"/>
              </a:ext>
            </a:extLst>
          </p:cNvPr>
          <p:cNvSpPr>
            <a:spLocks xmlns:a="http://schemas.openxmlformats.org/drawingml/2006/main" noGrp="1"/>
          </p:cNvSpPr>
          <p:nvPr/>
        </p:nvSpPr>
        <p:spPr>
          <a:xfrm xmlns:a="http://schemas.openxmlformats.org/drawingml/2006/main">
            <a:off x="6477000" y="4095750"/>
            <a:ext cx="4667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0" i="0">
                <a:solidFill>
                  <a:srgbClr val="FFFFFF"/>
                </a:solidFill>
                <a:latin typeface="Cambria Math"/>
                <a:ea typeface="Cambria Math"/>
                <a:cs typeface="Cambria Math"/>
              </a:defRPr>
            </a:pPr>
            <a:r>
              <a:rPr sz="1500" b="0" i="0">
                <a:solidFill>
                  <a:srgbClr val="FFFFFF"/>
                </a:solidFill>
                <a:latin typeface="Cambria Math"/>
                <a:ea typeface="Cambria Math"/>
                <a:cs typeface="Cambria Math"/>
              </a:rPr>
              <a:t>dQ₁/dt = −(NIMGU + FR) − x₁Q₁ + k₁₂Q₂ + EGP₀·max(0, 1 − x₃ + xgluc) + UG</a:t>
            </a:r>
          </a:p>
        </p:txBody>
      </p:sp>
      <p:sp>
        <p:nvSpPr>
          <p:cNvPr id="20" name="">
            <a:extLst xmlns:a="http://schemas.openxmlformats.org/drawingml/2006/main">
              <a:ext uri="{FF2B5EF4-FFF2-40B4-BE49-F238E27FC236}">
                <a16:creationId xmlns:a16="http://schemas.microsoft.com/office/drawing/2014/main" id="{7A8217F4-8135-48E2-B1BA-35B71D08BF2E}"/>
              </a:ext>
            </a:extLst>
          </p:cNvPr>
          <p:cNvSpPr>
            <a:spLocks xmlns:a="http://schemas.openxmlformats.org/drawingml/2006/main" noGrp="1"/>
          </p:cNvSpPr>
          <p:nvPr/>
        </p:nvSpPr>
        <p:spPr>
          <a:xfrm xmlns:a="http://schemas.openxmlformats.org/drawingml/2006/main">
            <a:off x="6305550" y="502920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572"/>
          </a:bodyPr>
          <a:lstStyle xmlns:a="http://schemas.openxmlformats.org/drawingml/2006/main"/>
          <a:p xmlns:a="http://schemas.openxmlformats.org/drawingml/2006/main">
            <a:pPr algn="l">
              <a:lnSpc>
                <a:spcPct val="100000"/>
              </a:lnSpc>
              <a:buNone/>
              <a:defRPr sz="1200" b="1" i="0">
                <a:solidFill>
                  <a:srgbClr val="D89A2B"/>
                </a:solidFill>
                <a:latin typeface="Aptos"/>
                <a:ea typeface="Aptos"/>
                <a:cs typeface="Aptos"/>
              </a:defRPr>
            </a:pPr>
            <a:r>
              <a:rPr sz="1200" b="1" i="0">
                <a:solidFill>
                  <a:srgbClr val="D89A2B"/>
                </a:solidFill>
                <a:latin typeface="Aptos"/>
                <a:ea typeface="Aptos"/>
                <a:cs typeface="Aptos"/>
              </a:rPr>
              <a:t>Best for: delayed kinetics, stress, exercise and dual-hormone experiments.</a:t>
            </a:r>
          </a:p>
        </p:txBody>
      </p:sp>
      <p:sp>
        <p:nvSpPr>
          <p:cNvPr id="21" name="">
            <a:extLst xmlns:a="http://schemas.openxmlformats.org/drawingml/2006/main">
              <a:ext uri="{FF2B5EF4-FFF2-40B4-BE49-F238E27FC236}">
                <a16:creationId xmlns:a16="http://schemas.microsoft.com/office/drawing/2014/main" id="{0091D901-0EE0-4D89-91FC-FFF602F2D37B}"/>
              </a:ext>
            </a:extLst>
          </p:cNvPr>
          <p:cNvSpPr>
            <a:spLocks xmlns:a="http://schemas.openxmlformats.org/drawingml/2006/main" noGrp="1"/>
          </p:cNvSpPr>
          <p:nvPr/>
        </p:nvSpPr>
        <p:spPr>
          <a:xfrm xmlns:a="http://schemas.openxmlformats.org/drawingml/2006/main">
            <a:off x="3352800" y="5810250"/>
            <a:ext cx="5486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C5534A"/>
                </a:solidFill>
                <a:latin typeface="Aptos"/>
                <a:ea typeface="Aptos"/>
                <a:cs typeface="Aptos"/>
              </a:defRPr>
            </a:pPr>
            <a:r>
              <a:rPr sz="1350" b="1" i="0">
                <a:solidFill>
                  <a:srgbClr val="C5534A"/>
                </a:solidFill>
                <a:latin typeface="Aptos"/>
                <a:ea typeface="Aptos"/>
                <a:cs typeface="Aptos"/>
              </a:rPr>
              <a:t>Both are research abstractions—not complete human physiology.</a:t>
            </a:r>
          </a:p>
        </p:txBody>
      </p:sp>
      <p:sp>
        <p:nvSpPr>
          <p:cNvPr id="22" name="">
            <a:extLst xmlns:a="http://schemas.openxmlformats.org/drawingml/2006/main">
              <a:ext uri="{FF2B5EF4-FFF2-40B4-BE49-F238E27FC236}">
                <a16:creationId xmlns:a16="http://schemas.microsoft.com/office/drawing/2014/main" id="{845B5209-ACE9-4F09-AC4A-6847A6FC4F41}"/>
              </a:ext>
            </a:extLst>
          </p:cNvPr>
          <p:cNvSpPr>
            <a:spLocks xmlns:a="http://schemas.openxmlformats.org/drawingml/2006/main" noGrp="1"/>
          </p:cNvSpPr>
          <p:nvPr/>
        </p:nvSpPr>
        <p:spPr>
          <a:xfrm xmlns:a="http://schemas.openxmlformats.org/drawingml/2006/main">
            <a:off x="647700" y="621030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0" i="0">
                <a:solidFill>
                  <a:srgbClr val="5C6A70"/>
                </a:solidFill>
                <a:latin typeface="Aptos"/>
                <a:ea typeface="Aptos"/>
                <a:cs typeface="Aptos"/>
              </a:defRPr>
            </a:pPr>
            <a:r>
              <a:rPr sz="750" b="0" i="0">
                <a:solidFill>
                  <a:srgbClr val="5C6A70"/>
                </a:solidFill>
                <a:latin typeface="Aptos"/>
                <a:ea typeface="Aptos"/>
                <a:cs typeface="Aptos"/>
              </a:rPr>
              <a:t>Foundations: Bergman et al. 1979; Hovorka et al. 2004.</a:t>
            </a:r>
          </a:p>
        </p:txBody>
      </p:sp>
      <p:sp>
        <p:nvSpPr>
          <p:cNvPr id="23" name="">
            <a:extLst xmlns:a="http://schemas.openxmlformats.org/drawingml/2006/main">
              <a:ext uri="{FF2B5EF4-FFF2-40B4-BE49-F238E27FC236}">
                <a16:creationId xmlns:a16="http://schemas.microsoft.com/office/drawing/2014/main" id="{F052F585-687E-47E8-A84E-41D91BC1BFE3}"/>
              </a:ext>
            </a:extLst>
          </p:cNvPr>
          <p:cNvSpPr>
            <a:spLocks xmlns:a="http://schemas.openxmlformats.org/drawingml/2006/main" noGrp="1"/>
          </p:cNvSpPr>
          <p:nvPr/>
        </p:nvSpPr>
        <p:spPr>
          <a:xfrm xmlns:a="http://schemas.openxmlformats.org/drawingml/2006/main">
            <a:off x="647700" y="6467475"/>
            <a:ext cx="10896600" cy="9525"/>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C59D01C-02F3-4C50-B16B-08FB1C2B5938}"/>
              </a:ext>
            </a:extLst>
          </p:cNvPr>
          <p:cNvSpPr>
            <a:spLocks xmlns:a="http://schemas.openxmlformats.org/drawingml/2006/main" noGrp="1"/>
          </p:cNvSpPr>
          <p:nvPr/>
        </p:nvSpPr>
        <p:spPr>
          <a:xfrm xmlns:a="http://schemas.openxmlformats.org/drawingml/2006/main">
            <a:off x="647700" y="6553200"/>
            <a:ext cx="495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C6A70"/>
                </a:solidFill>
                <a:latin typeface="Aptos"/>
                <a:ea typeface="Aptos"/>
                <a:cs typeface="Aptos"/>
              </a:defRPr>
            </a:pPr>
            <a:r>
              <a:rPr sz="750" b="1" i="0">
                <a:solidFill>
                  <a:srgbClr val="5C6A70"/>
                </a:solidFill>
                <a:latin typeface="Aptos"/>
                <a:ea typeface="Aptos"/>
                <a:cs typeface="Aptos"/>
              </a:rPr>
              <a:t>RESEARCH &amp; EDUCATION ONLY · NOT A MEDICAL DEVICE</a:t>
            </a:r>
          </a:p>
        </p:txBody>
      </p:sp>
      <p:sp>
        <p:nvSpPr>
          <p:cNvPr id="25" name="">
            <a:extLst xmlns:a="http://schemas.openxmlformats.org/drawingml/2006/main">
              <a:ext uri="{FF2B5EF4-FFF2-40B4-BE49-F238E27FC236}">
                <a16:creationId xmlns:a16="http://schemas.microsoft.com/office/drawing/2014/main" id="{68BA5DB3-B1E5-475F-8BE3-E8631007D7F5}"/>
              </a:ext>
            </a:extLst>
          </p:cNvPr>
          <p:cNvSpPr>
            <a:spLocks xmlns:a="http://schemas.openxmlformats.org/drawingml/2006/main" noGrp="1"/>
          </p:cNvSpPr>
          <p:nvPr/>
        </p:nvSpPr>
        <p:spPr>
          <a:xfrm xmlns:a="http://schemas.openxmlformats.org/drawingml/2006/main">
            <a:off x="11096625" y="6534150"/>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1" i="0">
                <a:solidFill>
                  <a:srgbClr val="0C3B32"/>
                </a:solidFill>
                <a:latin typeface="Aptos"/>
                <a:ea typeface="Aptos"/>
                <a:cs typeface="Aptos"/>
              </a:defRPr>
            </a:pPr>
            <a:r>
              <a:rPr sz="900" b="1" i="0">
                <a:solidFill>
                  <a:srgbClr val="0C3B32"/>
                </a:solidFill>
                <a:latin typeface="Aptos"/>
                <a:ea typeface="Aptos"/>
                <a:cs typeface="Aptos"/>
              </a:rPr>
              <a:t>06</a:t>
            </a:r>
          </a:p>
        </p:txBody>
      </p:sp>
    </p:spTree>
    <p:extLst>
      <p:ext uri="{BB962C8B-B14F-4D97-AF65-F5344CB8AC3E}">
        <p14:creationId xmlns:p14="http://schemas.microsoft.com/office/powerpoint/2010/main" val="1455357935"/>
      </p:ext>
    </p:extLst>
  </p:cSld>
</p:sld>
</file>

<file path=ppt/slides/slide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20CCBDC-B242-45C3-B2AF-EBD8CEA6043B}"/>
              </a:ext>
            </a:extLst>
          </p:cNvPr>
          <p:cNvSpPr>
            <a:spLocks xmlns:a="http://schemas.openxmlformats.org/drawingml/2006/main" noGrp="1"/>
          </p:cNvSpPr>
          <p:nvPr/>
        </p:nvSpPr>
        <p:spPr>
          <a:xfrm xmlns:a="http://schemas.openxmlformats.org/drawingml/2006/main">
            <a:off x="647700" y="3429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E7D8A"/>
                </a:solidFill>
                <a:latin typeface="Aptos"/>
                <a:ea typeface="Aptos"/>
                <a:cs typeface="Aptos"/>
              </a:defRPr>
            </a:pPr>
            <a:r>
              <a:rPr sz="900" b="1" i="0">
                <a:solidFill>
                  <a:srgbClr val="2E7D8A"/>
                </a:solidFill>
                <a:latin typeface="Aptos"/>
                <a:ea typeface="Aptos"/>
                <a:cs typeface="Aptos"/>
              </a:rPr>
              <a:t>PHYSIOLOGY + MEASUREMENT</a:t>
            </a:r>
          </a:p>
        </p:txBody>
      </p:sp>
      <p:sp>
        <p:nvSpPr>
          <p:cNvPr id="2" name="">
            <a:extLst xmlns:a="http://schemas.openxmlformats.org/drawingml/2006/main">
              <a:ext uri="{FF2B5EF4-FFF2-40B4-BE49-F238E27FC236}">
                <a16:creationId xmlns:a16="http://schemas.microsoft.com/office/drawing/2014/main" id="{C21279F3-0065-4800-AFBD-415AEB4C9E0A}"/>
              </a:ext>
            </a:extLst>
          </p:cNvPr>
          <p:cNvSpPr>
            <a:spLocks xmlns:a="http://schemas.openxmlformats.org/drawingml/2006/main" noGrp="1"/>
          </p:cNvSpPr>
          <p:nvPr/>
        </p:nvSpPr>
        <p:spPr>
          <a:xfrm xmlns:a="http://schemas.openxmlformats.org/drawingml/2006/main">
            <a:off x="6477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00" b="1" i="0">
                <a:solidFill>
                  <a:srgbClr val="0C3B32"/>
                </a:solidFill>
                <a:latin typeface="Aptos Display"/>
                <a:ea typeface="Aptos Display"/>
                <a:cs typeface="Aptos Display"/>
              </a:defRPr>
            </a:pPr>
            <a:r>
              <a:rPr sz="3000" b="1" i="0">
                <a:solidFill>
                  <a:srgbClr val="0C3B32"/>
                </a:solidFill>
                <a:latin typeface="Aptos Display"/>
                <a:ea typeface="Aptos Display"/>
                <a:cs typeface="Aptos Display"/>
              </a:rPr>
              <a:t>From a dose or meal to the value seen by an algorithm</a:t>
            </a:r>
          </a:p>
        </p:txBody>
      </p:sp>
      <p:sp>
        <p:nvSpPr>
          <p:cNvPr id="3" name="">
            <a:extLst xmlns:a="http://schemas.openxmlformats.org/drawingml/2006/main">
              <a:ext uri="{FF2B5EF4-FFF2-40B4-BE49-F238E27FC236}">
                <a16:creationId xmlns:a16="http://schemas.microsoft.com/office/drawing/2014/main" id="{4020FDC0-0948-4085-9308-1EE37D712968}"/>
              </a:ext>
            </a:extLst>
          </p:cNvPr>
          <p:cNvSpPr>
            <a:spLocks xmlns:a="http://schemas.openxmlformats.org/drawingml/2006/main" noGrp="1"/>
          </p:cNvSpPr>
          <p:nvPr/>
        </p:nvSpPr>
        <p:spPr>
          <a:xfrm xmlns:a="http://schemas.openxmlformats.org/drawingml/2006/main">
            <a:off x="647700" y="11811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5C6A70"/>
                </a:solidFill>
                <a:latin typeface="Aptos"/>
                <a:ea typeface="Aptos"/>
                <a:cs typeface="Aptos"/>
              </a:defRPr>
            </a:pPr>
            <a:r>
              <a:rPr sz="1275" b="0" i="0">
                <a:solidFill>
                  <a:srgbClr val="5C6A70"/>
                </a:solidFill>
                <a:latin typeface="Aptos"/>
                <a:ea typeface="Aptos"/>
                <a:cs typeface="Aptos"/>
              </a:rPr>
              <a:t>Delays are modelled explicitly so events do not become impossible vertical glucose jumps.</a:t>
            </a:r>
          </a:p>
        </p:txBody>
      </p:sp>
      <p:sp>
        <p:nvSpPr>
          <p:cNvPr id="4" name="">
            <a:extLst xmlns:a="http://schemas.openxmlformats.org/drawingml/2006/main">
              <a:ext uri="{FF2B5EF4-FFF2-40B4-BE49-F238E27FC236}">
                <a16:creationId xmlns:a16="http://schemas.microsoft.com/office/drawing/2014/main" id="{23944C5B-CC0C-48FF-93C6-4C5532139ACF}"/>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ED034AB-912C-4521-9671-AF536CE4C6F8}"/>
              </a:ext>
            </a:extLst>
          </p:cNvPr>
          <p:cNvSpPr>
            <a:spLocks xmlns:a="http://schemas.openxmlformats.org/drawingml/2006/main" noGrp="1"/>
          </p:cNvSpPr>
          <p:nvPr/>
        </p:nvSpPr>
        <p:spPr>
          <a:xfrm xmlns:a="http://schemas.openxmlformats.org/drawingml/2006/main">
            <a:off x="704850" y="2038350"/>
            <a:ext cx="3067050" cy="3257550"/>
          </a:xfrm>
          <a:prstGeom xmlns:a="http://schemas.openxmlformats.org/drawingml/2006/main" prst="roundRect">
            <a:avLst>
              <a:gd name="adj" fmla="val 3727"/>
            </a:avLst>
          </a:prstGeom>
          <a:solidFill xmlns:a="http://schemas.openxmlformats.org/drawingml/2006/main">
            <a:srgbClr val="F6E9C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E62B59E-ED0C-4F86-950E-B07D49C0846E}"/>
              </a:ext>
            </a:extLst>
          </p:cNvPr>
          <p:cNvSpPr>
            <a:spLocks xmlns:a="http://schemas.openxmlformats.org/drawingml/2006/main" noGrp="1"/>
          </p:cNvSpPr>
          <p:nvPr/>
        </p:nvSpPr>
        <p:spPr>
          <a:xfrm xmlns:a="http://schemas.openxmlformats.org/drawingml/2006/main">
            <a:off x="895350" y="2247900"/>
            <a:ext cx="2686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7A4C00"/>
                </a:solidFill>
                <a:latin typeface="Aptos"/>
                <a:ea typeface="Aptos"/>
                <a:cs typeface="Aptos"/>
              </a:defRPr>
            </a:pPr>
            <a:r>
              <a:rPr sz="1125" b="1" i="0">
                <a:solidFill>
                  <a:srgbClr val="7A4C00"/>
                </a:solidFill>
                <a:latin typeface="Aptos"/>
                <a:ea typeface="Aptos"/>
                <a:cs typeface="Aptos"/>
              </a:rPr>
              <a:t>MEAL ABSORPTION</a:t>
            </a:r>
          </a:p>
        </p:txBody>
      </p:sp>
      <p:sp>
        <p:nvSpPr>
          <p:cNvPr id="7" name="">
            <a:extLst xmlns:a="http://schemas.openxmlformats.org/drawingml/2006/main">
              <a:ext uri="{FF2B5EF4-FFF2-40B4-BE49-F238E27FC236}">
                <a16:creationId xmlns:a16="http://schemas.microsoft.com/office/drawing/2014/main" id="{CDEB9B56-5355-457F-863A-5ABDB987F47F}"/>
              </a:ext>
            </a:extLst>
          </p:cNvPr>
          <p:cNvSpPr>
            <a:spLocks xmlns:a="http://schemas.openxmlformats.org/drawingml/2006/main" noGrp="1"/>
          </p:cNvSpPr>
          <p:nvPr/>
        </p:nvSpPr>
        <p:spPr>
          <a:xfrm xmlns:a="http://schemas.openxmlformats.org/drawingml/2006/main">
            <a:off x="914400" y="2724150"/>
            <a:ext cx="2647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491"/>
          </a:bodyPr>
          <a:lstStyle xmlns:a="http://schemas.openxmlformats.org/drawingml/2006/main"/>
          <a:p xmlns:a="http://schemas.openxmlformats.org/drawingml/2006/main">
            <a:pPr algn="ctr">
              <a:lnSpc>
                <a:spcPct val="100000"/>
              </a:lnSpc>
              <a:buNone/>
              <a:defRPr sz="1425" b="1" i="0">
                <a:solidFill>
                  <a:srgbClr val="182329"/>
                </a:solidFill>
                <a:latin typeface="Aptos Display"/>
                <a:ea typeface="Aptos Display"/>
                <a:cs typeface="Aptos Display"/>
              </a:defRPr>
            </a:pPr>
            <a:r>
              <a:rPr sz="1425" b="1" i="0">
                <a:solidFill>
                  <a:srgbClr val="182329"/>
                </a:solidFill>
                <a:latin typeface="Aptos Display"/>
                <a:ea typeface="Aptos Display"/>
                <a:cs typeface="Aptos Display"/>
              </a:rPr>
              <a:t>Solid stomach → liquid stomach → gut → rate of appearance</a:t>
            </a:r>
          </a:p>
        </p:txBody>
      </p:sp>
      <p:sp>
        <p:nvSpPr>
          <p:cNvPr id="8" name="">
            <a:extLst xmlns:a="http://schemas.openxmlformats.org/drawingml/2006/main">
              <a:ext uri="{FF2B5EF4-FFF2-40B4-BE49-F238E27FC236}">
                <a16:creationId xmlns:a16="http://schemas.microsoft.com/office/drawing/2014/main" id="{B8BC9D2B-56B1-459C-8675-E2A90F75ED1B}"/>
              </a:ext>
            </a:extLst>
          </p:cNvPr>
          <p:cNvSpPr>
            <a:spLocks xmlns:a="http://schemas.openxmlformats.org/drawingml/2006/main" noGrp="1"/>
          </p:cNvSpPr>
          <p:nvPr/>
        </p:nvSpPr>
        <p:spPr>
          <a:xfrm xmlns:a="http://schemas.openxmlformats.org/drawingml/2006/main">
            <a:off x="914400" y="3638550"/>
            <a:ext cx="2647950" cy="990600"/>
          </a:xfrm>
          <a:prstGeom xmlns:a="http://schemas.openxmlformats.org/drawingml/2006/main" prst="roundRect">
            <a:avLst>
              <a:gd name="adj" fmla="val 11538"/>
            </a:avLst>
          </a:prstGeom>
          <a:solidFill xmlns:a="http://schemas.openxmlformats.org/drawingml/2006/main">
            <a:srgbClr val="FFFDF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9275503-D7EF-4BE0-86F4-C587160682AA}"/>
              </a:ext>
            </a:extLst>
          </p:cNvPr>
          <p:cNvSpPr>
            <a:spLocks xmlns:a="http://schemas.openxmlformats.org/drawingml/2006/main" noGrp="1"/>
          </p:cNvSpPr>
          <p:nvPr/>
        </p:nvSpPr>
        <p:spPr>
          <a:xfrm xmlns:a="http://schemas.openxmlformats.org/drawingml/2006/main">
            <a:off x="1047750" y="3857625"/>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1425" b="0" i="0">
                <a:solidFill>
                  <a:srgbClr val="7A4C00"/>
                </a:solidFill>
                <a:latin typeface="Cambria Math"/>
                <a:ea typeface="Cambria Math"/>
                <a:cs typeface="Cambria Math"/>
              </a:defRPr>
            </a:pPr>
            <a:r>
              <a:rPr sz="1425" b="0" i="0">
                <a:solidFill>
                  <a:srgbClr val="7A4C00"/>
                </a:solidFill>
                <a:latin typeface="Cambria Math"/>
                <a:ea typeface="Cambria Math"/>
                <a:cs typeface="Cambria Math"/>
              </a:rPr>
              <a:t>dD₃/dt = kempt·D₂ − kabs·D₃</a:t>
            </a:r>
          </a:p>
          <a:p xmlns:a="http://schemas.openxmlformats.org/drawingml/2006/main">
            <a:pPr algn="ctr">
              <a:lnSpc>
                <a:spcPct val="110000"/>
              </a:lnSpc>
              <a:buNone/>
              <a:defRPr sz="1425" b="0" i="0">
                <a:solidFill>
                  <a:srgbClr val="7A4C00"/>
                </a:solidFill>
                <a:latin typeface="Cambria Math"/>
                <a:ea typeface="Cambria Math"/>
                <a:cs typeface="Cambria Math"/>
              </a:defRPr>
            </a:pPr>
            <a:r>
              <a:rPr sz="1425" b="0" i="0">
                <a:solidFill>
                  <a:srgbClr val="7A4C00"/>
                </a:solidFill>
                <a:latin typeface="Cambria Math"/>
                <a:ea typeface="Cambria Math"/>
                <a:cs typeface="Cambria Math"/>
              </a:rPr>
              <a:t>UG = kabs·D₃·AG</a:t>
            </a:r>
          </a:p>
        </p:txBody>
      </p:sp>
      <p:sp>
        <p:nvSpPr>
          <p:cNvPr id="10" name="">
            <a:extLst xmlns:a="http://schemas.openxmlformats.org/drawingml/2006/main">
              <a:ext uri="{FF2B5EF4-FFF2-40B4-BE49-F238E27FC236}">
                <a16:creationId xmlns:a16="http://schemas.microsoft.com/office/drawing/2014/main" id="{8287D568-4ADA-4AE1-9801-E697779AD6AF}"/>
              </a:ext>
            </a:extLst>
          </p:cNvPr>
          <p:cNvSpPr>
            <a:spLocks xmlns:a="http://schemas.openxmlformats.org/drawingml/2006/main" noGrp="1"/>
          </p:cNvSpPr>
          <p:nvPr/>
        </p:nvSpPr>
        <p:spPr>
          <a:xfrm xmlns:a="http://schemas.openxmlformats.org/drawingml/2006/main">
            <a:off x="3838575" y="34480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444"/>
          </a:bodyPr>
          <a:lstStyle xmlns:a="http://schemas.openxmlformats.org/drawingml/2006/main"/>
          <a:p xmlns:a="http://schemas.openxmlformats.org/drawingml/2006/main">
            <a:pPr algn="ctr">
              <a:lnSpc>
                <a:spcPct val="100000"/>
              </a:lnSpc>
              <a:buNone/>
              <a:defRPr sz="2250" b="1" i="0">
                <a:solidFill>
                  <a:srgbClr val="2E7D8A"/>
                </a:solidFill>
                <a:latin typeface="Aptos"/>
                <a:ea typeface="Aptos"/>
                <a:cs typeface="Aptos"/>
              </a:defRPr>
            </a:pPr>
            <a:r>
              <a:rPr sz="2250" b="1" i="0">
                <a:solidFill>
                  <a:srgbClr val="2E7D8A"/>
                </a:solidFill>
                <a:latin typeface="Aptos"/>
                <a:ea typeface="Aptos"/>
                <a:cs typeface="Aptos"/>
              </a:rPr>
              <a:t>→</a:t>
            </a:r>
          </a:p>
        </p:txBody>
      </p:sp>
      <p:sp>
        <p:nvSpPr>
          <p:cNvPr id="11" name="">
            <a:extLst xmlns:a="http://schemas.openxmlformats.org/drawingml/2006/main">
              <a:ext uri="{FF2B5EF4-FFF2-40B4-BE49-F238E27FC236}">
                <a16:creationId xmlns:a16="http://schemas.microsoft.com/office/drawing/2014/main" id="{75376D6E-A6C3-4883-BB39-2A1AD6EDB3F5}"/>
              </a:ext>
            </a:extLst>
          </p:cNvPr>
          <p:cNvSpPr>
            <a:spLocks xmlns:a="http://schemas.openxmlformats.org/drawingml/2006/main" noGrp="1"/>
          </p:cNvSpPr>
          <p:nvPr/>
        </p:nvSpPr>
        <p:spPr>
          <a:xfrm xmlns:a="http://schemas.openxmlformats.org/drawingml/2006/main">
            <a:off x="4095750" y="2038350"/>
            <a:ext cx="3067050" cy="3257550"/>
          </a:xfrm>
          <a:prstGeom xmlns:a="http://schemas.openxmlformats.org/drawingml/2006/main" prst="roundRect">
            <a:avLst>
              <a:gd name="adj" fmla="val 3727"/>
            </a:avLst>
          </a:prstGeom>
          <a:solidFill xmlns:a="http://schemas.openxmlformats.org/drawingml/2006/main">
            <a:srgbClr val="E4EE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608E717-6AFD-4712-9B9F-A5A6A506925F}"/>
              </a:ext>
            </a:extLst>
          </p:cNvPr>
          <p:cNvSpPr>
            <a:spLocks xmlns:a="http://schemas.openxmlformats.org/drawingml/2006/main" noGrp="1"/>
          </p:cNvSpPr>
          <p:nvPr/>
        </p:nvSpPr>
        <p:spPr>
          <a:xfrm xmlns:a="http://schemas.openxmlformats.org/drawingml/2006/main">
            <a:off x="4286250" y="2247900"/>
            <a:ext cx="2686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0C3B32"/>
                </a:solidFill>
                <a:latin typeface="Aptos"/>
                <a:ea typeface="Aptos"/>
                <a:cs typeface="Aptos"/>
              </a:defRPr>
            </a:pPr>
            <a:r>
              <a:rPr sz="1125" b="1" i="0">
                <a:solidFill>
                  <a:srgbClr val="0C3B32"/>
                </a:solidFill>
                <a:latin typeface="Aptos"/>
                <a:ea typeface="Aptos"/>
                <a:cs typeface="Aptos"/>
              </a:rPr>
              <a:t>INSULIN PK/PD</a:t>
            </a:r>
          </a:p>
        </p:txBody>
      </p:sp>
      <p:sp>
        <p:nvSpPr>
          <p:cNvPr id="13" name="">
            <a:extLst xmlns:a="http://schemas.openxmlformats.org/drawingml/2006/main">
              <a:ext uri="{FF2B5EF4-FFF2-40B4-BE49-F238E27FC236}">
                <a16:creationId xmlns:a16="http://schemas.microsoft.com/office/drawing/2014/main" id="{4FE3815A-5667-4B17-A59F-56DCBE44E046}"/>
              </a:ext>
            </a:extLst>
          </p:cNvPr>
          <p:cNvSpPr>
            <a:spLocks xmlns:a="http://schemas.openxmlformats.org/drawingml/2006/main" noGrp="1"/>
          </p:cNvSpPr>
          <p:nvPr/>
        </p:nvSpPr>
        <p:spPr>
          <a:xfrm xmlns:a="http://schemas.openxmlformats.org/drawingml/2006/main">
            <a:off x="4305300" y="2724150"/>
            <a:ext cx="2647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491"/>
          </a:bodyPr>
          <a:lstStyle xmlns:a="http://schemas.openxmlformats.org/drawingml/2006/main"/>
          <a:p xmlns:a="http://schemas.openxmlformats.org/drawingml/2006/main">
            <a:pPr algn="ctr">
              <a:lnSpc>
                <a:spcPct val="100000"/>
              </a:lnSpc>
              <a:buNone/>
              <a:defRPr sz="1425" b="1" i="0">
                <a:solidFill>
                  <a:srgbClr val="182329"/>
                </a:solidFill>
                <a:latin typeface="Aptos Display"/>
                <a:ea typeface="Aptos Display"/>
                <a:cs typeface="Aptos Display"/>
              </a:defRPr>
            </a:pPr>
            <a:r>
              <a:rPr sz="1425" b="1" i="0">
                <a:solidFill>
                  <a:srgbClr val="182329"/>
                </a:solidFill>
                <a:latin typeface="Aptos Display"/>
                <a:ea typeface="Aptos Display"/>
                <a:cs typeface="Aptos Display"/>
              </a:rPr>
              <a:t>Dose → subcutaneous depots → plasma insulin → slow action states</a:t>
            </a:r>
          </a:p>
        </p:txBody>
      </p:sp>
      <p:sp>
        <p:nvSpPr>
          <p:cNvPr id="14" name="">
            <a:extLst xmlns:a="http://schemas.openxmlformats.org/drawingml/2006/main">
              <a:ext uri="{FF2B5EF4-FFF2-40B4-BE49-F238E27FC236}">
                <a16:creationId xmlns:a16="http://schemas.microsoft.com/office/drawing/2014/main" id="{FDD8A0BA-621B-43FD-ADC9-C8A806A9BB95}"/>
              </a:ext>
            </a:extLst>
          </p:cNvPr>
          <p:cNvSpPr>
            <a:spLocks xmlns:a="http://schemas.openxmlformats.org/drawingml/2006/main" noGrp="1"/>
          </p:cNvSpPr>
          <p:nvPr/>
        </p:nvSpPr>
        <p:spPr>
          <a:xfrm xmlns:a="http://schemas.openxmlformats.org/drawingml/2006/main">
            <a:off x="4305300" y="3638550"/>
            <a:ext cx="2647950" cy="990600"/>
          </a:xfrm>
          <a:prstGeom xmlns:a="http://schemas.openxmlformats.org/drawingml/2006/main" prst="roundRect">
            <a:avLst>
              <a:gd name="adj" fmla="val 11538"/>
            </a:avLst>
          </a:prstGeom>
          <a:solidFill xmlns:a="http://schemas.openxmlformats.org/drawingml/2006/main">
            <a:srgbClr val="FFFDF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395C8FE-E027-4623-B25A-BCE4D6297A44}"/>
              </a:ext>
            </a:extLst>
          </p:cNvPr>
          <p:cNvSpPr>
            <a:spLocks xmlns:a="http://schemas.openxmlformats.org/drawingml/2006/main" noGrp="1"/>
          </p:cNvSpPr>
          <p:nvPr/>
        </p:nvSpPr>
        <p:spPr>
          <a:xfrm xmlns:a="http://schemas.openxmlformats.org/drawingml/2006/main">
            <a:off x="4438650" y="3857625"/>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1425" b="0" i="0">
                <a:solidFill>
                  <a:srgbClr val="0C3B32"/>
                </a:solidFill>
                <a:latin typeface="Cambria Math"/>
                <a:ea typeface="Cambria Math"/>
                <a:cs typeface="Cambria Math"/>
              </a:defRPr>
            </a:pPr>
            <a:r>
              <a:rPr sz="1425" b="0" i="0">
                <a:solidFill>
                  <a:srgbClr val="0C3B32"/>
                </a:solidFill>
                <a:latin typeface="Cambria Math"/>
                <a:ea typeface="Cambria Math"/>
                <a:cs typeface="Cambria Math"/>
              </a:rPr>
              <a:t>dS₁/dt = uI − S₁/tmax,I</a:t>
            </a:r>
          </a:p>
          <a:p xmlns:a="http://schemas.openxmlformats.org/drawingml/2006/main">
            <a:pPr algn="ctr">
              <a:lnSpc>
                <a:spcPct val="110000"/>
              </a:lnSpc>
              <a:buNone/>
              <a:defRPr sz="1425" b="0" i="0">
                <a:solidFill>
                  <a:srgbClr val="0C3B32"/>
                </a:solidFill>
                <a:latin typeface="Cambria Math"/>
                <a:ea typeface="Cambria Math"/>
                <a:cs typeface="Cambria Math"/>
              </a:defRPr>
            </a:pPr>
            <a:r>
              <a:rPr sz="1425" b="0" i="0">
                <a:solidFill>
                  <a:srgbClr val="0C3B32"/>
                </a:solidFill>
                <a:latin typeface="Cambria Math"/>
                <a:ea typeface="Cambria Math"/>
                <a:cs typeface="Cambria Math"/>
              </a:rPr>
              <a:t>dI/dt = UI/VI − ke·I</a:t>
            </a:r>
          </a:p>
        </p:txBody>
      </p:sp>
      <p:sp>
        <p:nvSpPr>
          <p:cNvPr id="16" name="">
            <a:extLst xmlns:a="http://schemas.openxmlformats.org/drawingml/2006/main">
              <a:ext uri="{FF2B5EF4-FFF2-40B4-BE49-F238E27FC236}">
                <a16:creationId xmlns:a16="http://schemas.microsoft.com/office/drawing/2014/main" id="{F601A85F-CAD9-49D3-AA48-997B86B213F8}"/>
              </a:ext>
            </a:extLst>
          </p:cNvPr>
          <p:cNvSpPr>
            <a:spLocks xmlns:a="http://schemas.openxmlformats.org/drawingml/2006/main" noGrp="1"/>
          </p:cNvSpPr>
          <p:nvPr/>
        </p:nvSpPr>
        <p:spPr>
          <a:xfrm xmlns:a="http://schemas.openxmlformats.org/drawingml/2006/main">
            <a:off x="7229475" y="34480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444"/>
          </a:bodyPr>
          <a:lstStyle xmlns:a="http://schemas.openxmlformats.org/drawingml/2006/main"/>
          <a:p xmlns:a="http://schemas.openxmlformats.org/drawingml/2006/main">
            <a:pPr algn="ctr">
              <a:lnSpc>
                <a:spcPct val="100000"/>
              </a:lnSpc>
              <a:buNone/>
              <a:defRPr sz="2250" b="1" i="0">
                <a:solidFill>
                  <a:srgbClr val="2E7D8A"/>
                </a:solidFill>
                <a:latin typeface="Aptos"/>
                <a:ea typeface="Aptos"/>
                <a:cs typeface="Aptos"/>
              </a:defRPr>
            </a:pPr>
            <a:r>
              <a:rPr sz="2250" b="1" i="0">
                <a:solidFill>
                  <a:srgbClr val="2E7D8A"/>
                </a:solidFill>
                <a:latin typeface="Aptos"/>
                <a:ea typeface="Aptos"/>
                <a:cs typeface="Aptos"/>
              </a:rPr>
              <a:t>→</a:t>
            </a:r>
          </a:p>
        </p:txBody>
      </p:sp>
      <p:sp>
        <p:nvSpPr>
          <p:cNvPr id="17" name="">
            <a:extLst xmlns:a="http://schemas.openxmlformats.org/drawingml/2006/main">
              <a:ext uri="{FF2B5EF4-FFF2-40B4-BE49-F238E27FC236}">
                <a16:creationId xmlns:a16="http://schemas.microsoft.com/office/drawing/2014/main" id="{1439D267-8CE1-4E12-A852-11A670F304AF}"/>
              </a:ext>
            </a:extLst>
          </p:cNvPr>
          <p:cNvSpPr>
            <a:spLocks xmlns:a="http://schemas.openxmlformats.org/drawingml/2006/main" noGrp="1"/>
          </p:cNvSpPr>
          <p:nvPr/>
        </p:nvSpPr>
        <p:spPr>
          <a:xfrm xmlns:a="http://schemas.openxmlformats.org/drawingml/2006/main">
            <a:off x="7486650" y="2038350"/>
            <a:ext cx="3067050" cy="3257550"/>
          </a:xfrm>
          <a:prstGeom xmlns:a="http://schemas.openxmlformats.org/drawingml/2006/main" prst="roundRect">
            <a:avLst>
              <a:gd name="adj" fmla="val 3727"/>
            </a:avLst>
          </a:prstGeom>
          <a:solidFill xmlns:a="http://schemas.openxmlformats.org/drawingml/2006/main">
            <a:srgbClr val="E7F0F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34309BC-AE93-4B06-9BB8-A8B17A1102D4}"/>
              </a:ext>
            </a:extLst>
          </p:cNvPr>
          <p:cNvSpPr>
            <a:spLocks xmlns:a="http://schemas.openxmlformats.org/drawingml/2006/main" noGrp="1"/>
          </p:cNvSpPr>
          <p:nvPr/>
        </p:nvSpPr>
        <p:spPr>
          <a:xfrm xmlns:a="http://schemas.openxmlformats.org/drawingml/2006/main">
            <a:off x="7677150" y="2247900"/>
            <a:ext cx="2686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2E7D8A"/>
                </a:solidFill>
                <a:latin typeface="Aptos"/>
                <a:ea typeface="Aptos"/>
                <a:cs typeface="Aptos"/>
              </a:defRPr>
            </a:pPr>
            <a:r>
              <a:rPr sz="1125" b="1" i="0">
                <a:solidFill>
                  <a:srgbClr val="2E7D8A"/>
                </a:solidFill>
                <a:latin typeface="Aptos"/>
                <a:ea typeface="Aptos"/>
                <a:cs typeface="Aptos"/>
              </a:rPr>
              <a:t>CGM MEASUREMENT</a:t>
            </a:r>
          </a:p>
        </p:txBody>
      </p:sp>
      <p:sp>
        <p:nvSpPr>
          <p:cNvPr id="19" name="">
            <a:extLst xmlns:a="http://schemas.openxmlformats.org/drawingml/2006/main">
              <a:ext uri="{FF2B5EF4-FFF2-40B4-BE49-F238E27FC236}">
                <a16:creationId xmlns:a16="http://schemas.microsoft.com/office/drawing/2014/main" id="{7668FD17-A8EF-4843-AB8A-59AEF4D631D9}"/>
              </a:ext>
            </a:extLst>
          </p:cNvPr>
          <p:cNvSpPr>
            <a:spLocks xmlns:a="http://schemas.openxmlformats.org/drawingml/2006/main" noGrp="1"/>
          </p:cNvSpPr>
          <p:nvPr/>
        </p:nvSpPr>
        <p:spPr>
          <a:xfrm xmlns:a="http://schemas.openxmlformats.org/drawingml/2006/main">
            <a:off x="7696200" y="2724150"/>
            <a:ext cx="2647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491"/>
          </a:bodyPr>
          <a:lstStyle xmlns:a="http://schemas.openxmlformats.org/drawingml/2006/main"/>
          <a:p xmlns:a="http://schemas.openxmlformats.org/drawingml/2006/main">
            <a:pPr algn="ctr">
              <a:lnSpc>
                <a:spcPct val="100000"/>
              </a:lnSpc>
              <a:buNone/>
              <a:defRPr sz="1425" b="1" i="0">
                <a:solidFill>
                  <a:srgbClr val="182329"/>
                </a:solidFill>
                <a:latin typeface="Aptos Display"/>
                <a:ea typeface="Aptos Display"/>
                <a:cs typeface="Aptos Display"/>
              </a:defRPr>
            </a:pPr>
            <a:r>
              <a:rPr sz="1425" b="1" i="0">
                <a:solidFill>
                  <a:srgbClr val="182329"/>
                </a:solidFill>
                <a:latin typeface="Aptos Display"/>
                <a:ea typeface="Aptos Display"/>
                <a:cs typeface="Aptos Display"/>
              </a:rPr>
              <a:t>Blood glucose → interstitial lag → colored noise, drift and dropout</a:t>
            </a:r>
          </a:p>
        </p:txBody>
      </p:sp>
      <p:sp>
        <p:nvSpPr>
          <p:cNvPr id="20" name="">
            <a:extLst xmlns:a="http://schemas.openxmlformats.org/drawingml/2006/main">
              <a:ext uri="{FF2B5EF4-FFF2-40B4-BE49-F238E27FC236}">
                <a16:creationId xmlns:a16="http://schemas.microsoft.com/office/drawing/2014/main" id="{49112817-F1A4-4D16-9A92-C17369002A86}"/>
              </a:ext>
            </a:extLst>
          </p:cNvPr>
          <p:cNvSpPr>
            <a:spLocks xmlns:a="http://schemas.openxmlformats.org/drawingml/2006/main" noGrp="1"/>
          </p:cNvSpPr>
          <p:nvPr/>
        </p:nvSpPr>
        <p:spPr>
          <a:xfrm xmlns:a="http://schemas.openxmlformats.org/drawingml/2006/main">
            <a:off x="7696200" y="3638550"/>
            <a:ext cx="2647950" cy="990600"/>
          </a:xfrm>
          <a:prstGeom xmlns:a="http://schemas.openxmlformats.org/drawingml/2006/main" prst="roundRect">
            <a:avLst>
              <a:gd name="adj" fmla="val 11538"/>
            </a:avLst>
          </a:prstGeom>
          <a:solidFill xmlns:a="http://schemas.openxmlformats.org/drawingml/2006/main">
            <a:srgbClr val="FFFDF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F50F9D4-F64C-4869-8106-DB2E6FEBF27E}"/>
              </a:ext>
            </a:extLst>
          </p:cNvPr>
          <p:cNvSpPr>
            <a:spLocks xmlns:a="http://schemas.openxmlformats.org/drawingml/2006/main" noGrp="1"/>
          </p:cNvSpPr>
          <p:nvPr/>
        </p:nvSpPr>
        <p:spPr>
          <a:xfrm xmlns:a="http://schemas.openxmlformats.org/drawingml/2006/main">
            <a:off x="7829550" y="3857625"/>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1003"/>
          </a:bodyPr>
          <a:lstStyle xmlns:a="http://schemas.openxmlformats.org/drawingml/2006/main"/>
          <a:p xmlns:a="http://schemas.openxmlformats.org/drawingml/2006/main">
            <a:pPr algn="ctr">
              <a:lnSpc>
                <a:spcPct val="110000"/>
              </a:lnSpc>
              <a:buNone/>
              <a:defRPr sz="1425" b="0" i="0">
                <a:solidFill>
                  <a:srgbClr val="2E7D8A"/>
                </a:solidFill>
                <a:latin typeface="Cambria Math"/>
                <a:ea typeface="Cambria Math"/>
                <a:cs typeface="Cambria Math"/>
              </a:defRPr>
            </a:pPr>
            <a:r>
              <a:rPr sz="1425" b="0" i="0">
                <a:solidFill>
                  <a:srgbClr val="2E7D8A"/>
                </a:solidFill>
                <a:latin typeface="Cambria Math"/>
                <a:ea typeface="Cambria Math"/>
                <a:cs typeface="Cambria Math"/>
              </a:rPr>
              <a:t>τISF·dISF/dt = BGlagged − ISF</a:t>
            </a:r>
          </a:p>
          <a:p xmlns:a="http://schemas.openxmlformats.org/drawingml/2006/main">
            <a:pPr algn="ctr">
              <a:lnSpc>
                <a:spcPct val="110000"/>
              </a:lnSpc>
              <a:buNone/>
              <a:defRPr sz="1425" b="0" i="0">
                <a:solidFill>
                  <a:srgbClr val="2E7D8A"/>
                </a:solidFill>
                <a:latin typeface="Cambria Math"/>
                <a:ea typeface="Cambria Math"/>
                <a:cs typeface="Cambria Math"/>
              </a:defRPr>
            </a:pPr>
            <a:r>
              <a:rPr sz="1425" b="0" i="0">
                <a:solidFill>
                  <a:srgbClr val="2E7D8A"/>
                </a:solidFill>
                <a:latin typeface="Cambria Math"/>
                <a:ea typeface="Cambria Math"/>
                <a:cs typeface="Cambria Math"/>
              </a:rPr>
              <a:t>CGM = ISF + bias + drift + noise</a:t>
            </a:r>
          </a:p>
        </p:txBody>
      </p:sp>
      <p:sp>
        <p:nvSpPr>
          <p:cNvPr id="22" name="">
            <a:extLst xmlns:a="http://schemas.openxmlformats.org/drawingml/2006/main">
              <a:ext uri="{FF2B5EF4-FFF2-40B4-BE49-F238E27FC236}">
                <a16:creationId xmlns:a16="http://schemas.microsoft.com/office/drawing/2014/main" id="{EAEADB36-ED82-4954-A464-BFA558DE9620}"/>
              </a:ext>
            </a:extLst>
          </p:cNvPr>
          <p:cNvSpPr>
            <a:spLocks xmlns:a="http://schemas.openxmlformats.org/drawingml/2006/main" noGrp="1"/>
          </p:cNvSpPr>
          <p:nvPr/>
        </p:nvSpPr>
        <p:spPr>
          <a:xfrm xmlns:a="http://schemas.openxmlformats.org/drawingml/2006/main">
            <a:off x="2247900" y="5657850"/>
            <a:ext cx="7696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i="0">
                <a:solidFill>
                  <a:srgbClr val="0C3B32"/>
                </a:solidFill>
                <a:latin typeface="Aptos"/>
                <a:ea typeface="Aptos"/>
                <a:cs typeface="Aptos"/>
              </a:defRPr>
            </a:pPr>
            <a:r>
              <a:rPr sz="1650" b="1" i="0">
                <a:solidFill>
                  <a:srgbClr val="0C3B32"/>
                </a:solidFill>
                <a:latin typeface="Aptos"/>
                <a:ea typeface="Aptos"/>
                <a:cs typeface="Aptos"/>
              </a:rPr>
              <a:t>What the controller sees is intentionally not perfect latent blood glucose.</a:t>
            </a:r>
          </a:p>
        </p:txBody>
      </p:sp>
      <p:sp>
        <p:nvSpPr>
          <p:cNvPr id="23" name="">
            <a:extLst xmlns:a="http://schemas.openxmlformats.org/drawingml/2006/main">
              <a:ext uri="{FF2B5EF4-FFF2-40B4-BE49-F238E27FC236}">
                <a16:creationId xmlns:a16="http://schemas.microsoft.com/office/drawing/2014/main" id="{548F50BB-2886-4E50-812F-51E4E509E052}"/>
              </a:ext>
            </a:extLst>
          </p:cNvPr>
          <p:cNvSpPr>
            <a:spLocks xmlns:a="http://schemas.openxmlformats.org/drawingml/2006/main" noGrp="1"/>
          </p:cNvSpPr>
          <p:nvPr/>
        </p:nvSpPr>
        <p:spPr>
          <a:xfrm xmlns:a="http://schemas.openxmlformats.org/drawingml/2006/main">
            <a:off x="647700" y="621030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0" i="0">
                <a:solidFill>
                  <a:srgbClr val="5C6A70"/>
                </a:solidFill>
                <a:latin typeface="Aptos"/>
                <a:ea typeface="Aptos"/>
                <a:cs typeface="Aptos"/>
              </a:defRPr>
            </a:pPr>
            <a:r>
              <a:rPr sz="750" b="0" i="0">
                <a:solidFill>
                  <a:srgbClr val="5C6A70"/>
                </a:solidFill>
                <a:latin typeface="Aptos"/>
                <a:ea typeface="Aptos"/>
                <a:cs typeface="Aptos"/>
              </a:rPr>
              <a:t>Foundations: Dalla Man et al. 2007; Wentholt et al. 2004; insulin PK/PD literature.</a:t>
            </a:r>
          </a:p>
        </p:txBody>
      </p:sp>
      <p:sp>
        <p:nvSpPr>
          <p:cNvPr id="24" name="">
            <a:extLst xmlns:a="http://schemas.openxmlformats.org/drawingml/2006/main">
              <a:ext uri="{FF2B5EF4-FFF2-40B4-BE49-F238E27FC236}">
                <a16:creationId xmlns:a16="http://schemas.microsoft.com/office/drawing/2014/main" id="{9CAA0708-33CC-4A8A-8C3A-F1259FE3D727}"/>
              </a:ext>
            </a:extLst>
          </p:cNvPr>
          <p:cNvSpPr>
            <a:spLocks xmlns:a="http://schemas.openxmlformats.org/drawingml/2006/main" noGrp="1"/>
          </p:cNvSpPr>
          <p:nvPr/>
        </p:nvSpPr>
        <p:spPr>
          <a:xfrm xmlns:a="http://schemas.openxmlformats.org/drawingml/2006/main">
            <a:off x="647700" y="6467475"/>
            <a:ext cx="10896600" cy="9525"/>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EE1C083-211E-468A-9185-5949E00D83B2}"/>
              </a:ext>
            </a:extLst>
          </p:cNvPr>
          <p:cNvSpPr>
            <a:spLocks xmlns:a="http://schemas.openxmlformats.org/drawingml/2006/main" noGrp="1"/>
          </p:cNvSpPr>
          <p:nvPr/>
        </p:nvSpPr>
        <p:spPr>
          <a:xfrm xmlns:a="http://schemas.openxmlformats.org/drawingml/2006/main">
            <a:off x="647700" y="6553200"/>
            <a:ext cx="495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C6A70"/>
                </a:solidFill>
                <a:latin typeface="Aptos"/>
                <a:ea typeface="Aptos"/>
                <a:cs typeface="Aptos"/>
              </a:defRPr>
            </a:pPr>
            <a:r>
              <a:rPr sz="750" b="1" i="0">
                <a:solidFill>
                  <a:srgbClr val="5C6A70"/>
                </a:solidFill>
                <a:latin typeface="Aptos"/>
                <a:ea typeface="Aptos"/>
                <a:cs typeface="Aptos"/>
              </a:rPr>
              <a:t>RESEARCH &amp; EDUCATION ONLY · NOT A MEDICAL DEVICE</a:t>
            </a:r>
          </a:p>
        </p:txBody>
      </p:sp>
      <p:sp>
        <p:nvSpPr>
          <p:cNvPr id="26" name="">
            <a:extLst xmlns:a="http://schemas.openxmlformats.org/drawingml/2006/main">
              <a:ext uri="{FF2B5EF4-FFF2-40B4-BE49-F238E27FC236}">
                <a16:creationId xmlns:a16="http://schemas.microsoft.com/office/drawing/2014/main" id="{CC2C25C3-3765-4B55-AEC8-BE5ACF0DEB55}"/>
              </a:ext>
            </a:extLst>
          </p:cNvPr>
          <p:cNvSpPr>
            <a:spLocks xmlns:a="http://schemas.openxmlformats.org/drawingml/2006/main" noGrp="1"/>
          </p:cNvSpPr>
          <p:nvPr/>
        </p:nvSpPr>
        <p:spPr>
          <a:xfrm xmlns:a="http://schemas.openxmlformats.org/drawingml/2006/main">
            <a:off x="11096625" y="6534150"/>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1" i="0">
                <a:solidFill>
                  <a:srgbClr val="0C3B32"/>
                </a:solidFill>
                <a:latin typeface="Aptos"/>
                <a:ea typeface="Aptos"/>
                <a:cs typeface="Aptos"/>
              </a:defRPr>
            </a:pPr>
            <a:r>
              <a:rPr sz="900" b="1" i="0">
                <a:solidFill>
                  <a:srgbClr val="0C3B32"/>
                </a:solidFill>
                <a:latin typeface="Aptos"/>
                <a:ea typeface="Aptos"/>
                <a:cs typeface="Aptos"/>
              </a:rPr>
              <a:t>07</a:t>
            </a:r>
          </a:p>
        </p:txBody>
      </p:sp>
    </p:spTree>
    <p:extLst>
      <p:ext uri="{BB962C8B-B14F-4D97-AF65-F5344CB8AC3E}">
        <p14:creationId xmlns:p14="http://schemas.microsoft.com/office/powerpoint/2010/main" val="491858729"/>
      </p:ext>
    </p:extLst>
  </p:cSld>
</p:sld>
</file>

<file path=ppt/slides/slide8.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9616D22-1212-42D5-8919-1156B5F6161B}"/>
              </a:ext>
            </a:extLst>
          </p:cNvPr>
          <p:cNvSpPr>
            <a:spLocks xmlns:a="http://schemas.openxmlformats.org/drawingml/2006/main" noGrp="1"/>
          </p:cNvSpPr>
          <p:nvPr/>
        </p:nvSpPr>
        <p:spPr>
          <a:xfrm xmlns:a="http://schemas.openxmlformats.org/drawingml/2006/main">
            <a:off x="647700" y="3429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E7D8A"/>
                </a:solidFill>
                <a:latin typeface="Aptos"/>
                <a:ea typeface="Aptos"/>
                <a:cs typeface="Aptos"/>
              </a:defRPr>
            </a:pPr>
            <a:r>
              <a:rPr sz="900" b="1" i="0">
                <a:solidFill>
                  <a:srgbClr val="2E7D8A"/>
                </a:solidFill>
                <a:latin typeface="Aptos"/>
                <a:ea typeface="Aptos"/>
                <a:cs typeface="Aptos"/>
              </a:rPr>
              <a:t>DEEP PHYSIOLOGY</a:t>
            </a:r>
          </a:p>
        </p:txBody>
      </p:sp>
      <p:sp>
        <p:nvSpPr>
          <p:cNvPr id="2" name="">
            <a:extLst xmlns:a="http://schemas.openxmlformats.org/drawingml/2006/main">
              <a:ext uri="{FF2B5EF4-FFF2-40B4-BE49-F238E27FC236}">
                <a16:creationId xmlns:a16="http://schemas.microsoft.com/office/drawing/2014/main" id="{FB6B574F-05AF-42A1-8E1D-B6E14C6D59C2}"/>
              </a:ext>
            </a:extLst>
          </p:cNvPr>
          <p:cNvSpPr>
            <a:spLocks xmlns:a="http://schemas.openxmlformats.org/drawingml/2006/main" noGrp="1"/>
          </p:cNvSpPr>
          <p:nvPr/>
        </p:nvSpPr>
        <p:spPr>
          <a:xfrm xmlns:a="http://schemas.openxmlformats.org/drawingml/2006/main">
            <a:off x="6477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00" b="1" i="0">
                <a:solidFill>
                  <a:srgbClr val="0C3B32"/>
                </a:solidFill>
                <a:latin typeface="Aptos Display"/>
                <a:ea typeface="Aptos Display"/>
                <a:cs typeface="Aptos Display"/>
              </a:defRPr>
            </a:pPr>
            <a:r>
              <a:rPr sz="3000" b="1" i="0">
                <a:solidFill>
                  <a:srgbClr val="0C3B32"/>
                </a:solidFill>
                <a:latin typeface="Aptos Display"/>
                <a:ea typeface="Aptos Display"/>
                <a:cs typeface="Aptos Display"/>
              </a:rPr>
              <a:t>Hypoglycaemia risk has memory</a:t>
            </a:r>
          </a:p>
        </p:txBody>
      </p:sp>
      <p:sp>
        <p:nvSpPr>
          <p:cNvPr id="3" name="">
            <a:extLst xmlns:a="http://schemas.openxmlformats.org/drawingml/2006/main">
              <a:ext uri="{FF2B5EF4-FFF2-40B4-BE49-F238E27FC236}">
                <a16:creationId xmlns:a16="http://schemas.microsoft.com/office/drawing/2014/main" id="{34989FA6-4E2E-41DB-87D7-72BEF3E0F1FE}"/>
              </a:ext>
            </a:extLst>
          </p:cNvPr>
          <p:cNvSpPr>
            <a:spLocks xmlns:a="http://schemas.openxmlformats.org/drawingml/2006/main" noGrp="1"/>
          </p:cNvSpPr>
          <p:nvPr/>
        </p:nvSpPr>
        <p:spPr>
          <a:xfrm xmlns:a="http://schemas.openxmlformats.org/drawingml/2006/main">
            <a:off x="647700" y="11811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5C6A70"/>
                </a:solidFill>
                <a:latin typeface="Aptos"/>
                <a:ea typeface="Aptos"/>
                <a:cs typeface="Aptos"/>
              </a:defRPr>
            </a:pPr>
            <a:r>
              <a:rPr sz="1275" b="0" i="0">
                <a:solidFill>
                  <a:srgbClr val="5C6A70"/>
                </a:solidFill>
                <a:latin typeface="Aptos"/>
                <a:ea typeface="Aptos"/>
                <a:cs typeface="Aptos"/>
              </a:rPr>
              <a:t>The experimental physiology layer models rescue, repeated-low vulnerability and dual-hormone response.</a:t>
            </a:r>
          </a:p>
        </p:txBody>
      </p:sp>
      <p:sp>
        <p:nvSpPr>
          <p:cNvPr id="4" name="">
            <a:extLst xmlns:a="http://schemas.openxmlformats.org/drawingml/2006/main">
              <a:ext uri="{FF2B5EF4-FFF2-40B4-BE49-F238E27FC236}">
                <a16:creationId xmlns:a16="http://schemas.microsoft.com/office/drawing/2014/main" id="{0ED6F0A0-41E3-4B03-B065-4B7A146E5EFE}"/>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41FC760-78A1-43E4-96DD-35737772534B}"/>
              </a:ext>
            </a:extLst>
          </p:cNvPr>
          <p:cNvSpPr>
            <a:spLocks xmlns:a="http://schemas.openxmlformats.org/drawingml/2006/main" noGrp="1"/>
          </p:cNvSpPr>
          <p:nvPr/>
        </p:nvSpPr>
        <p:spPr>
          <a:xfrm xmlns:a="http://schemas.openxmlformats.org/drawingml/2006/main">
            <a:off x="647700" y="1924050"/>
            <a:ext cx="5219700" cy="1600200"/>
          </a:xfrm>
          <a:prstGeom xmlns:a="http://schemas.openxmlformats.org/drawingml/2006/main" prst="roundRect">
            <a:avLst>
              <a:gd name="adj" fmla="val 7143"/>
            </a:avLst>
          </a:prstGeom>
          <a:solidFill xmlns:a="http://schemas.openxmlformats.org/drawingml/2006/main">
            <a:srgbClr val="E4EEE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FBCCBB3-46BD-4A2B-84E9-2FFA383306BC}"/>
              </a:ext>
            </a:extLst>
          </p:cNvPr>
          <p:cNvSpPr>
            <a:spLocks xmlns:a="http://schemas.openxmlformats.org/drawingml/2006/main" noGrp="1"/>
          </p:cNvSpPr>
          <p:nvPr/>
        </p:nvSpPr>
        <p:spPr>
          <a:xfrm xmlns:a="http://schemas.openxmlformats.org/drawingml/2006/main">
            <a:off x="838200" y="2095500"/>
            <a:ext cx="483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0C3B32"/>
                </a:solidFill>
                <a:latin typeface="Aptos"/>
                <a:ea typeface="Aptos"/>
                <a:cs typeface="Aptos"/>
              </a:defRPr>
            </a:pPr>
            <a:r>
              <a:rPr sz="975" b="1" i="0">
                <a:solidFill>
                  <a:srgbClr val="0C3B32"/>
                </a:solidFill>
                <a:latin typeface="Aptos"/>
                <a:ea typeface="Aptos"/>
                <a:cs typeface="Aptos"/>
              </a:rPr>
              <a:t>ENDOGENOUS RESCUE</a:t>
            </a:r>
          </a:p>
        </p:txBody>
      </p:sp>
      <p:sp>
        <p:nvSpPr>
          <p:cNvPr id="7" name="">
            <a:extLst xmlns:a="http://schemas.openxmlformats.org/drawingml/2006/main">
              <a:ext uri="{FF2B5EF4-FFF2-40B4-BE49-F238E27FC236}">
                <a16:creationId xmlns:a16="http://schemas.microsoft.com/office/drawing/2014/main" id="{76E3F108-A017-478B-98F6-B7EE0C482F76}"/>
              </a:ext>
            </a:extLst>
          </p:cNvPr>
          <p:cNvSpPr>
            <a:spLocks xmlns:a="http://schemas.openxmlformats.org/drawingml/2006/main" noGrp="1"/>
          </p:cNvSpPr>
          <p:nvPr/>
        </p:nvSpPr>
        <p:spPr>
          <a:xfrm xmlns:a="http://schemas.openxmlformats.org/drawingml/2006/main">
            <a:off x="838200" y="236220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0C3B32"/>
                </a:solidFill>
                <a:latin typeface="Aptos Display"/>
                <a:ea typeface="Aptos Display"/>
                <a:cs typeface="Aptos Display"/>
              </a:defRPr>
            </a:pPr>
            <a:r>
              <a:rPr sz="1725" b="1" i="0">
                <a:solidFill>
                  <a:srgbClr val="0C3B32"/>
                </a:solidFill>
                <a:latin typeface="Aptos Display"/>
                <a:ea typeface="Aptos Display"/>
                <a:cs typeface="Aptos Display"/>
              </a:rPr>
              <a:t>Counter-regulation</a:t>
            </a:r>
          </a:p>
        </p:txBody>
      </p:sp>
      <p:sp>
        <p:nvSpPr>
          <p:cNvPr id="8" name="">
            <a:extLst xmlns:a="http://schemas.openxmlformats.org/drawingml/2006/main">
              <a:ext uri="{FF2B5EF4-FFF2-40B4-BE49-F238E27FC236}">
                <a16:creationId xmlns:a16="http://schemas.microsoft.com/office/drawing/2014/main" id="{06246498-9F97-42BB-9E95-5DDDFE94AC98}"/>
              </a:ext>
            </a:extLst>
          </p:cNvPr>
          <p:cNvSpPr>
            <a:spLocks xmlns:a="http://schemas.openxmlformats.org/drawingml/2006/main" noGrp="1"/>
          </p:cNvSpPr>
          <p:nvPr/>
        </p:nvSpPr>
        <p:spPr>
          <a:xfrm xmlns:a="http://schemas.openxmlformats.org/drawingml/2006/main">
            <a:off x="838200" y="2686050"/>
            <a:ext cx="483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C6A70"/>
                </a:solidFill>
                <a:latin typeface="Aptos"/>
                <a:ea typeface="Aptos"/>
                <a:cs typeface="Aptos"/>
              </a:defRPr>
            </a:pPr>
            <a:r>
              <a:rPr sz="1125" b="0" i="0">
                <a:solidFill>
                  <a:srgbClr val="5C6A70"/>
                </a:solidFill>
                <a:latin typeface="Aptos"/>
                <a:ea typeface="Aptos"/>
                <a:cs typeface="Aptos"/>
              </a:rPr>
              <a:t>Below 70 mg/dL, endogenous glucose production rises through a rescue term that is weakened by HAAF.</a:t>
            </a:r>
          </a:p>
        </p:txBody>
      </p:sp>
      <p:sp>
        <p:nvSpPr>
          <p:cNvPr id="9" name="">
            <a:extLst xmlns:a="http://schemas.openxmlformats.org/drawingml/2006/main">
              <a:ext uri="{FF2B5EF4-FFF2-40B4-BE49-F238E27FC236}">
                <a16:creationId xmlns:a16="http://schemas.microsoft.com/office/drawing/2014/main" id="{BBE8054F-0F99-413F-BD0E-103DCAE34407}"/>
              </a:ext>
            </a:extLst>
          </p:cNvPr>
          <p:cNvSpPr>
            <a:spLocks xmlns:a="http://schemas.openxmlformats.org/drawingml/2006/main" noGrp="1"/>
          </p:cNvSpPr>
          <p:nvPr/>
        </p:nvSpPr>
        <p:spPr>
          <a:xfrm xmlns:a="http://schemas.openxmlformats.org/drawingml/2006/main">
            <a:off x="838200" y="318135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i="0">
                <a:solidFill>
                  <a:srgbClr val="0C3B32"/>
                </a:solidFill>
                <a:latin typeface="Cambria Math"/>
                <a:ea typeface="Cambria Math"/>
                <a:cs typeface="Cambria Math"/>
              </a:defRPr>
            </a:pPr>
            <a:r>
              <a:rPr sz="1200" b="0" i="0">
                <a:solidFill>
                  <a:srgbClr val="0C3B32"/>
                </a:solidFill>
                <a:latin typeface="Cambria Math"/>
                <a:ea typeface="Cambria Math"/>
                <a:cs typeface="Cambria Math"/>
              </a:rPr>
              <a:t>Rrescue = 1 + (70 − G)⁺/10 · (1 − HAAF)</a:t>
            </a:r>
          </a:p>
        </p:txBody>
      </p:sp>
      <p:sp>
        <p:nvSpPr>
          <p:cNvPr id="10" name="">
            <a:extLst xmlns:a="http://schemas.openxmlformats.org/drawingml/2006/main">
              <a:ext uri="{FF2B5EF4-FFF2-40B4-BE49-F238E27FC236}">
                <a16:creationId xmlns:a16="http://schemas.microsoft.com/office/drawing/2014/main" id="{2856565A-018E-42E1-B496-5288177F1CD6}"/>
              </a:ext>
            </a:extLst>
          </p:cNvPr>
          <p:cNvSpPr>
            <a:spLocks xmlns:a="http://schemas.openxmlformats.org/drawingml/2006/main" noGrp="1"/>
          </p:cNvSpPr>
          <p:nvPr/>
        </p:nvSpPr>
        <p:spPr>
          <a:xfrm xmlns:a="http://schemas.openxmlformats.org/drawingml/2006/main">
            <a:off x="6038850" y="1924050"/>
            <a:ext cx="5505450" cy="1600200"/>
          </a:xfrm>
          <a:prstGeom xmlns:a="http://schemas.openxmlformats.org/drawingml/2006/main" prst="roundRect">
            <a:avLst>
              <a:gd name="adj" fmla="val 7143"/>
            </a:avLst>
          </a:prstGeom>
          <a:solidFill xmlns:a="http://schemas.openxmlformats.org/drawingml/2006/main">
            <a:srgbClr val="F5E4E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B6C6F94-3755-4830-9D3F-C2C2F094030B}"/>
              </a:ext>
            </a:extLst>
          </p:cNvPr>
          <p:cNvSpPr>
            <a:spLocks xmlns:a="http://schemas.openxmlformats.org/drawingml/2006/main" noGrp="1"/>
          </p:cNvSpPr>
          <p:nvPr/>
        </p:nvSpPr>
        <p:spPr>
          <a:xfrm xmlns:a="http://schemas.openxmlformats.org/drawingml/2006/main">
            <a:off x="6229350" y="2095500"/>
            <a:ext cx="5124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C5534A"/>
                </a:solidFill>
                <a:latin typeface="Aptos"/>
                <a:ea typeface="Aptos"/>
                <a:cs typeface="Aptos"/>
              </a:defRPr>
            </a:pPr>
            <a:r>
              <a:rPr sz="975" b="1" i="0">
                <a:solidFill>
                  <a:srgbClr val="C5534A"/>
                </a:solidFill>
                <a:latin typeface="Aptos"/>
                <a:ea typeface="Aptos"/>
                <a:cs typeface="Aptos"/>
              </a:rPr>
              <a:t>PHYSIOLOGICAL MEMORY</a:t>
            </a:r>
          </a:p>
        </p:txBody>
      </p:sp>
      <p:sp>
        <p:nvSpPr>
          <p:cNvPr id="12" name="">
            <a:extLst xmlns:a="http://schemas.openxmlformats.org/drawingml/2006/main">
              <a:ext uri="{FF2B5EF4-FFF2-40B4-BE49-F238E27FC236}">
                <a16:creationId xmlns:a16="http://schemas.microsoft.com/office/drawing/2014/main" id="{6FE0E198-34CC-4FD2-B49C-8F1D5463FE6F}"/>
              </a:ext>
            </a:extLst>
          </p:cNvPr>
          <p:cNvSpPr>
            <a:spLocks xmlns:a="http://schemas.openxmlformats.org/drawingml/2006/main" noGrp="1"/>
          </p:cNvSpPr>
          <p:nvPr/>
        </p:nvSpPr>
        <p:spPr>
          <a:xfrm xmlns:a="http://schemas.openxmlformats.org/drawingml/2006/main">
            <a:off x="6229350" y="2362200"/>
            <a:ext cx="512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0C3B32"/>
                </a:solidFill>
                <a:latin typeface="Aptos Display"/>
                <a:ea typeface="Aptos Display"/>
                <a:cs typeface="Aptos Display"/>
              </a:defRPr>
            </a:pPr>
            <a:r>
              <a:rPr sz="1725" b="1" i="0">
                <a:solidFill>
                  <a:srgbClr val="0C3B32"/>
                </a:solidFill>
                <a:latin typeface="Aptos Display"/>
                <a:ea typeface="Aptos Display"/>
                <a:cs typeface="Aptos Display"/>
              </a:rPr>
              <a:t>HAAF state</a:t>
            </a:r>
          </a:p>
        </p:txBody>
      </p:sp>
      <p:sp>
        <p:nvSpPr>
          <p:cNvPr id="13" name="">
            <a:extLst xmlns:a="http://schemas.openxmlformats.org/drawingml/2006/main">
              <a:ext uri="{FF2B5EF4-FFF2-40B4-BE49-F238E27FC236}">
                <a16:creationId xmlns:a16="http://schemas.microsoft.com/office/drawing/2014/main" id="{E73A41B1-6FB7-4A3A-9703-E8CEE156A2D1}"/>
              </a:ext>
            </a:extLst>
          </p:cNvPr>
          <p:cNvSpPr>
            <a:spLocks xmlns:a="http://schemas.openxmlformats.org/drawingml/2006/main" noGrp="1"/>
          </p:cNvSpPr>
          <p:nvPr/>
        </p:nvSpPr>
        <p:spPr>
          <a:xfrm xmlns:a="http://schemas.openxmlformats.org/drawingml/2006/main">
            <a:off x="6229350" y="2686050"/>
            <a:ext cx="512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C6A70"/>
                </a:solidFill>
                <a:latin typeface="Aptos"/>
                <a:ea typeface="Aptos"/>
                <a:cs typeface="Aptos"/>
              </a:defRPr>
            </a:pPr>
            <a:r>
              <a:rPr sz="1125" b="0" i="0">
                <a:solidFill>
                  <a:srgbClr val="5C6A70"/>
                </a:solidFill>
                <a:latin typeface="Aptos"/>
                <a:ea typeface="Aptos"/>
                <a:cs typeface="Aptos"/>
              </a:rPr>
              <a:t>Repeated lows increase a bounded state; slow decay allows prior hypoglycaemia to influence later vulnerability.</a:t>
            </a:r>
          </a:p>
        </p:txBody>
      </p:sp>
      <p:sp>
        <p:nvSpPr>
          <p:cNvPr id="14" name="">
            <a:extLst xmlns:a="http://schemas.openxmlformats.org/drawingml/2006/main">
              <a:ext uri="{FF2B5EF4-FFF2-40B4-BE49-F238E27FC236}">
                <a16:creationId xmlns:a16="http://schemas.microsoft.com/office/drawing/2014/main" id="{C8FCF7B7-0376-49A7-84B7-49376501AB94}"/>
              </a:ext>
            </a:extLst>
          </p:cNvPr>
          <p:cNvSpPr>
            <a:spLocks xmlns:a="http://schemas.openxmlformats.org/drawingml/2006/main" noGrp="1"/>
          </p:cNvSpPr>
          <p:nvPr/>
        </p:nvSpPr>
        <p:spPr>
          <a:xfrm xmlns:a="http://schemas.openxmlformats.org/drawingml/2006/main">
            <a:off x="6229350" y="3181350"/>
            <a:ext cx="512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i="0">
                <a:solidFill>
                  <a:srgbClr val="C5534A"/>
                </a:solidFill>
                <a:latin typeface="Cambria Math"/>
                <a:ea typeface="Cambria Math"/>
                <a:cs typeface="Cambria Math"/>
              </a:defRPr>
            </a:pPr>
            <a:r>
              <a:rPr sz="1200" b="0" i="0">
                <a:solidFill>
                  <a:srgbClr val="C5534A"/>
                </a:solidFill>
                <a:latin typeface="Cambria Math"/>
                <a:ea typeface="Cambria Math"/>
                <a:cs typeface="Cambria Math"/>
              </a:rPr>
              <a:t>dHAAF/dt = kbuild·Δhypo·(1−HAAF) − kdecay·HAAF</a:t>
            </a:r>
          </a:p>
        </p:txBody>
      </p:sp>
      <p:sp>
        <p:nvSpPr>
          <p:cNvPr id="15" name="">
            <a:extLst xmlns:a="http://schemas.openxmlformats.org/drawingml/2006/main">
              <a:ext uri="{FF2B5EF4-FFF2-40B4-BE49-F238E27FC236}">
                <a16:creationId xmlns:a16="http://schemas.microsoft.com/office/drawing/2014/main" id="{4F6F17D2-2C88-4A44-BAC5-642DBA549B77}"/>
              </a:ext>
            </a:extLst>
          </p:cNvPr>
          <p:cNvSpPr>
            <a:spLocks xmlns:a="http://schemas.openxmlformats.org/drawingml/2006/main" noGrp="1"/>
          </p:cNvSpPr>
          <p:nvPr/>
        </p:nvSpPr>
        <p:spPr>
          <a:xfrm xmlns:a="http://schemas.openxmlformats.org/drawingml/2006/main">
            <a:off x="647700" y="3733800"/>
            <a:ext cx="5219700" cy="1600200"/>
          </a:xfrm>
          <a:prstGeom xmlns:a="http://schemas.openxmlformats.org/drawingml/2006/main" prst="roundRect">
            <a:avLst>
              <a:gd name="adj" fmla="val 7143"/>
            </a:avLst>
          </a:prstGeom>
          <a:solidFill xmlns:a="http://schemas.openxmlformats.org/drawingml/2006/main">
            <a:srgbClr val="E7F0F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6CADB2B-0700-4A4C-B106-0393B95F66F0}"/>
              </a:ext>
            </a:extLst>
          </p:cNvPr>
          <p:cNvSpPr>
            <a:spLocks xmlns:a="http://schemas.openxmlformats.org/drawingml/2006/main" noGrp="1"/>
          </p:cNvSpPr>
          <p:nvPr/>
        </p:nvSpPr>
        <p:spPr>
          <a:xfrm xmlns:a="http://schemas.openxmlformats.org/drawingml/2006/main">
            <a:off x="838200" y="3905250"/>
            <a:ext cx="483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173A52"/>
                </a:solidFill>
                <a:latin typeface="Aptos"/>
                <a:ea typeface="Aptos"/>
                <a:cs typeface="Aptos"/>
              </a:defRPr>
            </a:pPr>
            <a:r>
              <a:rPr sz="975" b="1" i="0">
                <a:solidFill>
                  <a:srgbClr val="173A52"/>
                </a:solidFill>
                <a:latin typeface="Aptos"/>
                <a:ea typeface="Aptos"/>
                <a:cs typeface="Aptos"/>
              </a:rPr>
              <a:t>DUAL-HORMONE RESEARCH</a:t>
            </a:r>
          </a:p>
        </p:txBody>
      </p:sp>
      <p:sp>
        <p:nvSpPr>
          <p:cNvPr id="17" name="">
            <a:extLst xmlns:a="http://schemas.openxmlformats.org/drawingml/2006/main">
              <a:ext uri="{FF2B5EF4-FFF2-40B4-BE49-F238E27FC236}">
                <a16:creationId xmlns:a16="http://schemas.microsoft.com/office/drawing/2014/main" id="{193781AB-B0B0-4DDA-8281-B653EE63E0D1}"/>
              </a:ext>
            </a:extLst>
          </p:cNvPr>
          <p:cNvSpPr>
            <a:spLocks xmlns:a="http://schemas.openxmlformats.org/drawingml/2006/main" noGrp="1"/>
          </p:cNvSpPr>
          <p:nvPr/>
        </p:nvSpPr>
        <p:spPr>
          <a:xfrm xmlns:a="http://schemas.openxmlformats.org/drawingml/2006/main">
            <a:off x="838200" y="41719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0C3B32"/>
                </a:solidFill>
                <a:latin typeface="Aptos Display"/>
                <a:ea typeface="Aptos Display"/>
                <a:cs typeface="Aptos Display"/>
              </a:defRPr>
            </a:pPr>
            <a:r>
              <a:rPr sz="1725" b="1" i="0">
                <a:solidFill>
                  <a:srgbClr val="0C3B32"/>
                </a:solidFill>
                <a:latin typeface="Aptos Display"/>
                <a:ea typeface="Aptos Display"/>
                <a:cs typeface="Aptos Display"/>
              </a:rPr>
              <a:t>Exogenous glucagon PK/PD</a:t>
            </a:r>
          </a:p>
        </p:txBody>
      </p:sp>
      <p:sp>
        <p:nvSpPr>
          <p:cNvPr id="18" name="">
            <a:extLst xmlns:a="http://schemas.openxmlformats.org/drawingml/2006/main">
              <a:ext uri="{FF2B5EF4-FFF2-40B4-BE49-F238E27FC236}">
                <a16:creationId xmlns:a16="http://schemas.microsoft.com/office/drawing/2014/main" id="{FF844409-0F6A-4849-9A67-EC307686F614}"/>
              </a:ext>
            </a:extLst>
          </p:cNvPr>
          <p:cNvSpPr>
            <a:spLocks xmlns:a="http://schemas.openxmlformats.org/drawingml/2006/main" noGrp="1"/>
          </p:cNvSpPr>
          <p:nvPr/>
        </p:nvSpPr>
        <p:spPr>
          <a:xfrm xmlns:a="http://schemas.openxmlformats.org/drawingml/2006/main">
            <a:off x="838200" y="4495800"/>
            <a:ext cx="483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C6A70"/>
                </a:solidFill>
                <a:latin typeface="Aptos"/>
                <a:ea typeface="Aptos"/>
                <a:cs typeface="Aptos"/>
              </a:defRPr>
            </a:pPr>
            <a:r>
              <a:rPr sz="1125" b="0" i="0">
                <a:solidFill>
                  <a:srgbClr val="5C6A70"/>
                </a:solidFill>
                <a:latin typeface="Aptos"/>
                <a:ea typeface="Aptos"/>
                <a:cs typeface="Aptos"/>
              </a:rPr>
              <a:t>Two subcutaneous depots feed plasma glucagon and a delayed hepatic action state.</a:t>
            </a:r>
          </a:p>
        </p:txBody>
      </p:sp>
      <p:sp>
        <p:nvSpPr>
          <p:cNvPr id="19" name="">
            <a:extLst xmlns:a="http://schemas.openxmlformats.org/drawingml/2006/main">
              <a:ext uri="{FF2B5EF4-FFF2-40B4-BE49-F238E27FC236}">
                <a16:creationId xmlns:a16="http://schemas.microsoft.com/office/drawing/2014/main" id="{3698E3FA-1A05-46C5-A9C3-61AE806A917E}"/>
              </a:ext>
            </a:extLst>
          </p:cNvPr>
          <p:cNvSpPr>
            <a:spLocks xmlns:a="http://schemas.openxmlformats.org/drawingml/2006/main" noGrp="1"/>
          </p:cNvSpPr>
          <p:nvPr/>
        </p:nvSpPr>
        <p:spPr>
          <a:xfrm xmlns:a="http://schemas.openxmlformats.org/drawingml/2006/main">
            <a:off x="838200" y="4991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i="0">
                <a:solidFill>
                  <a:srgbClr val="173A52"/>
                </a:solidFill>
                <a:latin typeface="Cambria Math"/>
                <a:ea typeface="Cambria Math"/>
                <a:cs typeface="Cambria Math"/>
              </a:defRPr>
            </a:pPr>
            <a:r>
              <a:rPr sz="1200" b="0" i="0">
                <a:solidFill>
                  <a:srgbClr val="173A52"/>
                </a:solidFill>
                <a:latin typeface="Cambria Math"/>
                <a:ea typeface="Cambria Math"/>
                <a:cs typeface="Cambria Math"/>
              </a:rPr>
              <a:t>dΓ/dt = UΓ/VΓ − ke,G·Γ</a:t>
            </a:r>
          </a:p>
        </p:txBody>
      </p:sp>
      <p:sp>
        <p:nvSpPr>
          <p:cNvPr id="20" name="">
            <a:extLst xmlns:a="http://schemas.openxmlformats.org/drawingml/2006/main">
              <a:ext uri="{FF2B5EF4-FFF2-40B4-BE49-F238E27FC236}">
                <a16:creationId xmlns:a16="http://schemas.microsoft.com/office/drawing/2014/main" id="{0E91265C-7E96-4AF2-ADEB-D5DABB523405}"/>
              </a:ext>
            </a:extLst>
          </p:cNvPr>
          <p:cNvSpPr>
            <a:spLocks xmlns:a="http://schemas.openxmlformats.org/drawingml/2006/main" noGrp="1"/>
          </p:cNvSpPr>
          <p:nvPr/>
        </p:nvSpPr>
        <p:spPr>
          <a:xfrm xmlns:a="http://schemas.openxmlformats.org/drawingml/2006/main">
            <a:off x="6038850" y="3733800"/>
            <a:ext cx="5505450" cy="1600200"/>
          </a:xfrm>
          <a:prstGeom xmlns:a="http://schemas.openxmlformats.org/drawingml/2006/main" prst="roundRect">
            <a:avLst>
              <a:gd name="adj" fmla="val 7143"/>
            </a:avLst>
          </a:prstGeom>
          <a:solidFill xmlns:a="http://schemas.openxmlformats.org/drawingml/2006/main">
            <a:srgbClr val="F6E9C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245655A-7AE9-4FF9-A29E-7C1755982511}"/>
              </a:ext>
            </a:extLst>
          </p:cNvPr>
          <p:cNvSpPr>
            <a:spLocks xmlns:a="http://schemas.openxmlformats.org/drawingml/2006/main" noGrp="1"/>
          </p:cNvSpPr>
          <p:nvPr/>
        </p:nvSpPr>
        <p:spPr>
          <a:xfrm xmlns:a="http://schemas.openxmlformats.org/drawingml/2006/main">
            <a:off x="6229350" y="3905250"/>
            <a:ext cx="5124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7A4C00"/>
                </a:solidFill>
                <a:latin typeface="Aptos"/>
                <a:ea typeface="Aptos"/>
                <a:cs typeface="Aptos"/>
              </a:defRPr>
            </a:pPr>
            <a:r>
              <a:rPr sz="975" b="1" i="0">
                <a:solidFill>
                  <a:srgbClr val="7A4C00"/>
                </a:solidFill>
                <a:latin typeface="Aptos"/>
                <a:ea typeface="Aptos"/>
                <a:cs typeface="Aptos"/>
              </a:rPr>
              <a:t>MASS BALANCE</a:t>
            </a:r>
          </a:p>
        </p:txBody>
      </p:sp>
      <p:sp>
        <p:nvSpPr>
          <p:cNvPr id="22" name="">
            <a:extLst xmlns:a="http://schemas.openxmlformats.org/drawingml/2006/main">
              <a:ext uri="{FF2B5EF4-FFF2-40B4-BE49-F238E27FC236}">
                <a16:creationId xmlns:a16="http://schemas.microsoft.com/office/drawing/2014/main" id="{61153EF5-95CD-4529-8F24-C2BB43110CBD}"/>
              </a:ext>
            </a:extLst>
          </p:cNvPr>
          <p:cNvSpPr>
            <a:spLocks xmlns:a="http://schemas.openxmlformats.org/drawingml/2006/main" noGrp="1"/>
          </p:cNvSpPr>
          <p:nvPr/>
        </p:nvSpPr>
        <p:spPr>
          <a:xfrm xmlns:a="http://schemas.openxmlformats.org/drawingml/2006/main">
            <a:off x="6229350" y="4171950"/>
            <a:ext cx="512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0C3B32"/>
                </a:solidFill>
                <a:latin typeface="Aptos Display"/>
                <a:ea typeface="Aptos Display"/>
                <a:cs typeface="Aptos Display"/>
              </a:defRPr>
            </a:pPr>
            <a:r>
              <a:rPr sz="1725" b="1" i="0">
                <a:solidFill>
                  <a:srgbClr val="0C3B32"/>
                </a:solidFill>
                <a:latin typeface="Aptos Display"/>
                <a:ea typeface="Aptos Display"/>
                <a:cs typeface="Aptos Display"/>
              </a:rPr>
              <a:t>Smooth renal clearance</a:t>
            </a:r>
          </a:p>
        </p:txBody>
      </p:sp>
      <p:sp>
        <p:nvSpPr>
          <p:cNvPr id="23" name="">
            <a:extLst xmlns:a="http://schemas.openxmlformats.org/drawingml/2006/main">
              <a:ext uri="{FF2B5EF4-FFF2-40B4-BE49-F238E27FC236}">
                <a16:creationId xmlns:a16="http://schemas.microsoft.com/office/drawing/2014/main" id="{EA248B46-8F87-4F6D-BFF6-3B72075D51F8}"/>
              </a:ext>
            </a:extLst>
          </p:cNvPr>
          <p:cNvSpPr>
            <a:spLocks xmlns:a="http://schemas.openxmlformats.org/drawingml/2006/main" noGrp="1"/>
          </p:cNvSpPr>
          <p:nvPr/>
        </p:nvSpPr>
        <p:spPr>
          <a:xfrm xmlns:a="http://schemas.openxmlformats.org/drawingml/2006/main">
            <a:off x="6229350" y="4495800"/>
            <a:ext cx="512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C6A70"/>
                </a:solidFill>
                <a:latin typeface="Aptos"/>
                <a:ea typeface="Aptos"/>
                <a:cs typeface="Aptos"/>
              </a:defRPr>
            </a:pPr>
            <a:r>
              <a:rPr sz="1125" b="0" i="0">
                <a:solidFill>
                  <a:srgbClr val="5C6A70"/>
                </a:solidFill>
                <a:latin typeface="Aptos"/>
                <a:ea typeface="Aptos"/>
                <a:cs typeface="Aptos"/>
              </a:rPr>
              <a:t>A differentiable soft threshold avoids an abrupt renal cutoff at high glucose.</a:t>
            </a:r>
          </a:p>
        </p:txBody>
      </p:sp>
      <p:sp>
        <p:nvSpPr>
          <p:cNvPr id="24" name="">
            <a:extLst xmlns:a="http://schemas.openxmlformats.org/drawingml/2006/main">
              <a:ext uri="{FF2B5EF4-FFF2-40B4-BE49-F238E27FC236}">
                <a16:creationId xmlns:a16="http://schemas.microsoft.com/office/drawing/2014/main" id="{1B14FC13-D3FB-40EC-B44E-EC7F1DF9123E}"/>
              </a:ext>
            </a:extLst>
          </p:cNvPr>
          <p:cNvSpPr>
            <a:spLocks xmlns:a="http://schemas.openxmlformats.org/drawingml/2006/main" noGrp="1"/>
          </p:cNvSpPr>
          <p:nvPr/>
        </p:nvSpPr>
        <p:spPr>
          <a:xfrm xmlns:a="http://schemas.openxmlformats.org/drawingml/2006/main">
            <a:off x="6229350" y="4991100"/>
            <a:ext cx="512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i="0">
                <a:solidFill>
                  <a:srgbClr val="7A4C00"/>
                </a:solidFill>
                <a:latin typeface="Cambria Math"/>
                <a:ea typeface="Cambria Math"/>
                <a:cs typeface="Cambria Math"/>
              </a:defRPr>
            </a:pPr>
            <a:r>
              <a:rPr sz="1200" b="0" i="0">
                <a:solidFill>
                  <a:srgbClr val="7A4C00"/>
                </a:solidFill>
                <a:latin typeface="Cambria Math"/>
                <a:ea typeface="Cambria Math"/>
                <a:cs typeface="Cambria Math"/>
              </a:rPr>
              <a:t>FR = 0.003·VG·10·ln(1 + exp((G−162)/10))</a:t>
            </a:r>
          </a:p>
        </p:txBody>
      </p:sp>
      <p:sp>
        <p:nvSpPr>
          <p:cNvPr id="25" name="">
            <a:extLst xmlns:a="http://schemas.openxmlformats.org/drawingml/2006/main">
              <a:ext uri="{FF2B5EF4-FFF2-40B4-BE49-F238E27FC236}">
                <a16:creationId xmlns:a16="http://schemas.microsoft.com/office/drawing/2014/main" id="{22ED514D-F7C2-4ED6-B14A-E5655673CC3B}"/>
              </a:ext>
            </a:extLst>
          </p:cNvPr>
          <p:cNvSpPr>
            <a:spLocks xmlns:a="http://schemas.openxmlformats.org/drawingml/2006/main" noGrp="1"/>
          </p:cNvSpPr>
          <p:nvPr/>
        </p:nvSpPr>
        <p:spPr>
          <a:xfrm xmlns:a="http://schemas.openxmlformats.org/drawingml/2006/main">
            <a:off x="3009900" y="5657850"/>
            <a:ext cx="6172200" cy="304800"/>
          </a:xfrm>
          <a:prstGeom xmlns:a="http://schemas.openxmlformats.org/drawingml/2006/main" prst="roundRect">
            <a:avLst>
              <a:gd name="adj" fmla="val 37500"/>
            </a:avLst>
          </a:prstGeom>
          <a:solidFill xmlns:a="http://schemas.openxmlformats.org/drawingml/2006/main">
            <a:srgbClr val="F5E4E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21B4EF9-07A5-4E4A-A0C9-1280181B678C}"/>
              </a:ext>
            </a:extLst>
          </p:cNvPr>
          <p:cNvSpPr>
            <a:spLocks xmlns:a="http://schemas.openxmlformats.org/drawingml/2006/main" noGrp="1"/>
          </p:cNvSpPr>
          <p:nvPr/>
        </p:nvSpPr>
        <p:spPr>
          <a:xfrm xmlns:a="http://schemas.openxmlformats.org/drawingml/2006/main">
            <a:off x="3105150" y="5695950"/>
            <a:ext cx="5981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C5534A"/>
                </a:solidFill>
                <a:latin typeface="Aptos"/>
                <a:ea typeface="Aptos"/>
                <a:cs typeface="Aptos"/>
              </a:defRPr>
            </a:pPr>
            <a:r>
              <a:rPr sz="1050" b="1" i="0">
                <a:solidFill>
                  <a:srgbClr val="C5534A"/>
                </a:solidFill>
                <a:latin typeface="Aptos"/>
                <a:ea typeface="Aptos"/>
                <a:cs typeface="Aptos"/>
              </a:rPr>
              <a:t>EXPERIMENTAL PHYSIOLOGY — REQUIRES CALIBRATION AND EXTERNAL VALIDATION</a:t>
            </a:r>
          </a:p>
        </p:txBody>
      </p:sp>
      <p:sp>
        <p:nvSpPr>
          <p:cNvPr id="27" name="">
            <a:extLst xmlns:a="http://schemas.openxmlformats.org/drawingml/2006/main">
              <a:ext uri="{FF2B5EF4-FFF2-40B4-BE49-F238E27FC236}">
                <a16:creationId xmlns:a16="http://schemas.microsoft.com/office/drawing/2014/main" id="{A9CD1B31-1BCC-46F0-8F8D-6B071E6ED9A8}"/>
              </a:ext>
            </a:extLst>
          </p:cNvPr>
          <p:cNvSpPr>
            <a:spLocks xmlns:a="http://schemas.openxmlformats.org/drawingml/2006/main" noGrp="1"/>
          </p:cNvSpPr>
          <p:nvPr/>
        </p:nvSpPr>
        <p:spPr>
          <a:xfrm xmlns:a="http://schemas.openxmlformats.org/drawingml/2006/main">
            <a:off x="647700" y="621030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0" i="0">
                <a:solidFill>
                  <a:srgbClr val="5C6A70"/>
                </a:solidFill>
                <a:latin typeface="Aptos"/>
                <a:ea typeface="Aptos"/>
                <a:cs typeface="Aptos"/>
              </a:defRPr>
            </a:pPr>
            <a:r>
              <a:rPr sz="750" b="0" i="0">
                <a:solidFill>
                  <a:srgbClr val="5C6A70"/>
                </a:solidFill>
                <a:latin typeface="Aptos"/>
                <a:ea typeface="Aptos"/>
                <a:cs typeface="Aptos"/>
              </a:rPr>
              <a:t>Foundations: Gerich et al. 1979; Cryer 2013; Lv et al. 2013; Hummel et al. 2018.</a:t>
            </a:r>
          </a:p>
        </p:txBody>
      </p:sp>
      <p:sp>
        <p:nvSpPr>
          <p:cNvPr id="28" name="">
            <a:extLst xmlns:a="http://schemas.openxmlformats.org/drawingml/2006/main">
              <a:ext uri="{FF2B5EF4-FFF2-40B4-BE49-F238E27FC236}">
                <a16:creationId xmlns:a16="http://schemas.microsoft.com/office/drawing/2014/main" id="{8A3B3670-0DE3-42A8-96BC-B4A17E210714}"/>
              </a:ext>
            </a:extLst>
          </p:cNvPr>
          <p:cNvSpPr>
            <a:spLocks xmlns:a="http://schemas.openxmlformats.org/drawingml/2006/main" noGrp="1"/>
          </p:cNvSpPr>
          <p:nvPr/>
        </p:nvSpPr>
        <p:spPr>
          <a:xfrm xmlns:a="http://schemas.openxmlformats.org/drawingml/2006/main">
            <a:off x="647700" y="6467475"/>
            <a:ext cx="10896600" cy="9525"/>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FE67F3F-C840-4EDD-BCCC-7C731FEF511A}"/>
              </a:ext>
            </a:extLst>
          </p:cNvPr>
          <p:cNvSpPr>
            <a:spLocks xmlns:a="http://schemas.openxmlformats.org/drawingml/2006/main" noGrp="1"/>
          </p:cNvSpPr>
          <p:nvPr/>
        </p:nvSpPr>
        <p:spPr>
          <a:xfrm xmlns:a="http://schemas.openxmlformats.org/drawingml/2006/main">
            <a:off x="647700" y="6553200"/>
            <a:ext cx="495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C6A70"/>
                </a:solidFill>
                <a:latin typeface="Aptos"/>
                <a:ea typeface="Aptos"/>
                <a:cs typeface="Aptos"/>
              </a:defRPr>
            </a:pPr>
            <a:r>
              <a:rPr sz="750" b="1" i="0">
                <a:solidFill>
                  <a:srgbClr val="5C6A70"/>
                </a:solidFill>
                <a:latin typeface="Aptos"/>
                <a:ea typeface="Aptos"/>
                <a:cs typeface="Aptos"/>
              </a:rPr>
              <a:t>RESEARCH &amp; EDUCATION ONLY · NOT A MEDICAL DEVICE</a:t>
            </a:r>
          </a:p>
        </p:txBody>
      </p:sp>
      <p:sp>
        <p:nvSpPr>
          <p:cNvPr id="30" name="">
            <a:extLst xmlns:a="http://schemas.openxmlformats.org/drawingml/2006/main">
              <a:ext uri="{FF2B5EF4-FFF2-40B4-BE49-F238E27FC236}">
                <a16:creationId xmlns:a16="http://schemas.microsoft.com/office/drawing/2014/main" id="{46627D83-F375-427A-9715-A3AA8DCE83FB}"/>
              </a:ext>
            </a:extLst>
          </p:cNvPr>
          <p:cNvSpPr>
            <a:spLocks xmlns:a="http://schemas.openxmlformats.org/drawingml/2006/main" noGrp="1"/>
          </p:cNvSpPr>
          <p:nvPr/>
        </p:nvSpPr>
        <p:spPr>
          <a:xfrm xmlns:a="http://schemas.openxmlformats.org/drawingml/2006/main">
            <a:off x="11096625" y="6534150"/>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1" i="0">
                <a:solidFill>
                  <a:srgbClr val="0C3B32"/>
                </a:solidFill>
                <a:latin typeface="Aptos"/>
                <a:ea typeface="Aptos"/>
                <a:cs typeface="Aptos"/>
              </a:defRPr>
            </a:pPr>
            <a:r>
              <a:rPr sz="900" b="1" i="0">
                <a:solidFill>
                  <a:srgbClr val="0C3B32"/>
                </a:solidFill>
                <a:latin typeface="Aptos"/>
                <a:ea typeface="Aptos"/>
                <a:cs typeface="Aptos"/>
              </a:rPr>
              <a:t>08</a:t>
            </a:r>
          </a:p>
        </p:txBody>
      </p:sp>
    </p:spTree>
    <p:extLst>
      <p:ext uri="{BB962C8B-B14F-4D97-AF65-F5344CB8AC3E}">
        <p14:creationId xmlns:p14="http://schemas.microsoft.com/office/powerpoint/2010/main" val="850511602"/>
      </p:ext>
    </p:extLst>
  </p:cSld>
</p:sld>
</file>

<file path=ppt/slides/slide9.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B63E135-E8C4-4328-AA61-CF07D55C72F3}"/>
              </a:ext>
            </a:extLst>
          </p:cNvPr>
          <p:cNvSpPr>
            <a:spLocks xmlns:a="http://schemas.openxmlformats.org/drawingml/2006/main" noGrp="1"/>
          </p:cNvSpPr>
          <p:nvPr/>
        </p:nvSpPr>
        <p:spPr>
          <a:xfrm xmlns:a="http://schemas.openxmlformats.org/drawingml/2006/main">
            <a:off x="647700" y="3429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E7D8A"/>
                </a:solidFill>
                <a:latin typeface="Aptos"/>
                <a:ea typeface="Aptos"/>
                <a:cs typeface="Aptos"/>
              </a:defRPr>
            </a:pPr>
            <a:r>
              <a:rPr sz="900" b="1" i="0">
                <a:solidFill>
                  <a:srgbClr val="2E7D8A"/>
                </a:solidFill>
                <a:latin typeface="Aptos"/>
                <a:ea typeface="Aptos"/>
                <a:cs typeface="Aptos"/>
              </a:rPr>
              <a:t>SAFETY ARCHITECTURE</a:t>
            </a:r>
          </a:p>
        </p:txBody>
      </p:sp>
      <p:sp>
        <p:nvSpPr>
          <p:cNvPr id="2" name="">
            <a:extLst xmlns:a="http://schemas.openxmlformats.org/drawingml/2006/main">
              <a:ext uri="{FF2B5EF4-FFF2-40B4-BE49-F238E27FC236}">
                <a16:creationId xmlns:a16="http://schemas.microsoft.com/office/drawing/2014/main" id="{668940AC-5C95-4CB6-B306-97F858C13482}"/>
              </a:ext>
            </a:extLst>
          </p:cNvPr>
          <p:cNvSpPr>
            <a:spLocks xmlns:a="http://schemas.openxmlformats.org/drawingml/2006/main" noGrp="1"/>
          </p:cNvSpPr>
          <p:nvPr/>
        </p:nvSpPr>
        <p:spPr>
          <a:xfrm xmlns:a="http://schemas.openxmlformats.org/drawingml/2006/main">
            <a:off x="6477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00" b="1" i="0">
                <a:solidFill>
                  <a:srgbClr val="0C3B32"/>
                </a:solidFill>
                <a:latin typeface="Aptos Display"/>
                <a:ea typeface="Aptos Display"/>
                <a:cs typeface="Aptos Display"/>
              </a:defRPr>
            </a:pPr>
            <a:r>
              <a:rPr sz="3000" b="1" i="0">
                <a:solidFill>
                  <a:srgbClr val="0C3B32"/>
                </a:solidFill>
                <a:latin typeface="Aptos Display"/>
                <a:ea typeface="Aptos Display"/>
                <a:cs typeface="Aptos Display"/>
              </a:rPr>
              <a:t>AI proposes. Deterministic logic decides.</a:t>
            </a:r>
          </a:p>
        </p:txBody>
      </p:sp>
      <p:sp>
        <p:nvSpPr>
          <p:cNvPr id="3" name="">
            <a:extLst xmlns:a="http://schemas.openxmlformats.org/drawingml/2006/main">
              <a:ext uri="{FF2B5EF4-FFF2-40B4-BE49-F238E27FC236}">
                <a16:creationId xmlns:a16="http://schemas.microsoft.com/office/drawing/2014/main" id="{1C81F519-1F36-47E3-9856-8D4215961E71}"/>
              </a:ext>
            </a:extLst>
          </p:cNvPr>
          <p:cNvSpPr>
            <a:spLocks xmlns:a="http://schemas.openxmlformats.org/drawingml/2006/main" noGrp="1"/>
          </p:cNvSpPr>
          <p:nvPr/>
        </p:nvSpPr>
        <p:spPr>
          <a:xfrm xmlns:a="http://schemas.openxmlformats.org/drawingml/2006/main">
            <a:off x="647700" y="11811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5C6A70"/>
                </a:solidFill>
                <a:latin typeface="Aptos"/>
                <a:ea typeface="Aptos"/>
                <a:cs typeface="Aptos"/>
              </a:defRPr>
            </a:pPr>
            <a:r>
              <a:rPr sz="1275" b="0" i="0">
                <a:solidFill>
                  <a:srgbClr val="5C6A70"/>
                </a:solidFill>
                <a:latin typeface="Aptos"/>
                <a:ea typeface="Aptos"/>
                <a:cs typeface="Aptos"/>
              </a:rPr>
              <a:t>The supervisor is deliberately simpler, transparent and independent from the candidate controller.</a:t>
            </a:r>
          </a:p>
        </p:txBody>
      </p:sp>
      <p:sp>
        <p:nvSpPr>
          <p:cNvPr id="4" name="">
            <a:extLst xmlns:a="http://schemas.openxmlformats.org/drawingml/2006/main">
              <a:ext uri="{FF2B5EF4-FFF2-40B4-BE49-F238E27FC236}">
                <a16:creationId xmlns:a16="http://schemas.microsoft.com/office/drawing/2014/main" id="{7554B5BA-8C17-4B9C-940D-A803C9BED414}"/>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776B88C-771E-4AEB-B5BB-088FDC90193D}"/>
              </a:ext>
            </a:extLst>
          </p:cNvPr>
          <p:cNvSpPr>
            <a:spLocks xmlns:a="http://schemas.openxmlformats.org/drawingml/2006/main" noGrp="1"/>
          </p:cNvSpPr>
          <p:nvPr/>
        </p:nvSpPr>
        <p:spPr>
          <a:xfrm xmlns:a="http://schemas.openxmlformats.org/drawingml/2006/main">
            <a:off x="685800" y="1962150"/>
            <a:ext cx="2724150" cy="3143250"/>
          </a:xfrm>
          <a:prstGeom xmlns:a="http://schemas.openxmlformats.org/drawingml/2006/main" prst="roundRect">
            <a:avLst>
              <a:gd name="adj" fmla="val 4196"/>
            </a:avLst>
          </a:prstGeom>
          <a:solidFill xmlns:a="http://schemas.openxmlformats.org/drawingml/2006/main">
            <a:srgbClr val="F6E9C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B3230E6-8C23-41A6-B215-0D30741D53BE}"/>
              </a:ext>
            </a:extLst>
          </p:cNvPr>
          <p:cNvSpPr>
            <a:spLocks xmlns:a="http://schemas.openxmlformats.org/drawingml/2006/main" noGrp="1"/>
          </p:cNvSpPr>
          <p:nvPr/>
        </p:nvSpPr>
        <p:spPr>
          <a:xfrm xmlns:a="http://schemas.openxmlformats.org/drawingml/2006/main">
            <a:off x="914400" y="217170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7A4C00"/>
                </a:solidFill>
                <a:latin typeface="Aptos"/>
                <a:ea typeface="Aptos"/>
                <a:cs typeface="Aptos"/>
              </a:defRPr>
            </a:pPr>
            <a:r>
              <a:rPr sz="1050" b="1" i="0">
                <a:solidFill>
                  <a:srgbClr val="7A4C00"/>
                </a:solidFill>
                <a:latin typeface="Aptos"/>
                <a:ea typeface="Aptos"/>
                <a:cs typeface="Aptos"/>
              </a:rPr>
              <a:t>CANDIDATE</a:t>
            </a:r>
          </a:p>
        </p:txBody>
      </p:sp>
      <p:sp>
        <p:nvSpPr>
          <p:cNvPr id="7" name="">
            <a:extLst xmlns:a="http://schemas.openxmlformats.org/drawingml/2006/main">
              <a:ext uri="{FF2B5EF4-FFF2-40B4-BE49-F238E27FC236}">
                <a16:creationId xmlns:a16="http://schemas.microsoft.com/office/drawing/2014/main" id="{E5BACD49-BBAE-4BB5-AEE7-66A287C3B045}"/>
              </a:ext>
            </a:extLst>
          </p:cNvPr>
          <p:cNvSpPr>
            <a:spLocks xmlns:a="http://schemas.openxmlformats.org/drawingml/2006/main" noGrp="1"/>
          </p:cNvSpPr>
          <p:nvPr/>
        </p:nvSpPr>
        <p:spPr>
          <a:xfrm xmlns:a="http://schemas.openxmlformats.org/drawingml/2006/main">
            <a:off x="914400" y="2705100"/>
            <a:ext cx="22669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319"/>
          </a:bodyPr>
          <a:lstStyle xmlns:a="http://schemas.openxmlformats.org/drawingml/2006/main"/>
          <a:p xmlns:a="http://schemas.openxmlformats.org/drawingml/2006/main">
            <a:pPr algn="ctr">
              <a:lnSpc>
                <a:spcPct val="122000"/>
              </a:lnSpc>
              <a:buNone/>
              <a:defRPr sz="1650" b="1" i="0">
                <a:solidFill>
                  <a:srgbClr val="182329"/>
                </a:solidFill>
                <a:latin typeface="Aptos"/>
                <a:ea typeface="Aptos"/>
                <a:cs typeface="Aptos"/>
              </a:defRPr>
            </a:pPr>
            <a:r>
              <a:rPr sz="1650" b="1" i="0">
                <a:solidFill>
                  <a:srgbClr val="182329"/>
                </a:solidFill>
                <a:latin typeface="Aptos"/>
                <a:ea typeface="Aptos"/>
                <a:cs typeface="Aptos"/>
              </a:rPr>
              <a:t>PID</a:t>
            </a:r>
          </a:p>
          <a:p xmlns:a="http://schemas.openxmlformats.org/drawingml/2006/main">
            <a:pPr algn="ctr">
              <a:lnSpc>
                <a:spcPct val="122000"/>
              </a:lnSpc>
              <a:buNone/>
              <a:defRPr sz="1650" b="1" i="0">
                <a:solidFill>
                  <a:srgbClr val="182329"/>
                </a:solidFill>
                <a:latin typeface="Aptos"/>
                <a:ea typeface="Aptos"/>
                <a:cs typeface="Aptos"/>
              </a:defRPr>
            </a:pPr>
            <a:r>
              <a:rPr sz="1650" b="1" i="0">
                <a:solidFill>
                  <a:srgbClr val="182329"/>
                </a:solidFill>
                <a:latin typeface="Aptos"/>
                <a:ea typeface="Aptos"/>
                <a:cs typeface="Aptos"/>
              </a:rPr>
              <a:t>MPC</a:t>
            </a:r>
          </a:p>
          <a:p xmlns:a="http://schemas.openxmlformats.org/drawingml/2006/main">
            <a:pPr algn="ctr">
              <a:lnSpc>
                <a:spcPct val="122000"/>
              </a:lnSpc>
              <a:buNone/>
              <a:defRPr sz="1650" b="1" i="0">
                <a:solidFill>
                  <a:srgbClr val="182329"/>
                </a:solidFill>
                <a:latin typeface="Aptos"/>
                <a:ea typeface="Aptos"/>
                <a:cs typeface="Aptos"/>
              </a:defRPr>
            </a:pPr>
            <a:r>
              <a:rPr sz="1650" b="1" i="0">
                <a:solidFill>
                  <a:srgbClr val="182329"/>
                </a:solidFill>
                <a:latin typeface="Aptos"/>
                <a:ea typeface="Aptos"/>
                <a:cs typeface="Aptos"/>
              </a:rPr>
              <a:t>Neural policy</a:t>
            </a:r>
          </a:p>
          <a:p xmlns:a="http://schemas.openxmlformats.org/drawingml/2006/main">
            <a:pPr algn="ctr">
              <a:lnSpc>
                <a:spcPct val="122000"/>
              </a:lnSpc>
              <a:buNone/>
              <a:defRPr sz="1650" b="1" i="0">
                <a:solidFill>
                  <a:srgbClr val="182329"/>
                </a:solidFill>
                <a:latin typeface="Aptos"/>
                <a:ea typeface="Aptos"/>
                <a:cs typeface="Aptos"/>
              </a:defRPr>
            </a:pPr>
            <a:r>
              <a:rPr sz="1650" b="1" i="0">
                <a:solidFill>
                  <a:srgbClr val="182329"/>
                </a:solidFill>
                <a:latin typeface="Aptos"/>
                <a:ea typeface="Aptos"/>
                <a:cs typeface="Aptos"/>
              </a:rPr>
              <a:t>Custom algorithm</a:t>
            </a:r>
          </a:p>
          <a:p xmlns:a="http://schemas.openxmlformats.org/drawingml/2006/main">
            <a:pPr algn="ctr">
              <a:lnSpc>
                <a:spcPct val="122000"/>
              </a:lnSpc>
              <a:buNone/>
              <a:defRPr sz="1650" b="1" i="0">
                <a:solidFill>
                  <a:srgbClr val="182329"/>
                </a:solidFill>
                <a:latin typeface="Aptos"/>
                <a:ea typeface="Aptos"/>
                <a:cs typeface="Aptos"/>
              </a:defRPr>
            </a:pPr>
            <a:r>
              <a:rPr sz="1650" b="1" i="0">
                <a:solidFill>
                  <a:srgbClr val="182329"/>
                </a:solidFill>
                <a:latin typeface="Aptos"/>
                <a:ea typeface="Aptos"/>
                <a:cs typeface="Aptos"/>
              </a:rPr>
              <a:t>LLM-assisted experiment</a:t>
            </a:r>
          </a:p>
        </p:txBody>
      </p:sp>
      <p:sp>
        <p:nvSpPr>
          <p:cNvPr id="8" name="">
            <a:extLst xmlns:a="http://schemas.openxmlformats.org/drawingml/2006/main">
              <a:ext uri="{FF2B5EF4-FFF2-40B4-BE49-F238E27FC236}">
                <a16:creationId xmlns:a16="http://schemas.microsoft.com/office/drawing/2014/main" id="{88D33E94-E7B1-4607-8A0B-EF205DC8DDD0}"/>
              </a:ext>
            </a:extLst>
          </p:cNvPr>
          <p:cNvSpPr>
            <a:spLocks xmlns:a="http://schemas.openxmlformats.org/drawingml/2006/main" noGrp="1"/>
          </p:cNvSpPr>
          <p:nvPr/>
        </p:nvSpPr>
        <p:spPr>
          <a:xfrm xmlns:a="http://schemas.openxmlformats.org/drawingml/2006/main">
            <a:off x="3562350" y="32575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444"/>
          </a:bodyPr>
          <a:lstStyle xmlns:a="http://schemas.openxmlformats.org/drawingml/2006/main"/>
          <a:p xmlns:a="http://schemas.openxmlformats.org/drawingml/2006/main">
            <a:pPr algn="ctr">
              <a:lnSpc>
                <a:spcPct val="100000"/>
              </a:lnSpc>
              <a:buNone/>
              <a:defRPr sz="2250" b="1" i="0">
                <a:solidFill>
                  <a:srgbClr val="C5534A"/>
                </a:solidFill>
                <a:latin typeface="Aptos"/>
                <a:ea typeface="Aptos"/>
                <a:cs typeface="Aptos"/>
              </a:defRPr>
            </a:pPr>
            <a:r>
              <a:rPr sz="2250" b="1" i="0">
                <a:solidFill>
                  <a:srgbClr val="C5534A"/>
                </a:solidFill>
                <a:latin typeface="Aptos"/>
                <a:ea typeface="Aptos"/>
                <a:cs typeface="Aptos"/>
              </a:rPr>
              <a:t>→</a:t>
            </a:r>
          </a:p>
        </p:txBody>
      </p:sp>
      <p:sp>
        <p:nvSpPr>
          <p:cNvPr id="9" name="">
            <a:extLst xmlns:a="http://schemas.openxmlformats.org/drawingml/2006/main">
              <a:ext uri="{FF2B5EF4-FFF2-40B4-BE49-F238E27FC236}">
                <a16:creationId xmlns:a16="http://schemas.microsoft.com/office/drawing/2014/main" id="{CD47637C-DDFB-458E-A5C0-25ED0BC1C1BD}"/>
              </a:ext>
            </a:extLst>
          </p:cNvPr>
          <p:cNvSpPr>
            <a:spLocks xmlns:a="http://schemas.openxmlformats.org/drawingml/2006/main" noGrp="1"/>
          </p:cNvSpPr>
          <p:nvPr/>
        </p:nvSpPr>
        <p:spPr>
          <a:xfrm xmlns:a="http://schemas.openxmlformats.org/drawingml/2006/main">
            <a:off x="4076700" y="1809750"/>
            <a:ext cx="4038600" cy="3467100"/>
          </a:xfrm>
          <a:prstGeom xmlns:a="http://schemas.openxmlformats.org/drawingml/2006/main" prst="roundRect">
            <a:avLst>
              <a:gd name="adj" fmla="val 3297"/>
            </a:avLst>
          </a:prstGeom>
          <a:solidFill xmlns:a="http://schemas.openxmlformats.org/drawingml/2006/main">
            <a:srgbClr val="C5534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4CA46B9-DE75-4D24-8326-9A15DF133707}"/>
              </a:ext>
            </a:extLst>
          </p:cNvPr>
          <p:cNvSpPr>
            <a:spLocks xmlns:a="http://schemas.openxmlformats.org/drawingml/2006/main" noGrp="1"/>
          </p:cNvSpPr>
          <p:nvPr/>
        </p:nvSpPr>
        <p:spPr>
          <a:xfrm xmlns:a="http://schemas.openxmlformats.org/drawingml/2006/main">
            <a:off x="4343400" y="2038350"/>
            <a:ext cx="350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FFFFFF"/>
                </a:solidFill>
                <a:latin typeface="Aptos"/>
                <a:ea typeface="Aptos"/>
                <a:cs typeface="Aptos"/>
              </a:defRPr>
            </a:pPr>
            <a:r>
              <a:rPr sz="1350" b="1" i="0">
                <a:solidFill>
                  <a:srgbClr val="FFFFFF"/>
                </a:solidFill>
                <a:latin typeface="Aptos"/>
                <a:ea typeface="Aptos"/>
                <a:cs typeface="Aptos"/>
              </a:rPr>
              <a:t>DETERMINISTIC SAFETY SUPERVISOR</a:t>
            </a:r>
          </a:p>
        </p:txBody>
      </p:sp>
      <p:sp>
        <p:nvSpPr>
          <p:cNvPr id="11" name="">
            <a:extLst xmlns:a="http://schemas.openxmlformats.org/drawingml/2006/main">
              <a:ext uri="{FF2B5EF4-FFF2-40B4-BE49-F238E27FC236}">
                <a16:creationId xmlns:a16="http://schemas.microsoft.com/office/drawing/2014/main" id="{930826E0-55B9-405C-A7E5-8F7F62B5CF00}"/>
              </a:ext>
            </a:extLst>
          </p:cNvPr>
          <p:cNvSpPr>
            <a:spLocks xmlns:a="http://schemas.openxmlformats.org/drawingml/2006/main" noGrp="1"/>
          </p:cNvSpPr>
          <p:nvPr/>
        </p:nvSpPr>
        <p:spPr>
          <a:xfrm xmlns:a="http://schemas.openxmlformats.org/drawingml/2006/main">
            <a:off x="4457700" y="2571750"/>
            <a:ext cx="32766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marL="20" indent="-10" algn="l">
              <a:lnSpc>
                <a:spcPct val="112000"/>
              </a:lnSpc>
              <a:buNone/>
              <a:defRPr sz="1275">
                <a:solidFill>
                  <a:srgbClr val="FFFFFF"/>
                </a:solidFill>
                <a:latin typeface="Aptos"/>
                <a:ea typeface="Aptos"/>
                <a:cs typeface="Aptos"/>
              </a:defRPr>
            </a:pPr>
            <a:r>
              <a:rPr sz="1275">
                <a:solidFill>
                  <a:srgbClr val="FFFFFF"/>
                </a:solidFill>
                <a:latin typeface="Aptos"/>
                <a:ea typeface="Aptos"/>
                <a:cs typeface="Aptos"/>
              </a:rPr>
              <a:t>hard hypo / severe-low stop</a:t>
            </a:r>
          </a:p>
          <a:p xmlns:a="http://schemas.openxmlformats.org/drawingml/2006/main">
            <a:pPr marL="20" indent="-10" algn="l">
              <a:lnSpc>
                <a:spcPct val="112000"/>
              </a:lnSpc>
              <a:buNone/>
              <a:defRPr sz="1275">
                <a:solidFill>
                  <a:srgbClr val="FFFFFF"/>
                </a:solidFill>
                <a:latin typeface="Aptos"/>
                <a:ea typeface="Aptos"/>
                <a:cs typeface="Aptos"/>
              </a:defRPr>
            </a:pPr>
            <a:r>
              <a:rPr sz="1275">
                <a:solidFill>
                  <a:srgbClr val="FFFFFF"/>
                </a:solidFill>
                <a:latin typeface="Aptos"/>
                <a:ea typeface="Aptos"/>
                <a:cs typeface="Aptos"/>
              </a:rPr>
              <a:t>maximum bolus and 60-minute dose</a:t>
            </a:r>
          </a:p>
          <a:p xmlns:a="http://schemas.openxmlformats.org/drawingml/2006/main">
            <a:pPr marL="20" indent="-10" algn="l">
              <a:lnSpc>
                <a:spcPct val="112000"/>
              </a:lnSpc>
              <a:buNone/>
              <a:defRPr sz="1275">
                <a:solidFill>
                  <a:srgbClr val="FFFFFF"/>
                </a:solidFill>
                <a:latin typeface="Aptos"/>
                <a:ea typeface="Aptos"/>
                <a:cs typeface="Aptos"/>
              </a:defRPr>
            </a:pPr>
            <a:r>
              <a:rPr sz="1275">
                <a:solidFill>
                  <a:srgbClr val="FFFFFF"/>
                </a:solidFill>
                <a:latin typeface="Aptos"/>
                <a:ea typeface="Aptos"/>
                <a:cs typeface="Aptos"/>
              </a:rPr>
              <a:t>IOB mass-balance clamp</a:t>
            </a:r>
          </a:p>
          <a:p xmlns:a="http://schemas.openxmlformats.org/drawingml/2006/main">
            <a:pPr marL="20" indent="-10" algn="l">
              <a:lnSpc>
                <a:spcPct val="112000"/>
              </a:lnSpc>
              <a:buNone/>
              <a:defRPr sz="1275">
                <a:solidFill>
                  <a:srgbClr val="FFFFFF"/>
                </a:solidFill>
                <a:latin typeface="Aptos"/>
                <a:ea typeface="Aptos"/>
                <a:cs typeface="Aptos"/>
              </a:defRPr>
            </a:pPr>
            <a:r>
              <a:rPr sz="1275">
                <a:solidFill>
                  <a:srgbClr val="FFFFFF"/>
                </a:solidFill>
                <a:latin typeface="Aptos"/>
                <a:ea typeface="Aptos"/>
                <a:cs typeface="Aptos"/>
              </a:rPr>
              <a:t>falling-trend and predicted-low guard</a:t>
            </a:r>
          </a:p>
          <a:p xmlns:a="http://schemas.openxmlformats.org/drawingml/2006/main">
            <a:pPr marL="20" indent="-10" algn="l">
              <a:lnSpc>
                <a:spcPct val="112000"/>
              </a:lnSpc>
              <a:buNone/>
              <a:defRPr sz="1275">
                <a:solidFill>
                  <a:srgbClr val="FFFFFF"/>
                </a:solidFill>
                <a:latin typeface="Aptos"/>
                <a:ea typeface="Aptos"/>
                <a:cs typeface="Aptos"/>
              </a:defRPr>
            </a:pPr>
            <a:r>
              <a:rPr sz="1275">
                <a:solidFill>
                  <a:srgbClr val="FFFFFF"/>
                </a:solidFill>
                <a:latin typeface="Aptos"/>
                <a:ea typeface="Aptos"/>
                <a:cs typeface="Aptos"/>
              </a:rPr>
              <a:t>sensor validity and dual-hormone caps</a:t>
            </a:r>
          </a:p>
        </p:txBody>
      </p:sp>
      <p:sp>
        <p:nvSpPr>
          <p:cNvPr id="12" name="">
            <a:extLst xmlns:a="http://schemas.openxmlformats.org/drawingml/2006/main">
              <a:ext uri="{FF2B5EF4-FFF2-40B4-BE49-F238E27FC236}">
                <a16:creationId xmlns:a16="http://schemas.microsoft.com/office/drawing/2014/main" id="{10297630-D49E-4F33-B900-6265445C3C15}"/>
              </a:ext>
            </a:extLst>
          </p:cNvPr>
          <p:cNvSpPr>
            <a:spLocks xmlns:a="http://schemas.openxmlformats.org/drawingml/2006/main" noGrp="1"/>
          </p:cNvSpPr>
          <p:nvPr/>
        </p:nvSpPr>
        <p:spPr>
          <a:xfrm xmlns:a="http://schemas.openxmlformats.org/drawingml/2006/main">
            <a:off x="4400550" y="4267200"/>
            <a:ext cx="3390900" cy="742950"/>
          </a:xfrm>
          <a:prstGeom xmlns:a="http://schemas.openxmlformats.org/drawingml/2006/main" prst="roundRect">
            <a:avLst>
              <a:gd name="adj" fmla="val 15385"/>
            </a:avLst>
          </a:prstGeom>
          <a:solidFill xmlns:a="http://schemas.openxmlformats.org/drawingml/2006/main">
            <a:srgbClr val="A13D3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2A3E05C-46A2-4638-A52F-6770129B1878}"/>
              </a:ext>
            </a:extLst>
          </p:cNvPr>
          <p:cNvSpPr>
            <a:spLocks xmlns:a="http://schemas.openxmlformats.org/drawingml/2006/main" noGrp="1"/>
          </p:cNvSpPr>
          <p:nvPr/>
        </p:nvSpPr>
        <p:spPr>
          <a:xfrm xmlns:a="http://schemas.openxmlformats.org/drawingml/2006/main">
            <a:off x="4572000" y="4410075"/>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FFFFFF"/>
                </a:solidFill>
                <a:latin typeface="Cambria Math"/>
                <a:ea typeface="Cambria Math"/>
                <a:cs typeface="Cambria Math"/>
              </a:defRPr>
            </a:pPr>
            <a:r>
              <a:rPr sz="1350" b="0" i="0">
                <a:solidFill>
                  <a:srgbClr val="FFFFFF"/>
                </a:solidFill>
                <a:latin typeface="Cambria Math"/>
                <a:ea typeface="Cambria Math"/>
                <a:cs typeface="Cambria Math"/>
              </a:rPr>
              <a:t>Gmomentum,30 = Gt + 30·vG</a:t>
            </a:r>
          </a:p>
          <a:p xmlns:a="http://schemas.openxmlformats.org/drawingml/2006/main">
            <a:pPr algn="ctr">
              <a:lnSpc>
                <a:spcPct val="100000"/>
              </a:lnSpc>
              <a:buNone/>
              <a:defRPr sz="1350" b="0" i="0">
                <a:solidFill>
                  <a:srgbClr val="FFFFFF"/>
                </a:solidFill>
                <a:latin typeface="Cambria Math"/>
                <a:ea typeface="Cambria Math"/>
                <a:cs typeface="Cambria Math"/>
              </a:defRPr>
            </a:pPr>
            <a:r>
              <a:rPr sz="1350" b="0" i="0">
                <a:solidFill>
                  <a:srgbClr val="FFFFFF"/>
                </a:solidFill>
                <a:latin typeface="Cambria Math"/>
                <a:ea typeface="Cambria Math"/>
                <a:cs typeface="Cambria Math"/>
              </a:rPr>
              <a:t>≤ severe low  ⇒  approved insulin = 0</a:t>
            </a:r>
          </a:p>
        </p:txBody>
      </p:sp>
      <p:sp>
        <p:nvSpPr>
          <p:cNvPr id="14" name="">
            <a:extLst xmlns:a="http://schemas.openxmlformats.org/drawingml/2006/main">
              <a:ext uri="{FF2B5EF4-FFF2-40B4-BE49-F238E27FC236}">
                <a16:creationId xmlns:a16="http://schemas.microsoft.com/office/drawing/2014/main" id="{6C8D3D9E-7F3D-45BA-BF6F-19F9BD8541B2}"/>
              </a:ext>
            </a:extLst>
          </p:cNvPr>
          <p:cNvSpPr>
            <a:spLocks xmlns:a="http://schemas.openxmlformats.org/drawingml/2006/main" noGrp="1"/>
          </p:cNvSpPr>
          <p:nvPr/>
        </p:nvSpPr>
        <p:spPr>
          <a:xfrm xmlns:a="http://schemas.openxmlformats.org/drawingml/2006/main">
            <a:off x="8267700" y="32575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444"/>
          </a:bodyPr>
          <a:lstStyle xmlns:a="http://schemas.openxmlformats.org/drawingml/2006/main"/>
          <a:p xmlns:a="http://schemas.openxmlformats.org/drawingml/2006/main">
            <a:pPr algn="ctr">
              <a:lnSpc>
                <a:spcPct val="100000"/>
              </a:lnSpc>
              <a:buNone/>
              <a:defRPr sz="2250" b="1" i="0">
                <a:solidFill>
                  <a:srgbClr val="0C3B32"/>
                </a:solidFill>
                <a:latin typeface="Aptos"/>
                <a:ea typeface="Aptos"/>
                <a:cs typeface="Aptos"/>
              </a:defRPr>
            </a:pPr>
            <a:r>
              <a:rPr sz="2250" b="1" i="0">
                <a:solidFill>
                  <a:srgbClr val="0C3B32"/>
                </a:solidFill>
                <a:latin typeface="Aptos"/>
                <a:ea typeface="Aptos"/>
                <a:cs typeface="Aptos"/>
              </a:rPr>
              <a:t>→</a:t>
            </a:r>
          </a:p>
        </p:txBody>
      </p:sp>
      <p:sp>
        <p:nvSpPr>
          <p:cNvPr id="15" name="">
            <a:extLst xmlns:a="http://schemas.openxmlformats.org/drawingml/2006/main">
              <a:ext uri="{FF2B5EF4-FFF2-40B4-BE49-F238E27FC236}">
                <a16:creationId xmlns:a16="http://schemas.microsoft.com/office/drawing/2014/main" id="{4FCCB021-E1D4-4044-9E2D-51373EF0AF1E}"/>
              </a:ext>
            </a:extLst>
          </p:cNvPr>
          <p:cNvSpPr>
            <a:spLocks xmlns:a="http://schemas.openxmlformats.org/drawingml/2006/main" noGrp="1"/>
          </p:cNvSpPr>
          <p:nvPr/>
        </p:nvSpPr>
        <p:spPr>
          <a:xfrm xmlns:a="http://schemas.openxmlformats.org/drawingml/2006/main">
            <a:off x="8782050" y="1962150"/>
            <a:ext cx="2724150" cy="3143250"/>
          </a:xfrm>
          <a:prstGeom xmlns:a="http://schemas.openxmlformats.org/drawingml/2006/main" prst="roundRect">
            <a:avLst>
              <a:gd name="adj" fmla="val 4196"/>
            </a:avLst>
          </a:prstGeom>
          <a:solidFill xmlns:a="http://schemas.openxmlformats.org/drawingml/2006/main">
            <a:srgbClr val="E4EEE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9640B37-3713-45D0-9ADD-4FA7C59864F6}"/>
              </a:ext>
            </a:extLst>
          </p:cNvPr>
          <p:cNvSpPr>
            <a:spLocks xmlns:a="http://schemas.openxmlformats.org/drawingml/2006/main" noGrp="1"/>
          </p:cNvSpPr>
          <p:nvPr/>
        </p:nvSpPr>
        <p:spPr>
          <a:xfrm xmlns:a="http://schemas.openxmlformats.org/drawingml/2006/main">
            <a:off x="9010650" y="217170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0C3B32"/>
                </a:solidFill>
                <a:latin typeface="Aptos"/>
                <a:ea typeface="Aptos"/>
                <a:cs typeface="Aptos"/>
              </a:defRPr>
            </a:pPr>
            <a:r>
              <a:rPr sz="1050" b="1" i="0">
                <a:solidFill>
                  <a:srgbClr val="0C3B32"/>
                </a:solidFill>
                <a:latin typeface="Aptos"/>
                <a:ea typeface="Aptos"/>
                <a:cs typeface="Aptos"/>
              </a:rPr>
              <a:t>APPLIED ACTION</a:t>
            </a:r>
          </a:p>
        </p:txBody>
      </p:sp>
      <p:sp>
        <p:nvSpPr>
          <p:cNvPr id="17" name="">
            <a:extLst xmlns:a="http://schemas.openxmlformats.org/drawingml/2006/main">
              <a:ext uri="{FF2B5EF4-FFF2-40B4-BE49-F238E27FC236}">
                <a16:creationId xmlns:a16="http://schemas.microsoft.com/office/drawing/2014/main" id="{65BB3659-B5EF-417B-AB67-0A17A4C8A6F1}"/>
              </a:ext>
            </a:extLst>
          </p:cNvPr>
          <p:cNvSpPr>
            <a:spLocks xmlns:a="http://schemas.openxmlformats.org/drawingml/2006/main" noGrp="1"/>
          </p:cNvSpPr>
          <p:nvPr/>
        </p:nvSpPr>
        <p:spPr>
          <a:xfrm xmlns:a="http://schemas.openxmlformats.org/drawingml/2006/main">
            <a:off x="9010650" y="2724150"/>
            <a:ext cx="22669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374"/>
          </a:bodyPr>
          <a:lstStyle xmlns:a="http://schemas.openxmlformats.org/drawingml/2006/main"/>
          <a:p xmlns:a="http://schemas.openxmlformats.org/drawingml/2006/main">
            <a:pPr algn="ctr">
              <a:lnSpc>
                <a:spcPct val="112000"/>
              </a:lnSpc>
              <a:buNone/>
              <a:defRPr sz="2025" b="1" i="0">
                <a:solidFill>
                  <a:srgbClr val="0C3B32"/>
                </a:solidFill>
                <a:latin typeface="Aptos"/>
                <a:ea typeface="Aptos"/>
                <a:cs typeface="Aptos"/>
              </a:defRPr>
            </a:pPr>
            <a:r>
              <a:rPr sz="2025" b="1" i="0">
                <a:solidFill>
                  <a:srgbClr val="0C3B32"/>
                </a:solidFill>
                <a:latin typeface="Aptos"/>
                <a:ea typeface="Aptos"/>
                <a:cs typeface="Aptos"/>
              </a:rPr>
              <a:t>ACCEPTED</a:t>
            </a:r>
          </a:p>
          <a:p xmlns:a="http://schemas.openxmlformats.org/drawingml/2006/main">
            <a:r>
              <a:t/>
            </a:r>
          </a:p>
          <a:p xmlns:a="http://schemas.openxmlformats.org/drawingml/2006/main">
            <a:pPr algn="ctr">
              <a:lnSpc>
                <a:spcPct val="112000"/>
              </a:lnSpc>
              <a:buNone/>
              <a:defRPr sz="2025" b="1" i="0">
                <a:solidFill>
                  <a:srgbClr val="0C3B32"/>
                </a:solidFill>
                <a:latin typeface="Aptos"/>
                <a:ea typeface="Aptos"/>
                <a:cs typeface="Aptos"/>
              </a:defRPr>
            </a:pPr>
            <a:r>
              <a:rPr sz="2025" b="1" i="0">
                <a:solidFill>
                  <a:srgbClr val="0C3B32"/>
                </a:solidFill>
                <a:latin typeface="Aptos"/>
                <a:ea typeface="Aptos"/>
                <a:cs typeface="Aptos"/>
              </a:rPr>
              <a:t>REDUCED</a:t>
            </a:r>
          </a:p>
          <a:p xmlns:a="http://schemas.openxmlformats.org/drawingml/2006/main">
            <a:r>
              <a:t/>
            </a:r>
          </a:p>
          <a:p xmlns:a="http://schemas.openxmlformats.org/drawingml/2006/main">
            <a:pPr algn="ctr">
              <a:lnSpc>
                <a:spcPct val="112000"/>
              </a:lnSpc>
              <a:buNone/>
              <a:defRPr sz="2025" b="1" i="0">
                <a:solidFill>
                  <a:srgbClr val="0C3B32"/>
                </a:solidFill>
                <a:latin typeface="Aptos"/>
                <a:ea typeface="Aptos"/>
                <a:cs typeface="Aptos"/>
              </a:defRPr>
            </a:pPr>
            <a:r>
              <a:rPr sz="2025" b="1" i="0">
                <a:solidFill>
                  <a:srgbClr val="0C3B32"/>
                </a:solidFill>
                <a:latin typeface="Aptos"/>
                <a:ea typeface="Aptos"/>
                <a:cs typeface="Aptos"/>
              </a:rPr>
              <a:t>BLOCKED</a:t>
            </a:r>
          </a:p>
        </p:txBody>
      </p:sp>
      <p:sp>
        <p:nvSpPr>
          <p:cNvPr id="18" name="">
            <a:extLst xmlns:a="http://schemas.openxmlformats.org/drawingml/2006/main">
              <a:ext uri="{FF2B5EF4-FFF2-40B4-BE49-F238E27FC236}">
                <a16:creationId xmlns:a16="http://schemas.microsoft.com/office/drawing/2014/main" id="{88C11FEA-2F22-4181-BA8D-DF3A77BED7D1}"/>
              </a:ext>
            </a:extLst>
          </p:cNvPr>
          <p:cNvSpPr>
            <a:spLocks xmlns:a="http://schemas.openxmlformats.org/drawingml/2006/main" noGrp="1"/>
          </p:cNvSpPr>
          <p:nvPr/>
        </p:nvSpPr>
        <p:spPr>
          <a:xfrm xmlns:a="http://schemas.openxmlformats.org/drawingml/2006/main">
            <a:off x="9010650" y="44577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i="0">
                <a:solidFill>
                  <a:srgbClr val="5C6A70"/>
                </a:solidFill>
                <a:latin typeface="Aptos"/>
                <a:ea typeface="Aptos"/>
                <a:cs typeface="Aptos"/>
              </a:defRPr>
            </a:pPr>
            <a:r>
              <a:rPr sz="1200" b="0" i="0">
                <a:solidFill>
                  <a:srgbClr val="5C6A70"/>
                </a:solidFill>
                <a:latin typeface="Aptos"/>
                <a:ea typeface="Aptos"/>
                <a:cs typeface="Aptos"/>
              </a:rPr>
              <a:t>+ reason, limits and trace</a:t>
            </a:r>
          </a:p>
        </p:txBody>
      </p:sp>
      <p:sp>
        <p:nvSpPr>
          <p:cNvPr id="19" name="">
            <a:extLst xmlns:a="http://schemas.openxmlformats.org/drawingml/2006/main">
              <a:ext uri="{FF2B5EF4-FFF2-40B4-BE49-F238E27FC236}">
                <a16:creationId xmlns:a16="http://schemas.microsoft.com/office/drawing/2014/main" id="{60C8F977-91B8-4E3F-A7C1-25AF7C1F50C0}"/>
              </a:ext>
            </a:extLst>
          </p:cNvPr>
          <p:cNvSpPr>
            <a:spLocks xmlns:a="http://schemas.openxmlformats.org/drawingml/2006/main" noGrp="1"/>
          </p:cNvSpPr>
          <p:nvPr/>
        </p:nvSpPr>
        <p:spPr>
          <a:xfrm xmlns:a="http://schemas.openxmlformats.org/drawingml/2006/main">
            <a:off x="1981200" y="5638800"/>
            <a:ext cx="822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C5534A"/>
                </a:solidFill>
                <a:latin typeface="Aptos"/>
                <a:ea typeface="Aptos"/>
                <a:cs typeface="Aptos"/>
              </a:defRPr>
            </a:pPr>
            <a:r>
              <a:rPr sz="1575" b="1" i="0">
                <a:solidFill>
                  <a:srgbClr val="C5534A"/>
                </a:solidFill>
                <a:latin typeface="Aptos"/>
                <a:ea typeface="Aptos"/>
                <a:cs typeface="Aptos"/>
              </a:rPr>
              <a:t>Safety rules reduce risk in simulation; they do not prove clinical safety.</a:t>
            </a:r>
          </a:p>
        </p:txBody>
      </p:sp>
      <p:sp>
        <p:nvSpPr>
          <p:cNvPr id="20" name="">
            <a:extLst xmlns:a="http://schemas.openxmlformats.org/drawingml/2006/main">
              <a:ext uri="{FF2B5EF4-FFF2-40B4-BE49-F238E27FC236}">
                <a16:creationId xmlns:a16="http://schemas.microsoft.com/office/drawing/2014/main" id="{F01A13A4-FE88-4EA5-A9CD-A142C4216FDA}"/>
              </a:ext>
            </a:extLst>
          </p:cNvPr>
          <p:cNvSpPr>
            <a:spLocks xmlns:a="http://schemas.openxmlformats.org/drawingml/2006/main" noGrp="1"/>
          </p:cNvSpPr>
          <p:nvPr/>
        </p:nvSpPr>
        <p:spPr>
          <a:xfrm xmlns:a="http://schemas.openxmlformats.org/drawingml/2006/main">
            <a:off x="647700" y="621030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0" i="0">
                <a:solidFill>
                  <a:srgbClr val="5C6A70"/>
                </a:solidFill>
                <a:latin typeface="Aptos"/>
                <a:ea typeface="Aptos"/>
                <a:cs typeface="Aptos"/>
              </a:defRPr>
            </a:pPr>
            <a:r>
              <a:rPr sz="750" b="0" i="0">
                <a:solidFill>
                  <a:srgbClr val="5C6A70"/>
                </a:solidFill>
                <a:latin typeface="Aptos"/>
                <a:ea typeface="Aptos"/>
                <a:cs typeface="Aptos"/>
              </a:rPr>
              <a:t>Implementation: src/iints/core/supervisor.py and src/iints/core/safety/.</a:t>
            </a:r>
          </a:p>
        </p:txBody>
      </p:sp>
      <p:sp>
        <p:nvSpPr>
          <p:cNvPr id="21" name="">
            <a:extLst xmlns:a="http://schemas.openxmlformats.org/drawingml/2006/main">
              <a:ext uri="{FF2B5EF4-FFF2-40B4-BE49-F238E27FC236}">
                <a16:creationId xmlns:a16="http://schemas.microsoft.com/office/drawing/2014/main" id="{B401861D-2414-4640-A436-441CB19C5596}"/>
              </a:ext>
            </a:extLst>
          </p:cNvPr>
          <p:cNvSpPr>
            <a:spLocks xmlns:a="http://schemas.openxmlformats.org/drawingml/2006/main" noGrp="1"/>
          </p:cNvSpPr>
          <p:nvPr/>
        </p:nvSpPr>
        <p:spPr>
          <a:xfrm xmlns:a="http://schemas.openxmlformats.org/drawingml/2006/main">
            <a:off x="647700" y="6467475"/>
            <a:ext cx="10896600" cy="9525"/>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35EE3BC-8FDB-4322-AEFD-29B536197B91}"/>
              </a:ext>
            </a:extLst>
          </p:cNvPr>
          <p:cNvSpPr>
            <a:spLocks xmlns:a="http://schemas.openxmlformats.org/drawingml/2006/main" noGrp="1"/>
          </p:cNvSpPr>
          <p:nvPr/>
        </p:nvSpPr>
        <p:spPr>
          <a:xfrm xmlns:a="http://schemas.openxmlformats.org/drawingml/2006/main">
            <a:off x="647700" y="6553200"/>
            <a:ext cx="495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C6A70"/>
                </a:solidFill>
                <a:latin typeface="Aptos"/>
                <a:ea typeface="Aptos"/>
                <a:cs typeface="Aptos"/>
              </a:defRPr>
            </a:pPr>
            <a:r>
              <a:rPr sz="750" b="1" i="0">
                <a:solidFill>
                  <a:srgbClr val="5C6A70"/>
                </a:solidFill>
                <a:latin typeface="Aptos"/>
                <a:ea typeface="Aptos"/>
                <a:cs typeface="Aptos"/>
              </a:rPr>
              <a:t>RESEARCH &amp; EDUCATION ONLY · NOT A MEDICAL DEVICE</a:t>
            </a:r>
          </a:p>
        </p:txBody>
      </p:sp>
      <p:sp>
        <p:nvSpPr>
          <p:cNvPr id="23" name="">
            <a:extLst xmlns:a="http://schemas.openxmlformats.org/drawingml/2006/main">
              <a:ext uri="{FF2B5EF4-FFF2-40B4-BE49-F238E27FC236}">
                <a16:creationId xmlns:a16="http://schemas.microsoft.com/office/drawing/2014/main" id="{BB0BB4F5-C2FE-4865-BF58-106A86539864}"/>
              </a:ext>
            </a:extLst>
          </p:cNvPr>
          <p:cNvSpPr>
            <a:spLocks xmlns:a="http://schemas.openxmlformats.org/drawingml/2006/main" noGrp="1"/>
          </p:cNvSpPr>
          <p:nvPr/>
        </p:nvSpPr>
        <p:spPr>
          <a:xfrm xmlns:a="http://schemas.openxmlformats.org/drawingml/2006/main">
            <a:off x="11096625" y="6534150"/>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1" i="0">
                <a:solidFill>
                  <a:srgbClr val="0C3B32"/>
                </a:solidFill>
                <a:latin typeface="Aptos"/>
                <a:ea typeface="Aptos"/>
                <a:cs typeface="Aptos"/>
              </a:defRPr>
            </a:pPr>
            <a:r>
              <a:rPr sz="900" b="1" i="0">
                <a:solidFill>
                  <a:srgbClr val="0C3B32"/>
                </a:solidFill>
                <a:latin typeface="Aptos"/>
                <a:ea typeface="Aptos"/>
                <a:cs typeface="Aptos"/>
              </a:rPr>
              <a:t>09</a:t>
            </a:r>
          </a:p>
        </p:txBody>
      </p:sp>
    </p:spTree>
    <p:extLst>
      <p:ext uri="{BB962C8B-B14F-4D97-AF65-F5344CB8AC3E}">
        <p14:creationId xmlns:p14="http://schemas.microsoft.com/office/powerpoint/2010/main" val="211785030"/>
      </p:ext>
    </p:extLst>
  </p:cSld>
</p:sld>
</file>

<file path=ppt/slides/slide10.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860F7E4-6D33-4946-B480-5B05C05DDE7B}"/>
              </a:ext>
            </a:extLst>
          </p:cNvPr>
          <p:cNvSpPr>
            <a:spLocks xmlns:a="http://schemas.openxmlformats.org/drawingml/2006/main" noGrp="1"/>
          </p:cNvSpPr>
          <p:nvPr/>
        </p:nvSpPr>
        <p:spPr>
          <a:xfrm xmlns:a="http://schemas.openxmlformats.org/drawingml/2006/main">
            <a:off x="647700" y="3429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E7D8A"/>
                </a:solidFill>
                <a:latin typeface="Aptos"/>
                <a:ea typeface="Aptos"/>
                <a:cs typeface="Aptos"/>
              </a:defRPr>
            </a:pPr>
            <a:r>
              <a:rPr sz="900" b="1" i="0">
                <a:solidFill>
                  <a:srgbClr val="2E7D8A"/>
                </a:solidFill>
                <a:latin typeface="Aptos"/>
                <a:ea typeface="Aptos"/>
                <a:cs typeface="Aptos"/>
              </a:rPr>
              <a:t>ARTIFICIAL INTELLIGENCE</a:t>
            </a:r>
          </a:p>
        </p:txBody>
      </p:sp>
      <p:sp>
        <p:nvSpPr>
          <p:cNvPr id="2" name="">
            <a:extLst xmlns:a="http://schemas.openxmlformats.org/drawingml/2006/main">
              <a:ext uri="{FF2B5EF4-FFF2-40B4-BE49-F238E27FC236}">
                <a16:creationId xmlns:a16="http://schemas.microsoft.com/office/drawing/2014/main" id="{C96F991F-6F99-4E58-B765-4F2E1F7C93F1}"/>
              </a:ext>
            </a:extLst>
          </p:cNvPr>
          <p:cNvSpPr>
            <a:spLocks xmlns:a="http://schemas.openxmlformats.org/drawingml/2006/main" noGrp="1"/>
          </p:cNvSpPr>
          <p:nvPr/>
        </p:nvSpPr>
        <p:spPr>
          <a:xfrm xmlns:a="http://schemas.openxmlformats.org/drawingml/2006/main">
            <a:off x="6477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00" b="1" i="0">
                <a:solidFill>
                  <a:srgbClr val="0C3B32"/>
                </a:solidFill>
                <a:latin typeface="Aptos Display"/>
                <a:ea typeface="Aptos Display"/>
                <a:cs typeface="Aptos Display"/>
              </a:defRPr>
            </a:pPr>
            <a:r>
              <a:rPr sz="3000" b="1" i="0">
                <a:solidFill>
                  <a:srgbClr val="0C3B32"/>
                </a:solidFill>
                <a:latin typeface="Aptos Display"/>
                <a:ea typeface="Aptos Display"/>
                <a:cs typeface="Aptos Display"/>
              </a:rPr>
              <a:t>Three AI roles—with three different safety boundaries</a:t>
            </a:r>
          </a:p>
        </p:txBody>
      </p:sp>
      <p:sp>
        <p:nvSpPr>
          <p:cNvPr id="3" name="">
            <a:extLst xmlns:a="http://schemas.openxmlformats.org/drawingml/2006/main">
              <a:ext uri="{FF2B5EF4-FFF2-40B4-BE49-F238E27FC236}">
                <a16:creationId xmlns:a16="http://schemas.microsoft.com/office/drawing/2014/main" id="{A5328376-518D-4339-8656-434AC7411C77}"/>
              </a:ext>
            </a:extLst>
          </p:cNvPr>
          <p:cNvSpPr>
            <a:spLocks xmlns:a="http://schemas.openxmlformats.org/drawingml/2006/main" noGrp="1"/>
          </p:cNvSpPr>
          <p:nvPr/>
        </p:nvSpPr>
        <p:spPr>
          <a:xfrm xmlns:a="http://schemas.openxmlformats.org/drawingml/2006/main">
            <a:off x="647700" y="11811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5C6A70"/>
                </a:solidFill>
                <a:latin typeface="Aptos"/>
                <a:ea typeface="Aptos"/>
                <a:cs typeface="Aptos"/>
              </a:defRPr>
            </a:pPr>
            <a:r>
              <a:rPr sz="1275" b="0" i="0">
                <a:solidFill>
                  <a:srgbClr val="5C6A70"/>
                </a:solidFill>
                <a:latin typeface="Aptos"/>
                <a:ea typeface="Aptos"/>
                <a:cs typeface="Aptos"/>
              </a:rPr>
              <a:t>The SDK does not treat every AI component as the same kind of intelligence.</a:t>
            </a:r>
          </a:p>
        </p:txBody>
      </p:sp>
      <p:sp>
        <p:nvSpPr>
          <p:cNvPr id="4" name="">
            <a:extLst xmlns:a="http://schemas.openxmlformats.org/drawingml/2006/main">
              <a:ext uri="{FF2B5EF4-FFF2-40B4-BE49-F238E27FC236}">
                <a16:creationId xmlns:a16="http://schemas.microsoft.com/office/drawing/2014/main" id="{9534E1AF-67B0-4CF8-8B95-6E23881AF705}"/>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EB56A00-12AA-4B79-9E43-98EFCD1AF22D}"/>
              </a:ext>
            </a:extLst>
          </p:cNvPr>
          <p:cNvSpPr>
            <a:spLocks xmlns:a="http://schemas.openxmlformats.org/drawingml/2006/main" noGrp="1"/>
          </p:cNvSpPr>
          <p:nvPr/>
        </p:nvSpPr>
        <p:spPr>
          <a:xfrm xmlns:a="http://schemas.openxmlformats.org/drawingml/2006/main">
            <a:off x="647700" y="1981200"/>
            <a:ext cx="3200400" cy="3295650"/>
          </a:xfrm>
          <a:prstGeom xmlns:a="http://schemas.openxmlformats.org/drawingml/2006/main" prst="roundRect">
            <a:avLst>
              <a:gd name="adj" fmla="val 3571"/>
            </a:avLst>
          </a:prstGeom>
          <a:solidFill xmlns:a="http://schemas.openxmlformats.org/drawingml/2006/main">
            <a:srgbClr val="E7F0F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D8EB04F-DF82-4B02-817D-16B51235F370}"/>
              </a:ext>
            </a:extLst>
          </p:cNvPr>
          <p:cNvSpPr>
            <a:spLocks xmlns:a="http://schemas.openxmlformats.org/drawingml/2006/main" noGrp="1"/>
          </p:cNvSpPr>
          <p:nvPr/>
        </p:nvSpPr>
        <p:spPr>
          <a:xfrm xmlns:a="http://schemas.openxmlformats.org/drawingml/2006/main">
            <a:off x="857250" y="2171700"/>
            <a:ext cx="2781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173A52"/>
                </a:solidFill>
                <a:latin typeface="Aptos"/>
                <a:ea typeface="Aptos"/>
                <a:cs typeface="Aptos"/>
              </a:defRPr>
            </a:pPr>
            <a:r>
              <a:rPr sz="975" b="1" i="0">
                <a:solidFill>
                  <a:srgbClr val="173A52"/>
                </a:solidFill>
                <a:latin typeface="Aptos"/>
                <a:ea typeface="Aptos"/>
                <a:cs typeface="Aptos"/>
              </a:rPr>
              <a:t>01 · EXPLAIN</a:t>
            </a:r>
          </a:p>
        </p:txBody>
      </p:sp>
      <p:sp>
        <p:nvSpPr>
          <p:cNvPr id="7" name="">
            <a:extLst xmlns:a="http://schemas.openxmlformats.org/drawingml/2006/main">
              <a:ext uri="{FF2B5EF4-FFF2-40B4-BE49-F238E27FC236}">
                <a16:creationId xmlns:a16="http://schemas.microsoft.com/office/drawing/2014/main" id="{533F0432-ACDC-47A2-AEA9-DFA00F5691D9}"/>
              </a:ext>
            </a:extLst>
          </p:cNvPr>
          <p:cNvSpPr>
            <a:spLocks xmlns:a="http://schemas.openxmlformats.org/drawingml/2006/main" noGrp="1"/>
          </p:cNvSpPr>
          <p:nvPr/>
        </p:nvSpPr>
        <p:spPr>
          <a:xfrm xmlns:a="http://schemas.openxmlformats.org/drawingml/2006/main">
            <a:off x="857250" y="2514600"/>
            <a:ext cx="2781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0C3B32"/>
                </a:solidFill>
                <a:latin typeface="Aptos Display"/>
                <a:ea typeface="Aptos Display"/>
                <a:cs typeface="Aptos Display"/>
              </a:defRPr>
            </a:pPr>
            <a:r>
              <a:rPr sz="1950" b="1" i="0">
                <a:solidFill>
                  <a:srgbClr val="0C3B32"/>
                </a:solidFill>
                <a:latin typeface="Aptos Display"/>
                <a:ea typeface="Aptos Display"/>
                <a:cs typeface="Aptos Display"/>
              </a:rPr>
              <a:t>Local language model</a:t>
            </a:r>
          </a:p>
        </p:txBody>
      </p:sp>
      <p:sp>
        <p:nvSpPr>
          <p:cNvPr id="8" name="">
            <a:extLst xmlns:a="http://schemas.openxmlformats.org/drawingml/2006/main">
              <a:ext uri="{FF2B5EF4-FFF2-40B4-BE49-F238E27FC236}">
                <a16:creationId xmlns:a16="http://schemas.microsoft.com/office/drawing/2014/main" id="{EC0E1272-FAA7-489F-9BFC-DB60560639B3}"/>
              </a:ext>
            </a:extLst>
          </p:cNvPr>
          <p:cNvSpPr>
            <a:spLocks xmlns:a="http://schemas.openxmlformats.org/drawingml/2006/main" noGrp="1"/>
          </p:cNvSpPr>
          <p:nvPr/>
        </p:nvSpPr>
        <p:spPr>
          <a:xfrm xmlns:a="http://schemas.openxmlformats.org/drawingml/2006/main">
            <a:off x="857250" y="3124200"/>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5C6A70"/>
                </a:solidFill>
                <a:latin typeface="Aptos"/>
                <a:ea typeface="Aptos"/>
                <a:cs typeface="Aptos"/>
              </a:defRPr>
            </a:pPr>
            <a:r>
              <a:rPr sz="1200" b="0" i="0">
                <a:solidFill>
                  <a:srgbClr val="5C6A70"/>
                </a:solidFill>
                <a:latin typeface="Aptos"/>
                <a:ea typeface="Aptos"/>
                <a:cs typeface="Aptos"/>
              </a:rPr>
              <a:t>Mistral / Ministral through Ollama or API</a:t>
            </a:r>
          </a:p>
        </p:txBody>
      </p:sp>
      <p:sp>
        <p:nvSpPr>
          <p:cNvPr id="9" name="">
            <a:extLst xmlns:a="http://schemas.openxmlformats.org/drawingml/2006/main">
              <a:ext uri="{FF2B5EF4-FFF2-40B4-BE49-F238E27FC236}">
                <a16:creationId xmlns:a16="http://schemas.microsoft.com/office/drawing/2014/main" id="{0DFE0FEA-0CB7-40E8-AC02-49EDD7B79099}"/>
              </a:ext>
            </a:extLst>
          </p:cNvPr>
          <p:cNvSpPr>
            <a:spLocks xmlns:a="http://schemas.openxmlformats.org/drawingml/2006/main" noGrp="1"/>
          </p:cNvSpPr>
          <p:nvPr/>
        </p:nvSpPr>
        <p:spPr>
          <a:xfrm xmlns:a="http://schemas.openxmlformats.org/drawingml/2006/main">
            <a:off x="857250" y="3714750"/>
            <a:ext cx="2781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marL="18" indent="-9" algn="l">
              <a:lnSpc>
                <a:spcPct val="110000"/>
              </a:lnSpc>
              <a:buNone/>
              <a:defRPr sz="1275">
                <a:solidFill>
                  <a:srgbClr val="182329"/>
                </a:solidFill>
                <a:latin typeface="Aptos"/>
                <a:ea typeface="Aptos"/>
                <a:cs typeface="Aptos"/>
              </a:defRPr>
            </a:pPr>
            <a:r>
              <a:rPr sz="1275">
                <a:solidFill>
                  <a:srgbClr val="182329"/>
                </a:solidFill>
                <a:latin typeface="Aptos"/>
                <a:ea typeface="Aptos"/>
                <a:cs typeface="Aptos"/>
              </a:rPr>
              <a:t>summarise a run</a:t>
            </a:r>
          </a:p>
          <a:p xmlns:a="http://schemas.openxmlformats.org/drawingml/2006/main">
            <a:pPr marL="18" indent="-9" algn="l">
              <a:lnSpc>
                <a:spcPct val="110000"/>
              </a:lnSpc>
              <a:buNone/>
              <a:defRPr sz="1275">
                <a:solidFill>
                  <a:srgbClr val="182329"/>
                </a:solidFill>
                <a:latin typeface="Aptos"/>
                <a:ea typeface="Aptos"/>
                <a:cs typeface="Aptos"/>
              </a:defRPr>
            </a:pPr>
            <a:r>
              <a:rPr sz="1275">
                <a:solidFill>
                  <a:srgbClr val="182329"/>
                </a:solidFill>
                <a:latin typeface="Aptos"/>
                <a:ea typeface="Aptos"/>
                <a:cs typeface="Aptos"/>
              </a:rPr>
              <a:t>explain anomalies</a:t>
            </a:r>
          </a:p>
          <a:p xmlns:a="http://schemas.openxmlformats.org/drawingml/2006/main">
            <a:pPr marL="18" indent="-9" algn="l">
              <a:lnSpc>
                <a:spcPct val="110000"/>
              </a:lnSpc>
              <a:buNone/>
              <a:defRPr sz="1275">
                <a:solidFill>
                  <a:srgbClr val="182329"/>
                </a:solidFill>
                <a:latin typeface="Aptos"/>
                <a:ea typeface="Aptos"/>
                <a:cs typeface="Aptos"/>
              </a:defRPr>
            </a:pPr>
            <a:r>
              <a:rPr sz="1275">
                <a:solidFill>
                  <a:srgbClr val="182329"/>
                </a:solidFill>
                <a:latin typeface="Aptos"/>
                <a:ea typeface="Aptos"/>
                <a:cs typeface="Aptos"/>
              </a:rPr>
              <a:t>index evidence</a:t>
            </a:r>
          </a:p>
        </p:txBody>
      </p:sp>
      <p:sp>
        <p:nvSpPr>
          <p:cNvPr id="10" name="">
            <a:extLst xmlns:a="http://schemas.openxmlformats.org/drawingml/2006/main">
              <a:ext uri="{FF2B5EF4-FFF2-40B4-BE49-F238E27FC236}">
                <a16:creationId xmlns:a16="http://schemas.microsoft.com/office/drawing/2014/main" id="{4CCC3CBB-BB29-4575-AA80-D38827EF021A}"/>
              </a:ext>
            </a:extLst>
          </p:cNvPr>
          <p:cNvSpPr>
            <a:spLocks xmlns:a="http://schemas.openxmlformats.org/drawingml/2006/main" noGrp="1"/>
          </p:cNvSpPr>
          <p:nvPr/>
        </p:nvSpPr>
        <p:spPr>
          <a:xfrm xmlns:a="http://schemas.openxmlformats.org/drawingml/2006/main">
            <a:off x="857250" y="4762500"/>
            <a:ext cx="2781300" cy="304800"/>
          </a:xfrm>
          <a:prstGeom xmlns:a="http://schemas.openxmlformats.org/drawingml/2006/main" prst="roundRect">
            <a:avLst>
              <a:gd name="adj" fmla="val 37500"/>
            </a:avLst>
          </a:prstGeom>
          <a:solidFill xmlns:a="http://schemas.openxmlformats.org/drawingml/2006/main">
            <a:srgbClr val="173A5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88BCFD6-152C-4774-9146-DD85491D2BA7}"/>
              </a:ext>
            </a:extLst>
          </p:cNvPr>
          <p:cNvSpPr>
            <a:spLocks xmlns:a="http://schemas.openxmlformats.org/drawingml/2006/main" noGrp="1"/>
          </p:cNvSpPr>
          <p:nvPr/>
        </p:nvSpPr>
        <p:spPr>
          <a:xfrm xmlns:a="http://schemas.openxmlformats.org/drawingml/2006/main">
            <a:off x="952500" y="4800600"/>
            <a:ext cx="2590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FFFFFF"/>
                </a:solidFill>
                <a:latin typeface="Aptos"/>
                <a:ea typeface="Aptos"/>
                <a:cs typeface="Aptos"/>
              </a:defRPr>
            </a:pPr>
            <a:r>
              <a:rPr sz="1050" b="1" i="0">
                <a:solidFill>
                  <a:srgbClr val="FFFFFF"/>
                </a:solidFill>
                <a:latin typeface="Aptos"/>
                <a:ea typeface="Aptos"/>
                <a:cs typeface="Aptos"/>
              </a:rPr>
              <a:t>ADVISORY TEXT ONLY</a:t>
            </a:r>
          </a:p>
        </p:txBody>
      </p:sp>
      <p:sp>
        <p:nvSpPr>
          <p:cNvPr id="12" name="">
            <a:extLst xmlns:a="http://schemas.openxmlformats.org/drawingml/2006/main">
              <a:ext uri="{FF2B5EF4-FFF2-40B4-BE49-F238E27FC236}">
                <a16:creationId xmlns:a16="http://schemas.microsoft.com/office/drawing/2014/main" id="{6D8FFE79-FF8E-4AD4-B5FC-7733DFA75561}"/>
              </a:ext>
            </a:extLst>
          </p:cNvPr>
          <p:cNvSpPr>
            <a:spLocks xmlns:a="http://schemas.openxmlformats.org/drawingml/2006/main" noGrp="1"/>
          </p:cNvSpPr>
          <p:nvPr/>
        </p:nvSpPr>
        <p:spPr>
          <a:xfrm xmlns:a="http://schemas.openxmlformats.org/drawingml/2006/main">
            <a:off x="4191000" y="1981200"/>
            <a:ext cx="3200400" cy="3295650"/>
          </a:xfrm>
          <a:prstGeom xmlns:a="http://schemas.openxmlformats.org/drawingml/2006/main" prst="roundRect">
            <a:avLst>
              <a:gd name="adj" fmla="val 3571"/>
            </a:avLst>
          </a:prstGeom>
          <a:solidFill xmlns:a="http://schemas.openxmlformats.org/drawingml/2006/main">
            <a:srgbClr val="E4EE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EC1B4A0-FD92-4983-B5B6-FBD93DE2EED2}"/>
              </a:ext>
            </a:extLst>
          </p:cNvPr>
          <p:cNvSpPr>
            <a:spLocks xmlns:a="http://schemas.openxmlformats.org/drawingml/2006/main" noGrp="1"/>
          </p:cNvSpPr>
          <p:nvPr/>
        </p:nvSpPr>
        <p:spPr>
          <a:xfrm xmlns:a="http://schemas.openxmlformats.org/drawingml/2006/main">
            <a:off x="4400550" y="2171700"/>
            <a:ext cx="2781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0C3B32"/>
                </a:solidFill>
                <a:latin typeface="Aptos"/>
                <a:ea typeface="Aptos"/>
                <a:cs typeface="Aptos"/>
              </a:defRPr>
            </a:pPr>
            <a:r>
              <a:rPr sz="975" b="1" i="0">
                <a:solidFill>
                  <a:srgbClr val="0C3B32"/>
                </a:solidFill>
                <a:latin typeface="Aptos"/>
                <a:ea typeface="Aptos"/>
                <a:cs typeface="Aptos"/>
              </a:rPr>
              <a:t>02 · FORECAST</a:t>
            </a:r>
          </a:p>
        </p:txBody>
      </p:sp>
      <p:sp>
        <p:nvSpPr>
          <p:cNvPr id="14" name="">
            <a:extLst xmlns:a="http://schemas.openxmlformats.org/drawingml/2006/main">
              <a:ext uri="{FF2B5EF4-FFF2-40B4-BE49-F238E27FC236}">
                <a16:creationId xmlns:a16="http://schemas.microsoft.com/office/drawing/2014/main" id="{BB3E5972-20FB-4DA2-B357-A8CAABE84478}"/>
              </a:ext>
            </a:extLst>
          </p:cNvPr>
          <p:cNvSpPr>
            <a:spLocks xmlns:a="http://schemas.openxmlformats.org/drawingml/2006/main" noGrp="1"/>
          </p:cNvSpPr>
          <p:nvPr/>
        </p:nvSpPr>
        <p:spPr>
          <a:xfrm xmlns:a="http://schemas.openxmlformats.org/drawingml/2006/main">
            <a:off x="4400550" y="2514600"/>
            <a:ext cx="2781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813"/>
          </a:bodyPr>
          <a:lstStyle xmlns:a="http://schemas.openxmlformats.org/drawingml/2006/main"/>
          <a:p xmlns:a="http://schemas.openxmlformats.org/drawingml/2006/main">
            <a:pPr algn="l">
              <a:lnSpc>
                <a:spcPct val="100000"/>
              </a:lnSpc>
              <a:buNone/>
              <a:defRPr sz="1950" b="1" i="0">
                <a:solidFill>
                  <a:srgbClr val="0C3B32"/>
                </a:solidFill>
                <a:latin typeface="Aptos Display"/>
                <a:ea typeface="Aptos Display"/>
                <a:cs typeface="Aptos Display"/>
              </a:defRPr>
            </a:pPr>
            <a:r>
              <a:rPr sz="1950" b="1" i="0">
                <a:solidFill>
                  <a:srgbClr val="0C3B32"/>
                </a:solidFill>
                <a:latin typeface="Aptos Display"/>
                <a:ea typeface="Aptos Display"/>
                <a:cs typeface="Aptos Display"/>
              </a:rPr>
              <a:t>Glucose time-series model</a:t>
            </a:r>
          </a:p>
        </p:txBody>
      </p:sp>
      <p:sp>
        <p:nvSpPr>
          <p:cNvPr id="15" name="">
            <a:extLst xmlns:a="http://schemas.openxmlformats.org/drawingml/2006/main">
              <a:ext uri="{FF2B5EF4-FFF2-40B4-BE49-F238E27FC236}">
                <a16:creationId xmlns:a16="http://schemas.microsoft.com/office/drawing/2014/main" id="{0407E68B-4F91-4849-97B4-536B73D806C7}"/>
              </a:ext>
            </a:extLst>
          </p:cNvPr>
          <p:cNvSpPr>
            <a:spLocks xmlns:a="http://schemas.openxmlformats.org/drawingml/2006/main" noGrp="1"/>
          </p:cNvSpPr>
          <p:nvPr/>
        </p:nvSpPr>
        <p:spPr>
          <a:xfrm xmlns:a="http://schemas.openxmlformats.org/drawingml/2006/main">
            <a:off x="4400550" y="3124200"/>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5C6A70"/>
                </a:solidFill>
                <a:latin typeface="Aptos"/>
                <a:ea typeface="Aptos"/>
                <a:cs typeface="Aptos"/>
              </a:defRPr>
            </a:pPr>
            <a:r>
              <a:rPr sz="1200" b="0" i="0">
                <a:solidFill>
                  <a:srgbClr val="5C6A70"/>
                </a:solidFill>
                <a:latin typeface="Aptos"/>
                <a:ea typeface="Aptos"/>
                <a:cs typeface="Aptos"/>
              </a:rPr>
              <a:t>LSTM-style multihorizon predictor</a:t>
            </a:r>
          </a:p>
        </p:txBody>
      </p:sp>
      <p:sp>
        <p:nvSpPr>
          <p:cNvPr id="16" name="">
            <a:extLst xmlns:a="http://schemas.openxmlformats.org/drawingml/2006/main">
              <a:ext uri="{FF2B5EF4-FFF2-40B4-BE49-F238E27FC236}">
                <a16:creationId xmlns:a16="http://schemas.microsoft.com/office/drawing/2014/main" id="{7F464CB1-699E-44DE-94CC-A74D895DCA37}"/>
              </a:ext>
            </a:extLst>
          </p:cNvPr>
          <p:cNvSpPr>
            <a:spLocks xmlns:a="http://schemas.openxmlformats.org/drawingml/2006/main" noGrp="1"/>
          </p:cNvSpPr>
          <p:nvPr/>
        </p:nvSpPr>
        <p:spPr>
          <a:xfrm xmlns:a="http://schemas.openxmlformats.org/drawingml/2006/main">
            <a:off x="4400550" y="3714750"/>
            <a:ext cx="2781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marL="18" indent="-9" algn="l">
              <a:lnSpc>
                <a:spcPct val="110000"/>
              </a:lnSpc>
              <a:buNone/>
              <a:defRPr sz="1275">
                <a:solidFill>
                  <a:srgbClr val="182329"/>
                </a:solidFill>
                <a:latin typeface="Aptos"/>
                <a:ea typeface="Aptos"/>
                <a:cs typeface="Aptos"/>
              </a:defRPr>
            </a:pPr>
            <a:r>
              <a:rPr sz="1275">
                <a:solidFill>
                  <a:srgbClr val="182329"/>
                </a:solidFill>
                <a:latin typeface="Aptos"/>
                <a:ea typeface="Aptos"/>
                <a:cs typeface="Aptos"/>
              </a:rPr>
              <a:t>predict trend/value</a:t>
            </a:r>
          </a:p>
          <a:p xmlns:a="http://schemas.openxmlformats.org/drawingml/2006/main">
            <a:pPr marL="18" indent="-9" algn="l">
              <a:lnSpc>
                <a:spcPct val="110000"/>
              </a:lnSpc>
              <a:buNone/>
              <a:defRPr sz="1275">
                <a:solidFill>
                  <a:srgbClr val="182329"/>
                </a:solidFill>
                <a:latin typeface="Aptos"/>
                <a:ea typeface="Aptos"/>
                <a:cs typeface="Aptos"/>
              </a:defRPr>
            </a:pPr>
            <a:r>
              <a:rPr sz="1275">
                <a:solidFill>
                  <a:srgbClr val="182329"/>
                </a:solidFill>
                <a:latin typeface="Aptos"/>
                <a:ea typeface="Aptos"/>
                <a:cs typeface="Aptos"/>
              </a:rPr>
              <a:t>quantify uncertainty</a:t>
            </a:r>
          </a:p>
          <a:p xmlns:a="http://schemas.openxmlformats.org/drawingml/2006/main">
            <a:pPr marL="18" indent="-9" algn="l">
              <a:lnSpc>
                <a:spcPct val="110000"/>
              </a:lnSpc>
              <a:buNone/>
              <a:defRPr sz="1275">
                <a:solidFill>
                  <a:srgbClr val="182329"/>
                </a:solidFill>
                <a:latin typeface="Aptos"/>
                <a:ea typeface="Aptos"/>
                <a:cs typeface="Aptos"/>
              </a:defRPr>
            </a:pPr>
            <a:r>
              <a:rPr sz="1275">
                <a:solidFill>
                  <a:srgbClr val="182329"/>
                </a:solidFill>
                <a:latin typeface="Aptos"/>
                <a:ea typeface="Aptos"/>
                <a:cs typeface="Aptos"/>
              </a:rPr>
              <a:t>detect hypo risk</a:t>
            </a:r>
          </a:p>
        </p:txBody>
      </p:sp>
      <p:sp>
        <p:nvSpPr>
          <p:cNvPr id="17" name="">
            <a:extLst xmlns:a="http://schemas.openxmlformats.org/drawingml/2006/main">
              <a:ext uri="{FF2B5EF4-FFF2-40B4-BE49-F238E27FC236}">
                <a16:creationId xmlns:a16="http://schemas.microsoft.com/office/drawing/2014/main" id="{E4A2770B-4911-418C-8881-FB5B7466F50C}"/>
              </a:ext>
            </a:extLst>
          </p:cNvPr>
          <p:cNvSpPr>
            <a:spLocks xmlns:a="http://schemas.openxmlformats.org/drawingml/2006/main" noGrp="1"/>
          </p:cNvSpPr>
          <p:nvPr/>
        </p:nvSpPr>
        <p:spPr>
          <a:xfrm xmlns:a="http://schemas.openxmlformats.org/drawingml/2006/main">
            <a:off x="4400550" y="4762500"/>
            <a:ext cx="2781300" cy="304800"/>
          </a:xfrm>
          <a:prstGeom xmlns:a="http://schemas.openxmlformats.org/drawingml/2006/main" prst="roundRect">
            <a:avLst>
              <a:gd name="adj" fmla="val 37500"/>
            </a:avLst>
          </a:prstGeom>
          <a:solidFill xmlns:a="http://schemas.openxmlformats.org/drawingml/2006/main">
            <a:srgbClr val="0C3B3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7FB74B5-D53C-428B-A619-C1A1F2DB5737}"/>
              </a:ext>
            </a:extLst>
          </p:cNvPr>
          <p:cNvSpPr>
            <a:spLocks xmlns:a="http://schemas.openxmlformats.org/drawingml/2006/main" noGrp="1"/>
          </p:cNvSpPr>
          <p:nvPr/>
        </p:nvSpPr>
        <p:spPr>
          <a:xfrm xmlns:a="http://schemas.openxmlformats.org/drawingml/2006/main">
            <a:off x="4495800" y="4800600"/>
            <a:ext cx="2590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FFFFFF"/>
                </a:solidFill>
                <a:latin typeface="Aptos"/>
                <a:ea typeface="Aptos"/>
                <a:cs typeface="Aptos"/>
              </a:defRPr>
            </a:pPr>
            <a:r>
              <a:rPr sz="1050" b="1" i="0">
                <a:solidFill>
                  <a:srgbClr val="FFFFFF"/>
                </a:solidFill>
                <a:latin typeface="Aptos"/>
                <a:ea typeface="Aptos"/>
                <a:cs typeface="Aptos"/>
              </a:rPr>
              <a:t>NO DOSING AUTHORITY</a:t>
            </a:r>
          </a:p>
        </p:txBody>
      </p:sp>
      <p:sp>
        <p:nvSpPr>
          <p:cNvPr id="19" name="">
            <a:extLst xmlns:a="http://schemas.openxmlformats.org/drawingml/2006/main">
              <a:ext uri="{FF2B5EF4-FFF2-40B4-BE49-F238E27FC236}">
                <a16:creationId xmlns:a16="http://schemas.microsoft.com/office/drawing/2014/main" id="{590F30EE-BB73-413F-B53C-5BF920827745}"/>
              </a:ext>
            </a:extLst>
          </p:cNvPr>
          <p:cNvSpPr>
            <a:spLocks xmlns:a="http://schemas.openxmlformats.org/drawingml/2006/main" noGrp="1"/>
          </p:cNvSpPr>
          <p:nvPr/>
        </p:nvSpPr>
        <p:spPr>
          <a:xfrm xmlns:a="http://schemas.openxmlformats.org/drawingml/2006/main">
            <a:off x="7734300" y="1981200"/>
            <a:ext cx="3200400" cy="3295650"/>
          </a:xfrm>
          <a:prstGeom xmlns:a="http://schemas.openxmlformats.org/drawingml/2006/main" prst="roundRect">
            <a:avLst>
              <a:gd name="adj" fmla="val 3571"/>
            </a:avLst>
          </a:prstGeom>
          <a:solidFill xmlns:a="http://schemas.openxmlformats.org/drawingml/2006/main">
            <a:srgbClr val="F6E9C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EDAF857-BB09-4074-BA83-770B2AAE5300}"/>
              </a:ext>
            </a:extLst>
          </p:cNvPr>
          <p:cNvSpPr>
            <a:spLocks xmlns:a="http://schemas.openxmlformats.org/drawingml/2006/main" noGrp="1"/>
          </p:cNvSpPr>
          <p:nvPr/>
        </p:nvSpPr>
        <p:spPr>
          <a:xfrm xmlns:a="http://schemas.openxmlformats.org/drawingml/2006/main">
            <a:off x="7943850" y="2171700"/>
            <a:ext cx="2781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7A4C00"/>
                </a:solidFill>
                <a:latin typeface="Aptos"/>
                <a:ea typeface="Aptos"/>
                <a:cs typeface="Aptos"/>
              </a:defRPr>
            </a:pPr>
            <a:r>
              <a:rPr sz="975" b="1" i="0">
                <a:solidFill>
                  <a:srgbClr val="7A4C00"/>
                </a:solidFill>
                <a:latin typeface="Aptos"/>
                <a:ea typeface="Aptos"/>
                <a:cs typeface="Aptos"/>
              </a:rPr>
              <a:t>03 · EXPERIMENT</a:t>
            </a:r>
          </a:p>
        </p:txBody>
      </p:sp>
      <p:sp>
        <p:nvSpPr>
          <p:cNvPr id="21" name="">
            <a:extLst xmlns:a="http://schemas.openxmlformats.org/drawingml/2006/main">
              <a:ext uri="{FF2B5EF4-FFF2-40B4-BE49-F238E27FC236}">
                <a16:creationId xmlns:a16="http://schemas.microsoft.com/office/drawing/2014/main" id="{62C4D414-8B7C-40CD-8439-E5A9C51337FA}"/>
              </a:ext>
            </a:extLst>
          </p:cNvPr>
          <p:cNvSpPr>
            <a:spLocks xmlns:a="http://schemas.openxmlformats.org/drawingml/2006/main" noGrp="1"/>
          </p:cNvSpPr>
          <p:nvPr/>
        </p:nvSpPr>
        <p:spPr>
          <a:xfrm xmlns:a="http://schemas.openxmlformats.org/drawingml/2006/main">
            <a:off x="7943850" y="2514600"/>
            <a:ext cx="2781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0C3B32"/>
                </a:solidFill>
                <a:latin typeface="Aptos Display"/>
                <a:ea typeface="Aptos Display"/>
                <a:cs typeface="Aptos Display"/>
              </a:defRPr>
            </a:pPr>
            <a:r>
              <a:rPr sz="1950" b="1" i="0">
                <a:solidFill>
                  <a:srgbClr val="0C3B32"/>
                </a:solidFill>
                <a:latin typeface="Aptos Display"/>
                <a:ea typeface="Aptos Display"/>
                <a:cs typeface="Aptos Display"/>
              </a:rPr>
              <a:t>Controller / policy</a:t>
            </a:r>
          </a:p>
        </p:txBody>
      </p:sp>
      <p:sp>
        <p:nvSpPr>
          <p:cNvPr id="22" name="">
            <a:extLst xmlns:a="http://schemas.openxmlformats.org/drawingml/2006/main">
              <a:ext uri="{FF2B5EF4-FFF2-40B4-BE49-F238E27FC236}">
                <a16:creationId xmlns:a16="http://schemas.microsoft.com/office/drawing/2014/main" id="{986FCAD3-C5D5-47C3-B73D-4AF19631F896}"/>
              </a:ext>
            </a:extLst>
          </p:cNvPr>
          <p:cNvSpPr>
            <a:spLocks xmlns:a="http://schemas.openxmlformats.org/drawingml/2006/main" noGrp="1"/>
          </p:cNvSpPr>
          <p:nvPr/>
        </p:nvSpPr>
        <p:spPr>
          <a:xfrm xmlns:a="http://schemas.openxmlformats.org/drawingml/2006/main">
            <a:off x="7943850" y="3124200"/>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5C6A70"/>
                </a:solidFill>
                <a:latin typeface="Aptos"/>
                <a:ea typeface="Aptos"/>
                <a:cs typeface="Aptos"/>
              </a:defRPr>
            </a:pPr>
            <a:r>
              <a:rPr sz="1200" b="0" i="0">
                <a:solidFill>
                  <a:srgbClr val="5C6A70"/>
                </a:solidFill>
                <a:latin typeface="Aptos"/>
                <a:ea typeface="Aptos"/>
                <a:cs typeface="Aptos"/>
              </a:rPr>
              <a:t>MPC, imitation or compact policy</a:t>
            </a:r>
          </a:p>
        </p:txBody>
      </p:sp>
      <p:sp>
        <p:nvSpPr>
          <p:cNvPr id="23" name="">
            <a:extLst xmlns:a="http://schemas.openxmlformats.org/drawingml/2006/main">
              <a:ext uri="{FF2B5EF4-FFF2-40B4-BE49-F238E27FC236}">
                <a16:creationId xmlns:a16="http://schemas.microsoft.com/office/drawing/2014/main" id="{92F6A5B5-3B3C-4C4E-958D-34C92AC3F6B3}"/>
              </a:ext>
            </a:extLst>
          </p:cNvPr>
          <p:cNvSpPr>
            <a:spLocks xmlns:a="http://schemas.openxmlformats.org/drawingml/2006/main" noGrp="1"/>
          </p:cNvSpPr>
          <p:nvPr/>
        </p:nvSpPr>
        <p:spPr>
          <a:xfrm xmlns:a="http://schemas.openxmlformats.org/drawingml/2006/main">
            <a:off x="7943850" y="3714750"/>
            <a:ext cx="2781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marL="18" indent="-9" algn="l">
              <a:lnSpc>
                <a:spcPct val="110000"/>
              </a:lnSpc>
              <a:buNone/>
              <a:defRPr sz="1275">
                <a:solidFill>
                  <a:srgbClr val="182329"/>
                </a:solidFill>
                <a:latin typeface="Aptos"/>
                <a:ea typeface="Aptos"/>
                <a:cs typeface="Aptos"/>
              </a:defRPr>
            </a:pPr>
            <a:r>
              <a:rPr sz="1275">
                <a:solidFill>
                  <a:srgbClr val="182329"/>
                </a:solidFill>
                <a:latin typeface="Aptos"/>
                <a:ea typeface="Aptos"/>
                <a:cs typeface="Aptos"/>
              </a:rPr>
              <a:t>propose insulin</a:t>
            </a:r>
          </a:p>
          <a:p xmlns:a="http://schemas.openxmlformats.org/drawingml/2006/main">
            <a:pPr marL="18" indent="-9" algn="l">
              <a:lnSpc>
                <a:spcPct val="110000"/>
              </a:lnSpc>
              <a:buNone/>
              <a:defRPr sz="1275">
                <a:solidFill>
                  <a:srgbClr val="182329"/>
                </a:solidFill>
                <a:latin typeface="Aptos"/>
                <a:ea typeface="Aptos"/>
                <a:cs typeface="Aptos"/>
              </a:defRPr>
            </a:pPr>
            <a:r>
              <a:rPr sz="1275">
                <a:solidFill>
                  <a:srgbClr val="182329"/>
                </a:solidFill>
                <a:latin typeface="Aptos"/>
                <a:ea typeface="Aptos"/>
                <a:cs typeface="Aptos"/>
              </a:rPr>
              <a:t>propose glucagon</a:t>
            </a:r>
          </a:p>
          <a:p xmlns:a="http://schemas.openxmlformats.org/drawingml/2006/main">
            <a:pPr marL="18" indent="-9" algn="l">
              <a:lnSpc>
                <a:spcPct val="110000"/>
              </a:lnSpc>
              <a:buNone/>
              <a:defRPr sz="1275">
                <a:solidFill>
                  <a:srgbClr val="182329"/>
                </a:solidFill>
                <a:latin typeface="Aptos"/>
                <a:ea typeface="Aptos"/>
                <a:cs typeface="Aptos"/>
              </a:defRPr>
            </a:pPr>
            <a:r>
              <a:rPr sz="1275">
                <a:solidFill>
                  <a:srgbClr val="182329"/>
                </a:solidFill>
                <a:latin typeface="Aptos"/>
                <a:ea typeface="Aptos"/>
                <a:cs typeface="Aptos"/>
              </a:rPr>
              <a:t>compare strategies</a:t>
            </a:r>
          </a:p>
        </p:txBody>
      </p:sp>
      <p:sp>
        <p:nvSpPr>
          <p:cNvPr id="24" name="">
            <a:extLst xmlns:a="http://schemas.openxmlformats.org/drawingml/2006/main">
              <a:ext uri="{FF2B5EF4-FFF2-40B4-BE49-F238E27FC236}">
                <a16:creationId xmlns:a16="http://schemas.microsoft.com/office/drawing/2014/main" id="{CA5B3617-43F5-454C-BC65-08E7F4FD77BD}"/>
              </a:ext>
            </a:extLst>
          </p:cNvPr>
          <p:cNvSpPr>
            <a:spLocks xmlns:a="http://schemas.openxmlformats.org/drawingml/2006/main" noGrp="1"/>
          </p:cNvSpPr>
          <p:nvPr/>
        </p:nvSpPr>
        <p:spPr>
          <a:xfrm xmlns:a="http://schemas.openxmlformats.org/drawingml/2006/main">
            <a:off x="7943850" y="4762500"/>
            <a:ext cx="2781300" cy="304800"/>
          </a:xfrm>
          <a:prstGeom xmlns:a="http://schemas.openxmlformats.org/drawingml/2006/main" prst="roundRect">
            <a:avLst>
              <a:gd name="adj" fmla="val 37500"/>
            </a:avLst>
          </a:prstGeom>
          <a:solidFill xmlns:a="http://schemas.openxmlformats.org/drawingml/2006/main">
            <a:srgbClr val="7A4C0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B16CF07-B76B-4E4C-ADC6-8FA8E585A3F3}"/>
              </a:ext>
            </a:extLst>
          </p:cNvPr>
          <p:cNvSpPr>
            <a:spLocks xmlns:a="http://schemas.openxmlformats.org/drawingml/2006/main" noGrp="1"/>
          </p:cNvSpPr>
          <p:nvPr/>
        </p:nvSpPr>
        <p:spPr>
          <a:xfrm xmlns:a="http://schemas.openxmlformats.org/drawingml/2006/main">
            <a:off x="8039100" y="4800600"/>
            <a:ext cx="2590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FFFFFF"/>
                </a:solidFill>
                <a:latin typeface="Aptos"/>
                <a:ea typeface="Aptos"/>
                <a:cs typeface="Aptos"/>
              </a:defRPr>
            </a:pPr>
            <a:r>
              <a:rPr sz="1050" b="1" i="0">
                <a:solidFill>
                  <a:srgbClr val="FFFFFF"/>
                </a:solidFill>
                <a:latin typeface="Aptos"/>
                <a:ea typeface="Aptos"/>
                <a:cs typeface="Aptos"/>
              </a:rPr>
              <a:t>ALWAYS SUPERVISOR-GATED</a:t>
            </a:r>
          </a:p>
        </p:txBody>
      </p:sp>
      <p:sp>
        <p:nvSpPr>
          <p:cNvPr id="26" name="">
            <a:extLst xmlns:a="http://schemas.openxmlformats.org/drawingml/2006/main">
              <a:ext uri="{FF2B5EF4-FFF2-40B4-BE49-F238E27FC236}">
                <a16:creationId xmlns:a16="http://schemas.microsoft.com/office/drawing/2014/main" id="{A107EAB2-E266-4553-BDE2-0D2F5A01E4EB}"/>
              </a:ext>
            </a:extLst>
          </p:cNvPr>
          <p:cNvSpPr>
            <a:spLocks xmlns:a="http://schemas.openxmlformats.org/drawingml/2006/main" noGrp="1"/>
          </p:cNvSpPr>
          <p:nvPr/>
        </p:nvSpPr>
        <p:spPr>
          <a:xfrm xmlns:a="http://schemas.openxmlformats.org/drawingml/2006/main">
            <a:off x="2667000" y="5581650"/>
            <a:ext cx="6858000" cy="438150"/>
          </a:xfrm>
          <a:prstGeom xmlns:a="http://schemas.openxmlformats.org/drawingml/2006/main" prst="roundRect">
            <a:avLst>
              <a:gd name="adj" fmla="val 26087"/>
            </a:avLst>
          </a:prstGeom>
          <a:solidFill xmlns:a="http://schemas.openxmlformats.org/drawingml/2006/main">
            <a:srgbClr val="0C3B3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948EAE0-758D-4FAC-A069-8370D488CD5E}"/>
              </a:ext>
            </a:extLst>
          </p:cNvPr>
          <p:cNvSpPr>
            <a:spLocks xmlns:a="http://schemas.openxmlformats.org/drawingml/2006/main" noGrp="1"/>
          </p:cNvSpPr>
          <p:nvPr/>
        </p:nvSpPr>
        <p:spPr>
          <a:xfrm xmlns:a="http://schemas.openxmlformats.org/drawingml/2006/main">
            <a:off x="2857500" y="5676900"/>
            <a:ext cx="647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208"/>
          </a:bodyPr>
          <a:lstStyle xmlns:a="http://schemas.openxmlformats.org/drawingml/2006/main"/>
          <a:p xmlns:a="http://schemas.openxmlformats.org/drawingml/2006/main">
            <a:pPr algn="ctr">
              <a:lnSpc>
                <a:spcPct val="100000"/>
              </a:lnSpc>
              <a:buNone/>
              <a:defRPr sz="1350" b="1" i="0">
                <a:solidFill>
                  <a:srgbClr val="FFFFFF"/>
                </a:solidFill>
                <a:latin typeface="Aptos"/>
                <a:ea typeface="Aptos"/>
                <a:cs typeface="Aptos"/>
              </a:defRPr>
            </a:pPr>
            <a:r>
              <a:rPr sz="1350" b="1" i="0">
                <a:solidFill>
                  <a:srgbClr val="FFFFFF"/>
                </a:solidFill>
                <a:latin typeface="Aptos"/>
                <a:ea typeface="Aptos"/>
                <a:cs typeface="Aptos"/>
              </a:rPr>
              <a:t>Language explains · numeric models forecast · deterministic rules retain authority</a:t>
            </a:r>
          </a:p>
        </p:txBody>
      </p:sp>
      <p:sp>
        <p:nvSpPr>
          <p:cNvPr id="28" name="">
            <a:extLst xmlns:a="http://schemas.openxmlformats.org/drawingml/2006/main">
              <a:ext uri="{FF2B5EF4-FFF2-40B4-BE49-F238E27FC236}">
                <a16:creationId xmlns:a16="http://schemas.microsoft.com/office/drawing/2014/main" id="{4318D342-0100-4829-868A-A911306E569E}"/>
              </a:ext>
            </a:extLst>
          </p:cNvPr>
          <p:cNvSpPr>
            <a:spLocks xmlns:a="http://schemas.openxmlformats.org/drawingml/2006/main" noGrp="1"/>
          </p:cNvSpPr>
          <p:nvPr/>
        </p:nvSpPr>
        <p:spPr>
          <a:xfrm xmlns:a="http://schemas.openxmlformats.org/drawingml/2006/main">
            <a:off x="647700" y="621030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0" i="0">
                <a:solidFill>
                  <a:srgbClr val="5C6A70"/>
                </a:solidFill>
                <a:latin typeface="Aptos"/>
                <a:ea typeface="Aptos"/>
                <a:cs typeface="Aptos"/>
              </a:defRPr>
            </a:pPr>
            <a:r>
              <a:rPr sz="750" b="0" i="0">
                <a:solidFill>
                  <a:srgbClr val="5C6A70"/>
                </a:solidFill>
                <a:latin typeface="Aptos"/>
                <a:ea typeface="Aptos"/>
                <a:cs typeface="Aptos"/>
              </a:rPr>
              <a:t>AI modules: src/iints/ai/ and src/iints/research/.</a:t>
            </a:r>
          </a:p>
        </p:txBody>
      </p:sp>
      <p:sp>
        <p:nvSpPr>
          <p:cNvPr id="29" name="">
            <a:extLst xmlns:a="http://schemas.openxmlformats.org/drawingml/2006/main">
              <a:ext uri="{FF2B5EF4-FFF2-40B4-BE49-F238E27FC236}">
                <a16:creationId xmlns:a16="http://schemas.microsoft.com/office/drawing/2014/main" id="{8EE38461-B5AA-4529-BBF0-40CECAF47B32}"/>
              </a:ext>
            </a:extLst>
          </p:cNvPr>
          <p:cNvSpPr>
            <a:spLocks xmlns:a="http://schemas.openxmlformats.org/drawingml/2006/main" noGrp="1"/>
          </p:cNvSpPr>
          <p:nvPr/>
        </p:nvSpPr>
        <p:spPr>
          <a:xfrm xmlns:a="http://schemas.openxmlformats.org/drawingml/2006/main">
            <a:off x="647700" y="6467475"/>
            <a:ext cx="10896600" cy="9525"/>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028F22C-14C5-4202-8343-377F506842E1}"/>
              </a:ext>
            </a:extLst>
          </p:cNvPr>
          <p:cNvSpPr>
            <a:spLocks xmlns:a="http://schemas.openxmlformats.org/drawingml/2006/main" noGrp="1"/>
          </p:cNvSpPr>
          <p:nvPr/>
        </p:nvSpPr>
        <p:spPr>
          <a:xfrm xmlns:a="http://schemas.openxmlformats.org/drawingml/2006/main">
            <a:off x="647700" y="6553200"/>
            <a:ext cx="495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C6A70"/>
                </a:solidFill>
                <a:latin typeface="Aptos"/>
                <a:ea typeface="Aptos"/>
                <a:cs typeface="Aptos"/>
              </a:defRPr>
            </a:pPr>
            <a:r>
              <a:rPr sz="750" b="1" i="0">
                <a:solidFill>
                  <a:srgbClr val="5C6A70"/>
                </a:solidFill>
                <a:latin typeface="Aptos"/>
                <a:ea typeface="Aptos"/>
                <a:cs typeface="Aptos"/>
              </a:rPr>
              <a:t>RESEARCH &amp; EDUCATION ONLY · NOT A MEDICAL DEVICE</a:t>
            </a:r>
          </a:p>
        </p:txBody>
      </p:sp>
      <p:sp>
        <p:nvSpPr>
          <p:cNvPr id="31" name="">
            <a:extLst xmlns:a="http://schemas.openxmlformats.org/drawingml/2006/main">
              <a:ext uri="{FF2B5EF4-FFF2-40B4-BE49-F238E27FC236}">
                <a16:creationId xmlns:a16="http://schemas.microsoft.com/office/drawing/2014/main" id="{53B246E8-1C31-4384-ABDB-6BA7CC0D7045}"/>
              </a:ext>
            </a:extLst>
          </p:cNvPr>
          <p:cNvSpPr>
            <a:spLocks xmlns:a="http://schemas.openxmlformats.org/drawingml/2006/main" noGrp="1"/>
          </p:cNvSpPr>
          <p:nvPr/>
        </p:nvSpPr>
        <p:spPr>
          <a:xfrm xmlns:a="http://schemas.openxmlformats.org/drawingml/2006/main">
            <a:off x="11096625" y="6534150"/>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1" i="0">
                <a:solidFill>
                  <a:srgbClr val="0C3B32"/>
                </a:solidFill>
                <a:latin typeface="Aptos"/>
                <a:ea typeface="Aptos"/>
                <a:cs typeface="Aptos"/>
              </a:defRPr>
            </a:pPr>
            <a:r>
              <a:rPr sz="900" b="1" i="0">
                <a:solidFill>
                  <a:srgbClr val="0C3B32"/>
                </a:solidFill>
                <a:latin typeface="Aptos"/>
                <a:ea typeface="Aptos"/>
                <a:cs typeface="Aptos"/>
              </a:rPr>
              <a:t>10</a:t>
            </a:r>
          </a:p>
        </p:txBody>
      </p:sp>
    </p:spTree>
    <p:extLst>
      <p:ext uri="{BB962C8B-B14F-4D97-AF65-F5344CB8AC3E}">
        <p14:creationId xmlns:p14="http://schemas.microsoft.com/office/powerpoint/2010/main" val="1622552252"/>
      </p:ext>
    </p:extLst>
  </p:cSld>
</p:sld>
</file>

<file path=ppt/slides/slide11.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1BDCC44-1915-4918-B158-AC88B3E8CD86}"/>
              </a:ext>
            </a:extLst>
          </p:cNvPr>
          <p:cNvSpPr>
            <a:spLocks xmlns:a="http://schemas.openxmlformats.org/drawingml/2006/main" noGrp="1"/>
          </p:cNvSpPr>
          <p:nvPr/>
        </p:nvSpPr>
        <p:spPr>
          <a:xfrm xmlns:a="http://schemas.openxmlformats.org/drawingml/2006/main">
            <a:off x="647700" y="3429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E7D8A"/>
                </a:solidFill>
                <a:latin typeface="Aptos"/>
                <a:ea typeface="Aptos"/>
                <a:cs typeface="Aptos"/>
              </a:defRPr>
            </a:pPr>
            <a:r>
              <a:rPr sz="900" b="1" i="0">
                <a:solidFill>
                  <a:srgbClr val="2E7D8A"/>
                </a:solidFill>
                <a:latin typeface="Aptos"/>
                <a:ea typeface="Aptos"/>
                <a:cs typeface="Aptos"/>
              </a:rPr>
              <a:t>PHYSICS-INFORMED PREDICTION</a:t>
            </a:r>
          </a:p>
        </p:txBody>
      </p:sp>
      <p:sp>
        <p:nvSpPr>
          <p:cNvPr id="2" name="">
            <a:extLst xmlns:a="http://schemas.openxmlformats.org/drawingml/2006/main">
              <a:ext uri="{FF2B5EF4-FFF2-40B4-BE49-F238E27FC236}">
                <a16:creationId xmlns:a16="http://schemas.microsoft.com/office/drawing/2014/main" id="{3E1B4325-E670-468E-8415-66FB00AADE61}"/>
              </a:ext>
            </a:extLst>
          </p:cNvPr>
          <p:cNvSpPr>
            <a:spLocks xmlns:a="http://schemas.openxmlformats.org/drawingml/2006/main" noGrp="1"/>
          </p:cNvSpPr>
          <p:nvPr/>
        </p:nvSpPr>
        <p:spPr>
          <a:xfrm xmlns:a="http://schemas.openxmlformats.org/drawingml/2006/main">
            <a:off x="6477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46"/>
          </a:bodyPr>
          <a:lstStyle xmlns:a="http://schemas.openxmlformats.org/drawingml/2006/main"/>
          <a:p xmlns:a="http://schemas.openxmlformats.org/drawingml/2006/main">
            <a:pPr algn="l">
              <a:lnSpc>
                <a:spcPct val="92000"/>
              </a:lnSpc>
              <a:buNone/>
              <a:defRPr sz="3000" b="1" i="0">
                <a:solidFill>
                  <a:srgbClr val="0C3B32"/>
                </a:solidFill>
                <a:latin typeface="Aptos Display"/>
                <a:ea typeface="Aptos Display"/>
                <a:cs typeface="Aptos Display"/>
              </a:defRPr>
            </a:pPr>
            <a:r>
              <a:rPr sz="3000" b="1" i="0">
                <a:solidFill>
                  <a:srgbClr val="0C3B32"/>
                </a:solidFill>
                <a:latin typeface="Aptos Display"/>
                <a:ea typeface="Aptos Display"/>
                <a:cs typeface="Aptos Display"/>
              </a:rPr>
              <a:t>Forecasting glucose without rewarding impossible behaviour</a:t>
            </a:r>
          </a:p>
        </p:txBody>
      </p:sp>
      <p:sp>
        <p:nvSpPr>
          <p:cNvPr id="3" name="">
            <a:extLst xmlns:a="http://schemas.openxmlformats.org/drawingml/2006/main">
              <a:ext uri="{FF2B5EF4-FFF2-40B4-BE49-F238E27FC236}">
                <a16:creationId xmlns:a16="http://schemas.microsoft.com/office/drawing/2014/main" id="{291344BB-F9C6-4E7A-9B18-54C100766356}"/>
              </a:ext>
            </a:extLst>
          </p:cNvPr>
          <p:cNvSpPr>
            <a:spLocks xmlns:a="http://schemas.openxmlformats.org/drawingml/2006/main" noGrp="1"/>
          </p:cNvSpPr>
          <p:nvPr/>
        </p:nvSpPr>
        <p:spPr>
          <a:xfrm xmlns:a="http://schemas.openxmlformats.org/drawingml/2006/main">
            <a:off x="647700" y="11811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5C6A70"/>
                </a:solidFill>
                <a:latin typeface="Aptos"/>
                <a:ea typeface="Aptos"/>
                <a:cs typeface="Aptos"/>
              </a:defRPr>
            </a:pPr>
            <a:r>
              <a:rPr sz="1275" b="0" i="0">
                <a:solidFill>
                  <a:srgbClr val="5C6A70"/>
                </a:solidFill>
                <a:latin typeface="Aptos"/>
                <a:ea typeface="Aptos"/>
                <a:cs typeface="Aptos"/>
              </a:rPr>
              <a:t>The objective combines numerical accuracy with explicit physiological penalties.</a:t>
            </a:r>
          </a:p>
        </p:txBody>
      </p:sp>
      <p:sp>
        <p:nvSpPr>
          <p:cNvPr id="4" name="">
            <a:extLst xmlns:a="http://schemas.openxmlformats.org/drawingml/2006/main">
              <a:ext uri="{FF2B5EF4-FFF2-40B4-BE49-F238E27FC236}">
                <a16:creationId xmlns:a16="http://schemas.microsoft.com/office/drawing/2014/main" id="{427D73F5-1051-4C93-B983-D7AA92F2809B}"/>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C843B80-265B-472D-AA86-AC14E1649864}"/>
              </a:ext>
            </a:extLst>
          </p:cNvPr>
          <p:cNvSpPr>
            <a:spLocks xmlns:a="http://schemas.openxmlformats.org/drawingml/2006/main" noGrp="1"/>
          </p:cNvSpPr>
          <p:nvPr/>
        </p:nvSpPr>
        <p:spPr>
          <a:xfrm xmlns:a="http://schemas.openxmlformats.org/drawingml/2006/main">
            <a:off x="647700" y="1943100"/>
            <a:ext cx="5467350" cy="3143250"/>
          </a:xfrm>
          <a:prstGeom xmlns:a="http://schemas.openxmlformats.org/drawingml/2006/main" prst="roundRect">
            <a:avLst>
              <a:gd name="adj" fmla="val 3636"/>
            </a:avLst>
          </a:prstGeom>
          <a:solidFill xmlns:a="http://schemas.openxmlformats.org/drawingml/2006/main">
            <a:srgbClr val="FFFDF8"/>
          </a:solidFill>
          <a:ln xmlns:a="http://schemas.openxmlformats.org/drawingml/2006/main" w="9525">
            <a:solidFill>
              <a:srgbClr val="C9D1CC"/>
            </a:solidFill>
            <a:prstDash val="solid"/>
          </a:ln>
        </p:spPr>
      </p:sp>
      <p:sp>
        <p:nvSpPr>
          <p:cNvPr id="6" name="">
            <a:extLst xmlns:a="http://schemas.openxmlformats.org/drawingml/2006/main">
              <a:ext uri="{FF2B5EF4-FFF2-40B4-BE49-F238E27FC236}">
                <a16:creationId xmlns:a16="http://schemas.microsoft.com/office/drawing/2014/main" id="{E4C303D4-BB32-4898-8140-906587C2CABC}"/>
              </a:ext>
            </a:extLst>
          </p:cNvPr>
          <p:cNvSpPr>
            <a:spLocks xmlns:a="http://schemas.openxmlformats.org/drawingml/2006/main" noGrp="1"/>
          </p:cNvSpPr>
          <p:nvPr/>
        </p:nvSpPr>
        <p:spPr>
          <a:xfrm xmlns:a="http://schemas.openxmlformats.org/drawingml/2006/main">
            <a:off x="876300" y="217170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E7D8A"/>
                </a:solidFill>
                <a:latin typeface="Aptos"/>
                <a:ea typeface="Aptos"/>
                <a:cs typeface="Aptos"/>
              </a:defRPr>
            </a:pPr>
            <a:r>
              <a:rPr sz="975" b="1" i="0">
                <a:solidFill>
                  <a:srgbClr val="2E7D8A"/>
                </a:solidFill>
                <a:latin typeface="Aptos"/>
                <a:ea typeface="Aptos"/>
                <a:cs typeface="Aptos"/>
              </a:rPr>
              <a:t>INPUT HISTORY · 240 MIN</a:t>
            </a:r>
          </a:p>
        </p:txBody>
      </p:sp>
      <p:sp>
        <p:nvSpPr>
          <p:cNvPr id="7" name="">
            <a:extLst xmlns:a="http://schemas.openxmlformats.org/drawingml/2006/main">
              <a:ext uri="{FF2B5EF4-FFF2-40B4-BE49-F238E27FC236}">
                <a16:creationId xmlns:a16="http://schemas.microsoft.com/office/drawing/2014/main" id="{2ED51852-450B-42AE-8D28-39DBAEE29210}"/>
              </a:ext>
            </a:extLst>
          </p:cNvPr>
          <p:cNvSpPr>
            <a:spLocks xmlns:a="http://schemas.openxmlformats.org/drawingml/2006/main" noGrp="1"/>
          </p:cNvSpPr>
          <p:nvPr/>
        </p:nvSpPr>
        <p:spPr>
          <a:xfrm xmlns:a="http://schemas.openxmlformats.org/drawingml/2006/main">
            <a:off x="876300" y="2571750"/>
            <a:ext cx="1181100" cy="304800"/>
          </a:xfrm>
          <a:prstGeom xmlns:a="http://schemas.openxmlformats.org/drawingml/2006/main" prst="roundRect">
            <a:avLst>
              <a:gd name="adj" fmla="val 37500"/>
            </a:avLst>
          </a:prstGeom>
          <a:solidFill xmlns:a="http://schemas.openxmlformats.org/drawingml/2006/main">
            <a:srgbClr val="E7F0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E170EC7-A677-4309-ADA6-967BE0ED5B30}"/>
              </a:ext>
            </a:extLst>
          </p:cNvPr>
          <p:cNvSpPr>
            <a:spLocks xmlns:a="http://schemas.openxmlformats.org/drawingml/2006/main" noGrp="1"/>
          </p:cNvSpPr>
          <p:nvPr/>
        </p:nvSpPr>
        <p:spPr>
          <a:xfrm xmlns:a="http://schemas.openxmlformats.org/drawingml/2006/main">
            <a:off x="971550" y="260985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173A52"/>
                </a:solidFill>
                <a:latin typeface="Aptos"/>
                <a:ea typeface="Aptos"/>
                <a:cs typeface="Aptos"/>
              </a:defRPr>
            </a:pPr>
            <a:r>
              <a:rPr sz="1050" b="1" i="0">
                <a:solidFill>
                  <a:srgbClr val="173A52"/>
                </a:solidFill>
                <a:latin typeface="Aptos"/>
                <a:ea typeface="Aptos"/>
                <a:cs typeface="Aptos"/>
              </a:rPr>
              <a:t>CGM</a:t>
            </a:r>
          </a:p>
        </p:txBody>
      </p:sp>
      <p:sp>
        <p:nvSpPr>
          <p:cNvPr id="9" name="">
            <a:extLst xmlns:a="http://schemas.openxmlformats.org/drawingml/2006/main">
              <a:ext uri="{FF2B5EF4-FFF2-40B4-BE49-F238E27FC236}">
                <a16:creationId xmlns:a16="http://schemas.microsoft.com/office/drawing/2014/main" id="{0AB2A166-867C-4AFF-90DD-0F3E8E13FB2A}"/>
              </a:ext>
            </a:extLst>
          </p:cNvPr>
          <p:cNvSpPr>
            <a:spLocks xmlns:a="http://schemas.openxmlformats.org/drawingml/2006/main" noGrp="1"/>
          </p:cNvSpPr>
          <p:nvPr/>
        </p:nvSpPr>
        <p:spPr>
          <a:xfrm xmlns:a="http://schemas.openxmlformats.org/drawingml/2006/main">
            <a:off x="2228850" y="2571750"/>
            <a:ext cx="1181100" cy="304800"/>
          </a:xfrm>
          <a:prstGeom xmlns:a="http://schemas.openxmlformats.org/drawingml/2006/main" prst="roundRect">
            <a:avLst>
              <a:gd name="adj" fmla="val 37500"/>
            </a:avLst>
          </a:prstGeom>
          <a:solidFill xmlns:a="http://schemas.openxmlformats.org/drawingml/2006/main">
            <a:srgbClr val="E7F0F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CEA5279-0634-4366-B12E-FCD44B7BBC80}"/>
              </a:ext>
            </a:extLst>
          </p:cNvPr>
          <p:cNvSpPr>
            <a:spLocks xmlns:a="http://schemas.openxmlformats.org/drawingml/2006/main" noGrp="1"/>
          </p:cNvSpPr>
          <p:nvPr/>
        </p:nvSpPr>
        <p:spPr>
          <a:xfrm xmlns:a="http://schemas.openxmlformats.org/drawingml/2006/main">
            <a:off x="2324100" y="260985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173A52"/>
                </a:solidFill>
                <a:latin typeface="Aptos"/>
                <a:ea typeface="Aptos"/>
                <a:cs typeface="Aptos"/>
              </a:defRPr>
            </a:pPr>
            <a:r>
              <a:rPr sz="1050" b="1" i="0">
                <a:solidFill>
                  <a:srgbClr val="173A52"/>
                </a:solidFill>
                <a:latin typeface="Aptos"/>
                <a:ea typeface="Aptos"/>
                <a:cs typeface="Aptos"/>
              </a:rPr>
              <a:t>TREND</a:t>
            </a:r>
          </a:p>
        </p:txBody>
      </p:sp>
      <p:sp>
        <p:nvSpPr>
          <p:cNvPr id="11" name="">
            <a:extLst xmlns:a="http://schemas.openxmlformats.org/drawingml/2006/main">
              <a:ext uri="{FF2B5EF4-FFF2-40B4-BE49-F238E27FC236}">
                <a16:creationId xmlns:a16="http://schemas.microsoft.com/office/drawing/2014/main" id="{227FECB0-74F6-4E5A-AF32-C1861B1DDABB}"/>
              </a:ext>
            </a:extLst>
          </p:cNvPr>
          <p:cNvSpPr>
            <a:spLocks xmlns:a="http://schemas.openxmlformats.org/drawingml/2006/main" noGrp="1"/>
          </p:cNvSpPr>
          <p:nvPr/>
        </p:nvSpPr>
        <p:spPr>
          <a:xfrm xmlns:a="http://schemas.openxmlformats.org/drawingml/2006/main">
            <a:off x="3581400" y="2571750"/>
            <a:ext cx="1181100" cy="304800"/>
          </a:xfrm>
          <a:prstGeom xmlns:a="http://schemas.openxmlformats.org/drawingml/2006/main" prst="roundRect">
            <a:avLst>
              <a:gd name="adj" fmla="val 37500"/>
            </a:avLst>
          </a:prstGeom>
          <a:solidFill xmlns:a="http://schemas.openxmlformats.org/drawingml/2006/main">
            <a:srgbClr val="E7F0F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54E5598-5698-4875-A7D7-AFEBAF9C07E1}"/>
              </a:ext>
            </a:extLst>
          </p:cNvPr>
          <p:cNvSpPr>
            <a:spLocks xmlns:a="http://schemas.openxmlformats.org/drawingml/2006/main" noGrp="1"/>
          </p:cNvSpPr>
          <p:nvPr/>
        </p:nvSpPr>
        <p:spPr>
          <a:xfrm xmlns:a="http://schemas.openxmlformats.org/drawingml/2006/main">
            <a:off x="3676650" y="260985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173A52"/>
                </a:solidFill>
                <a:latin typeface="Aptos"/>
                <a:ea typeface="Aptos"/>
                <a:cs typeface="Aptos"/>
              </a:defRPr>
            </a:pPr>
            <a:r>
              <a:rPr sz="1050" b="1" i="0">
                <a:solidFill>
                  <a:srgbClr val="173A52"/>
                </a:solidFill>
                <a:latin typeface="Aptos"/>
                <a:ea typeface="Aptos"/>
                <a:cs typeface="Aptos"/>
              </a:rPr>
              <a:t>IOB</a:t>
            </a:r>
          </a:p>
        </p:txBody>
      </p:sp>
      <p:sp>
        <p:nvSpPr>
          <p:cNvPr id="13" name="">
            <a:extLst xmlns:a="http://schemas.openxmlformats.org/drawingml/2006/main">
              <a:ext uri="{FF2B5EF4-FFF2-40B4-BE49-F238E27FC236}">
                <a16:creationId xmlns:a16="http://schemas.microsoft.com/office/drawing/2014/main" id="{EFA5A6E9-FBCC-48C6-8F0C-E95E1A0BF228}"/>
              </a:ext>
            </a:extLst>
          </p:cNvPr>
          <p:cNvSpPr>
            <a:spLocks xmlns:a="http://schemas.openxmlformats.org/drawingml/2006/main" noGrp="1"/>
          </p:cNvSpPr>
          <p:nvPr/>
        </p:nvSpPr>
        <p:spPr>
          <a:xfrm xmlns:a="http://schemas.openxmlformats.org/drawingml/2006/main">
            <a:off x="876300" y="3086100"/>
            <a:ext cx="1181100" cy="304800"/>
          </a:xfrm>
          <a:prstGeom xmlns:a="http://schemas.openxmlformats.org/drawingml/2006/main" prst="roundRect">
            <a:avLst>
              <a:gd name="adj" fmla="val 37500"/>
            </a:avLst>
          </a:prstGeom>
          <a:solidFill xmlns:a="http://schemas.openxmlformats.org/drawingml/2006/main">
            <a:srgbClr val="E4EE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2082A88-D93C-411E-A19E-89572D4DB260}"/>
              </a:ext>
            </a:extLst>
          </p:cNvPr>
          <p:cNvSpPr>
            <a:spLocks xmlns:a="http://schemas.openxmlformats.org/drawingml/2006/main" noGrp="1"/>
          </p:cNvSpPr>
          <p:nvPr/>
        </p:nvSpPr>
        <p:spPr>
          <a:xfrm xmlns:a="http://schemas.openxmlformats.org/drawingml/2006/main">
            <a:off x="971550" y="312420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0C3B32"/>
                </a:solidFill>
                <a:latin typeface="Aptos"/>
                <a:ea typeface="Aptos"/>
                <a:cs typeface="Aptos"/>
              </a:defRPr>
            </a:pPr>
            <a:r>
              <a:rPr sz="1050" b="1" i="0">
                <a:solidFill>
                  <a:srgbClr val="0C3B32"/>
                </a:solidFill>
                <a:latin typeface="Aptos"/>
                <a:ea typeface="Aptos"/>
                <a:cs typeface="Aptos"/>
              </a:rPr>
              <a:t>COB</a:t>
            </a:r>
          </a:p>
        </p:txBody>
      </p:sp>
      <p:sp>
        <p:nvSpPr>
          <p:cNvPr id="15" name="">
            <a:extLst xmlns:a="http://schemas.openxmlformats.org/drawingml/2006/main">
              <a:ext uri="{FF2B5EF4-FFF2-40B4-BE49-F238E27FC236}">
                <a16:creationId xmlns:a16="http://schemas.microsoft.com/office/drawing/2014/main" id="{43DD335D-3AC1-40FB-BB28-285F525C93F0}"/>
              </a:ext>
            </a:extLst>
          </p:cNvPr>
          <p:cNvSpPr>
            <a:spLocks xmlns:a="http://schemas.openxmlformats.org/drawingml/2006/main" noGrp="1"/>
          </p:cNvSpPr>
          <p:nvPr/>
        </p:nvSpPr>
        <p:spPr>
          <a:xfrm xmlns:a="http://schemas.openxmlformats.org/drawingml/2006/main">
            <a:off x="2228850" y="3086100"/>
            <a:ext cx="1181100" cy="304800"/>
          </a:xfrm>
          <a:prstGeom xmlns:a="http://schemas.openxmlformats.org/drawingml/2006/main" prst="roundRect">
            <a:avLst>
              <a:gd name="adj" fmla="val 37500"/>
            </a:avLst>
          </a:prstGeom>
          <a:solidFill xmlns:a="http://schemas.openxmlformats.org/drawingml/2006/main">
            <a:srgbClr val="E4EEE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A8AF90C-0621-4A82-8F92-DD7E8866378B}"/>
              </a:ext>
            </a:extLst>
          </p:cNvPr>
          <p:cNvSpPr>
            <a:spLocks xmlns:a="http://schemas.openxmlformats.org/drawingml/2006/main" noGrp="1"/>
          </p:cNvSpPr>
          <p:nvPr/>
        </p:nvSpPr>
        <p:spPr>
          <a:xfrm xmlns:a="http://schemas.openxmlformats.org/drawingml/2006/main">
            <a:off x="2324100" y="312420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0C3B32"/>
                </a:solidFill>
                <a:latin typeface="Aptos"/>
                <a:ea typeface="Aptos"/>
                <a:cs typeface="Aptos"/>
              </a:defRPr>
            </a:pPr>
            <a:r>
              <a:rPr sz="1050" b="1" i="0">
                <a:solidFill>
                  <a:srgbClr val="0C3B32"/>
                </a:solidFill>
                <a:latin typeface="Aptos"/>
                <a:ea typeface="Aptos"/>
                <a:cs typeface="Aptos"/>
              </a:rPr>
              <a:t>TIME</a:t>
            </a:r>
          </a:p>
        </p:txBody>
      </p:sp>
      <p:sp>
        <p:nvSpPr>
          <p:cNvPr id="17" name="">
            <a:extLst xmlns:a="http://schemas.openxmlformats.org/drawingml/2006/main">
              <a:ext uri="{FF2B5EF4-FFF2-40B4-BE49-F238E27FC236}">
                <a16:creationId xmlns:a16="http://schemas.microsoft.com/office/drawing/2014/main" id="{9263B39F-B984-454D-810B-E8AC02C54754}"/>
              </a:ext>
            </a:extLst>
          </p:cNvPr>
          <p:cNvSpPr>
            <a:spLocks xmlns:a="http://schemas.openxmlformats.org/drawingml/2006/main" noGrp="1"/>
          </p:cNvSpPr>
          <p:nvPr/>
        </p:nvSpPr>
        <p:spPr>
          <a:xfrm xmlns:a="http://schemas.openxmlformats.org/drawingml/2006/main">
            <a:off x="3581400" y="3086100"/>
            <a:ext cx="1181100" cy="304800"/>
          </a:xfrm>
          <a:prstGeom xmlns:a="http://schemas.openxmlformats.org/drawingml/2006/main" prst="roundRect">
            <a:avLst>
              <a:gd name="adj" fmla="val 37500"/>
            </a:avLst>
          </a:prstGeom>
          <a:solidFill xmlns:a="http://schemas.openxmlformats.org/drawingml/2006/main">
            <a:srgbClr val="E4EEE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08AA557-8D47-4AA5-89DE-1D47B34041C8}"/>
              </a:ext>
            </a:extLst>
          </p:cNvPr>
          <p:cNvSpPr>
            <a:spLocks xmlns:a="http://schemas.openxmlformats.org/drawingml/2006/main" noGrp="1"/>
          </p:cNvSpPr>
          <p:nvPr/>
        </p:nvSpPr>
        <p:spPr>
          <a:xfrm xmlns:a="http://schemas.openxmlformats.org/drawingml/2006/main">
            <a:off x="3676650" y="312420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0C3B32"/>
                </a:solidFill>
                <a:latin typeface="Aptos"/>
                <a:ea typeface="Aptos"/>
                <a:cs typeface="Aptos"/>
              </a:defRPr>
            </a:pPr>
            <a:r>
              <a:rPr sz="1050" b="1" i="0">
                <a:solidFill>
                  <a:srgbClr val="0C3B32"/>
                </a:solidFill>
                <a:latin typeface="Aptos"/>
                <a:ea typeface="Aptos"/>
                <a:cs typeface="Aptos"/>
              </a:rPr>
              <a:t>ACTIVITY</a:t>
            </a:r>
          </a:p>
        </p:txBody>
      </p:sp>
      <p:sp>
        <p:nvSpPr>
          <p:cNvPr id="19" name="">
            <a:extLst xmlns:a="http://schemas.openxmlformats.org/drawingml/2006/main">
              <a:ext uri="{FF2B5EF4-FFF2-40B4-BE49-F238E27FC236}">
                <a16:creationId xmlns:a16="http://schemas.microsoft.com/office/drawing/2014/main" id="{4ADFF724-8F90-4ED7-9879-F32A4BD0BC35}"/>
              </a:ext>
            </a:extLst>
          </p:cNvPr>
          <p:cNvSpPr>
            <a:spLocks xmlns:a="http://schemas.openxmlformats.org/drawingml/2006/main" noGrp="1"/>
          </p:cNvSpPr>
          <p:nvPr/>
        </p:nvSpPr>
        <p:spPr>
          <a:xfrm xmlns:a="http://schemas.openxmlformats.org/drawingml/2006/main">
            <a:off x="4857750" y="29527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444"/>
          </a:bodyPr>
          <a:lstStyle xmlns:a="http://schemas.openxmlformats.org/drawingml/2006/main"/>
          <a:p xmlns:a="http://schemas.openxmlformats.org/drawingml/2006/main">
            <a:pPr algn="ctr">
              <a:lnSpc>
                <a:spcPct val="100000"/>
              </a:lnSpc>
              <a:buNone/>
              <a:defRPr sz="2250" b="1" i="0">
                <a:solidFill>
                  <a:srgbClr val="2E7D8A"/>
                </a:solidFill>
                <a:latin typeface="Aptos"/>
                <a:ea typeface="Aptos"/>
                <a:cs typeface="Aptos"/>
              </a:defRPr>
            </a:pPr>
            <a:r>
              <a:rPr sz="2250" b="1" i="0">
                <a:solidFill>
                  <a:srgbClr val="2E7D8A"/>
                </a:solidFill>
                <a:latin typeface="Aptos"/>
                <a:ea typeface="Aptos"/>
                <a:cs typeface="Aptos"/>
              </a:rPr>
              <a:t>→</a:t>
            </a:r>
          </a:p>
        </p:txBody>
      </p:sp>
      <p:sp>
        <p:nvSpPr>
          <p:cNvPr id="20" name="">
            <a:extLst xmlns:a="http://schemas.openxmlformats.org/drawingml/2006/main">
              <a:ext uri="{FF2B5EF4-FFF2-40B4-BE49-F238E27FC236}">
                <a16:creationId xmlns:a16="http://schemas.microsoft.com/office/drawing/2014/main" id="{D7E31307-6526-4A58-872E-115EF99CB145}"/>
              </a:ext>
            </a:extLst>
          </p:cNvPr>
          <p:cNvSpPr>
            <a:spLocks xmlns:a="http://schemas.openxmlformats.org/drawingml/2006/main" noGrp="1"/>
          </p:cNvSpPr>
          <p:nvPr/>
        </p:nvSpPr>
        <p:spPr>
          <a:xfrm xmlns:a="http://schemas.openxmlformats.org/drawingml/2006/main">
            <a:off x="5200650" y="2514600"/>
            <a:ext cx="685800" cy="1104900"/>
          </a:xfrm>
          <a:prstGeom xmlns:a="http://schemas.openxmlformats.org/drawingml/2006/main" prst="roundRect">
            <a:avLst>
              <a:gd name="adj" fmla="val 16667"/>
            </a:avLst>
          </a:prstGeom>
          <a:solidFill xmlns:a="http://schemas.openxmlformats.org/drawingml/2006/main">
            <a:srgbClr val="0C3B3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D30384A-8864-4A4A-9B91-D227CE004007}"/>
              </a:ext>
            </a:extLst>
          </p:cNvPr>
          <p:cNvSpPr>
            <a:spLocks xmlns:a="http://schemas.openxmlformats.org/drawingml/2006/main" noGrp="1"/>
          </p:cNvSpPr>
          <p:nvPr/>
        </p:nvSpPr>
        <p:spPr>
          <a:xfrm xmlns:a="http://schemas.openxmlformats.org/drawingml/2006/main">
            <a:off x="5381625" y="2609850"/>
            <a:ext cx="3238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92000"/>
              </a:lnSpc>
              <a:buNone/>
              <a:defRPr sz="1500" b="1" i="0">
                <a:solidFill>
                  <a:srgbClr val="FFFFFF"/>
                </a:solidFill>
                <a:latin typeface="Aptos"/>
                <a:ea typeface="Aptos"/>
                <a:cs typeface="Aptos"/>
              </a:defRPr>
            </a:pPr>
            <a:r>
              <a:rPr sz="1500" b="1" i="0">
                <a:solidFill>
                  <a:srgbClr val="FFFFFF"/>
                </a:solidFill>
                <a:latin typeface="Aptos"/>
                <a:ea typeface="Aptos"/>
                <a:cs typeface="Aptos"/>
              </a:rPr>
              <a:t>L</a:t>
            </a:r>
          </a:p>
          <a:p xmlns:a="http://schemas.openxmlformats.org/drawingml/2006/main">
            <a:pPr algn="ctr">
              <a:lnSpc>
                <a:spcPct val="92000"/>
              </a:lnSpc>
              <a:buNone/>
              <a:defRPr sz="1500" b="1" i="0">
                <a:solidFill>
                  <a:srgbClr val="FFFFFF"/>
                </a:solidFill>
                <a:latin typeface="Aptos"/>
                <a:ea typeface="Aptos"/>
                <a:cs typeface="Aptos"/>
              </a:defRPr>
            </a:pPr>
            <a:r>
              <a:rPr sz="1500" b="1" i="0">
                <a:solidFill>
                  <a:srgbClr val="FFFFFF"/>
                </a:solidFill>
                <a:latin typeface="Aptos"/>
                <a:ea typeface="Aptos"/>
                <a:cs typeface="Aptos"/>
              </a:rPr>
              <a:t>S</a:t>
            </a:r>
          </a:p>
          <a:p xmlns:a="http://schemas.openxmlformats.org/drawingml/2006/main">
            <a:pPr algn="ctr">
              <a:lnSpc>
                <a:spcPct val="92000"/>
              </a:lnSpc>
              <a:buNone/>
              <a:defRPr sz="1500" b="1" i="0">
                <a:solidFill>
                  <a:srgbClr val="FFFFFF"/>
                </a:solidFill>
                <a:latin typeface="Aptos"/>
                <a:ea typeface="Aptos"/>
                <a:cs typeface="Aptos"/>
              </a:defRPr>
            </a:pPr>
            <a:r>
              <a:rPr sz="1500" b="1" i="0">
                <a:solidFill>
                  <a:srgbClr val="FFFFFF"/>
                </a:solidFill>
                <a:latin typeface="Aptos"/>
                <a:ea typeface="Aptos"/>
                <a:cs typeface="Aptos"/>
              </a:rPr>
              <a:t>T</a:t>
            </a:r>
          </a:p>
          <a:p xmlns:a="http://schemas.openxmlformats.org/drawingml/2006/main">
            <a:pPr algn="ctr">
              <a:lnSpc>
                <a:spcPct val="92000"/>
              </a:lnSpc>
              <a:buNone/>
              <a:defRPr sz="1500" b="1" i="0">
                <a:solidFill>
                  <a:srgbClr val="FFFFFF"/>
                </a:solidFill>
                <a:latin typeface="Aptos"/>
                <a:ea typeface="Aptos"/>
                <a:cs typeface="Aptos"/>
              </a:defRPr>
            </a:pPr>
            <a:r>
              <a:rPr sz="1500" b="1" i="0">
                <a:solidFill>
                  <a:srgbClr val="FFFFFF"/>
                </a:solidFill>
                <a:latin typeface="Aptos"/>
                <a:ea typeface="Aptos"/>
                <a:cs typeface="Aptos"/>
              </a:rPr>
              <a:t>M</a:t>
            </a:r>
          </a:p>
        </p:txBody>
      </p:sp>
      <p:sp>
        <p:nvSpPr>
          <p:cNvPr id="22" name="">
            <a:extLst xmlns:a="http://schemas.openxmlformats.org/drawingml/2006/main">
              <a:ext uri="{FF2B5EF4-FFF2-40B4-BE49-F238E27FC236}">
                <a16:creationId xmlns:a16="http://schemas.microsoft.com/office/drawing/2014/main" id="{3F2E4CA6-85D7-424F-9656-C8CA07CE5083}"/>
              </a:ext>
            </a:extLst>
          </p:cNvPr>
          <p:cNvSpPr>
            <a:spLocks xmlns:a="http://schemas.openxmlformats.org/drawingml/2006/main" noGrp="1"/>
          </p:cNvSpPr>
          <p:nvPr/>
        </p:nvSpPr>
        <p:spPr>
          <a:xfrm xmlns:a="http://schemas.openxmlformats.org/drawingml/2006/main">
            <a:off x="876300" y="388620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E7D8A"/>
                </a:solidFill>
                <a:latin typeface="Aptos"/>
                <a:ea typeface="Aptos"/>
                <a:cs typeface="Aptos"/>
              </a:defRPr>
            </a:pPr>
            <a:r>
              <a:rPr sz="975" b="1" i="0">
                <a:solidFill>
                  <a:srgbClr val="2E7D8A"/>
                </a:solidFill>
                <a:latin typeface="Aptos"/>
                <a:ea typeface="Aptos"/>
                <a:cs typeface="Aptos"/>
              </a:rPr>
              <a:t>OUTPUT</a:t>
            </a:r>
          </a:p>
        </p:txBody>
      </p:sp>
      <p:sp>
        <p:nvSpPr>
          <p:cNvPr id="23" name="">
            <a:extLst xmlns:a="http://schemas.openxmlformats.org/drawingml/2006/main">
              <a:ext uri="{FF2B5EF4-FFF2-40B4-BE49-F238E27FC236}">
                <a16:creationId xmlns:a16="http://schemas.microsoft.com/office/drawing/2014/main" id="{C69AA264-AD57-480D-B37D-5E75FAFB2B00}"/>
              </a:ext>
            </a:extLst>
          </p:cNvPr>
          <p:cNvSpPr>
            <a:spLocks xmlns:a="http://schemas.openxmlformats.org/drawingml/2006/main" noGrp="1"/>
          </p:cNvSpPr>
          <p:nvPr/>
        </p:nvSpPr>
        <p:spPr>
          <a:xfrm xmlns:a="http://schemas.openxmlformats.org/drawingml/2006/main">
            <a:off x="876300" y="4171950"/>
            <a:ext cx="417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488"/>
          </a:bodyPr>
          <a:lstStyle xmlns:a="http://schemas.openxmlformats.org/drawingml/2006/main"/>
          <a:p xmlns:a="http://schemas.openxmlformats.org/drawingml/2006/main">
            <a:pPr algn="l">
              <a:lnSpc>
                <a:spcPct val="100000"/>
              </a:lnSpc>
              <a:buNone/>
              <a:defRPr sz="1575" b="1" i="0">
                <a:solidFill>
                  <a:srgbClr val="0C3B32"/>
                </a:solidFill>
                <a:latin typeface="Aptos"/>
                <a:ea typeface="Aptos"/>
                <a:cs typeface="Aptos"/>
              </a:defRPr>
            </a:pPr>
            <a:r>
              <a:rPr sz="1575" b="1" i="0">
                <a:solidFill>
                  <a:srgbClr val="0C3B32"/>
                </a:solidFill>
                <a:latin typeface="Aptos"/>
                <a:ea typeface="Aptos"/>
                <a:cs typeface="Aptos"/>
              </a:rPr>
              <a:t>24 forecast steps × 5 min = 120-minute horizon</a:t>
            </a:r>
          </a:p>
        </p:txBody>
      </p:sp>
      <p:sp>
        <p:nvSpPr>
          <p:cNvPr id="24" name="">
            <a:extLst xmlns:a="http://schemas.openxmlformats.org/drawingml/2006/main">
              <a:ext uri="{FF2B5EF4-FFF2-40B4-BE49-F238E27FC236}">
                <a16:creationId xmlns:a16="http://schemas.microsoft.com/office/drawing/2014/main" id="{595BE9DE-5C29-4B05-9E85-4B3F6D578D41}"/>
              </a:ext>
            </a:extLst>
          </p:cNvPr>
          <p:cNvSpPr>
            <a:spLocks xmlns:a="http://schemas.openxmlformats.org/drawingml/2006/main" noGrp="1"/>
          </p:cNvSpPr>
          <p:nvPr/>
        </p:nvSpPr>
        <p:spPr>
          <a:xfrm xmlns:a="http://schemas.openxmlformats.org/drawingml/2006/main">
            <a:off x="876300" y="4591050"/>
            <a:ext cx="468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10"/>
          </a:bodyPr>
          <a:lstStyle xmlns:a="http://schemas.openxmlformats.org/drawingml/2006/main"/>
          <a:p xmlns:a="http://schemas.openxmlformats.org/drawingml/2006/main">
            <a:pPr algn="l">
              <a:lnSpc>
                <a:spcPct val="100000"/>
              </a:lnSpc>
              <a:buNone/>
              <a:defRPr sz="1125" b="0" i="0">
                <a:solidFill>
                  <a:srgbClr val="5C6A70"/>
                </a:solidFill>
                <a:latin typeface="Aptos"/>
                <a:ea typeface="Aptos"/>
                <a:cs typeface="Aptos"/>
              </a:defRPr>
            </a:pPr>
            <a:r>
              <a:rPr sz="1125" b="0" i="0">
                <a:solidFill>
                  <a:srgbClr val="5C6A70"/>
                </a:solidFill>
                <a:latin typeface="Aptos"/>
                <a:ea typeface="Aptos"/>
                <a:cs typeface="Aptos"/>
              </a:rPr>
              <a:t>Subject-level train / validation / test splits reduce leakage between people.</a:t>
            </a:r>
          </a:p>
        </p:txBody>
      </p:sp>
      <p:sp>
        <p:nvSpPr>
          <p:cNvPr id="25" name="">
            <a:extLst xmlns:a="http://schemas.openxmlformats.org/drawingml/2006/main">
              <a:ext uri="{FF2B5EF4-FFF2-40B4-BE49-F238E27FC236}">
                <a16:creationId xmlns:a16="http://schemas.microsoft.com/office/drawing/2014/main" id="{C5D84734-DBEF-4204-BF24-5AD87F5969C2}"/>
              </a:ext>
            </a:extLst>
          </p:cNvPr>
          <p:cNvSpPr>
            <a:spLocks xmlns:a="http://schemas.openxmlformats.org/drawingml/2006/main" noGrp="1"/>
          </p:cNvSpPr>
          <p:nvPr/>
        </p:nvSpPr>
        <p:spPr>
          <a:xfrm xmlns:a="http://schemas.openxmlformats.org/drawingml/2006/main">
            <a:off x="6400800" y="1943100"/>
            <a:ext cx="5143500" cy="3143250"/>
          </a:xfrm>
          <a:prstGeom xmlns:a="http://schemas.openxmlformats.org/drawingml/2006/main" prst="roundRect">
            <a:avLst>
              <a:gd name="adj" fmla="val 3636"/>
            </a:avLst>
          </a:prstGeom>
          <a:solidFill xmlns:a="http://schemas.openxmlformats.org/drawingml/2006/main">
            <a:srgbClr val="173A5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BCB72C6-CF72-47F9-857B-9C9BB9D50201}"/>
              </a:ext>
            </a:extLst>
          </p:cNvPr>
          <p:cNvSpPr>
            <a:spLocks xmlns:a="http://schemas.openxmlformats.org/drawingml/2006/main" noGrp="1"/>
          </p:cNvSpPr>
          <p:nvPr/>
        </p:nvSpPr>
        <p:spPr>
          <a:xfrm xmlns:a="http://schemas.openxmlformats.org/drawingml/2006/main">
            <a:off x="6667500" y="2171700"/>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D89A2B"/>
                </a:solidFill>
                <a:latin typeface="Aptos"/>
                <a:ea typeface="Aptos"/>
                <a:cs typeface="Aptos"/>
              </a:defRPr>
            </a:pPr>
            <a:r>
              <a:rPr sz="975" b="1" i="0">
                <a:solidFill>
                  <a:srgbClr val="D89A2B"/>
                </a:solidFill>
                <a:latin typeface="Aptos"/>
                <a:ea typeface="Aptos"/>
                <a:cs typeface="Aptos"/>
              </a:rPr>
              <a:t>BAND-PINN LOSS</a:t>
            </a:r>
          </a:p>
        </p:txBody>
      </p:sp>
      <p:sp>
        <p:nvSpPr>
          <p:cNvPr id="27" name="">
            <a:extLst xmlns:a="http://schemas.openxmlformats.org/drawingml/2006/main">
              <a:ext uri="{FF2B5EF4-FFF2-40B4-BE49-F238E27FC236}">
                <a16:creationId xmlns:a16="http://schemas.microsoft.com/office/drawing/2014/main" id="{F3BFADA1-93A5-47B9-8483-0F48C11DBE21}"/>
              </a:ext>
            </a:extLst>
          </p:cNvPr>
          <p:cNvSpPr>
            <a:spLocks xmlns:a="http://schemas.openxmlformats.org/drawingml/2006/main" noGrp="1"/>
          </p:cNvSpPr>
          <p:nvPr/>
        </p:nvSpPr>
        <p:spPr>
          <a:xfrm xmlns:a="http://schemas.openxmlformats.org/drawingml/2006/main">
            <a:off x="6667500" y="2571750"/>
            <a:ext cx="4610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325" b="1" i="0">
                <a:solidFill>
                  <a:srgbClr val="FFFFFF"/>
                </a:solidFill>
                <a:latin typeface="Cambria Math"/>
                <a:ea typeface="Cambria Math"/>
                <a:cs typeface="Cambria Math"/>
              </a:defRPr>
            </a:pPr>
            <a:r>
              <a:rPr sz="2325" b="1" i="0">
                <a:solidFill>
                  <a:srgbClr val="FFFFFF"/>
                </a:solidFill>
                <a:latin typeface="Cambria Math"/>
                <a:ea typeface="Cambria Math"/>
                <a:cs typeface="Cambria Math"/>
              </a:rPr>
              <a:t>L = MSE + λ · Lphys</a:t>
            </a:r>
          </a:p>
        </p:txBody>
      </p:sp>
      <p:sp>
        <p:nvSpPr>
          <p:cNvPr id="28" name="">
            <a:extLst xmlns:a="http://schemas.openxmlformats.org/drawingml/2006/main">
              <a:ext uri="{FF2B5EF4-FFF2-40B4-BE49-F238E27FC236}">
                <a16:creationId xmlns:a16="http://schemas.microsoft.com/office/drawing/2014/main" id="{7E45C14B-4532-4D49-84A3-AAA8037D4BFE}"/>
              </a:ext>
            </a:extLst>
          </p:cNvPr>
          <p:cNvSpPr>
            <a:spLocks xmlns:a="http://schemas.openxmlformats.org/drawingml/2006/main" noGrp="1"/>
          </p:cNvSpPr>
          <p:nvPr/>
        </p:nvSpPr>
        <p:spPr>
          <a:xfrm xmlns:a="http://schemas.openxmlformats.org/drawingml/2006/main">
            <a:off x="6667500" y="3124200"/>
            <a:ext cx="4610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i="0">
                <a:solidFill>
                  <a:srgbClr val="D8E5EC"/>
                </a:solidFill>
                <a:latin typeface="Cambria Math"/>
                <a:ea typeface="Cambria Math"/>
                <a:cs typeface="Cambria Math"/>
              </a:defRPr>
            </a:pPr>
            <a:r>
              <a:rPr sz="1350" b="0" i="0">
                <a:solidFill>
                  <a:srgbClr val="D8E5EC"/>
                </a:solidFill>
                <a:latin typeface="Cambria Math"/>
                <a:ea typeface="Cambria Math"/>
                <a:cs typeface="Cambria Math"/>
              </a:rPr>
              <a:t>Lphys = bounds + rate-of-change + IOB/COB consistency</a:t>
            </a:r>
          </a:p>
        </p:txBody>
      </p:sp>
      <p:sp>
        <p:nvSpPr>
          <p:cNvPr id="29" name="">
            <a:extLst xmlns:a="http://schemas.openxmlformats.org/drawingml/2006/main">
              <a:ext uri="{FF2B5EF4-FFF2-40B4-BE49-F238E27FC236}">
                <a16:creationId xmlns:a16="http://schemas.microsoft.com/office/drawing/2014/main" id="{D468EE82-A336-40AD-943A-DB7C70D9ACDE}"/>
              </a:ext>
            </a:extLst>
          </p:cNvPr>
          <p:cNvSpPr>
            <a:spLocks xmlns:a="http://schemas.openxmlformats.org/drawingml/2006/main" noGrp="1"/>
          </p:cNvSpPr>
          <p:nvPr/>
        </p:nvSpPr>
        <p:spPr>
          <a:xfrm xmlns:a="http://schemas.openxmlformats.org/drawingml/2006/main">
            <a:off x="6858000" y="3733800"/>
            <a:ext cx="42291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marL="18" indent="-9" algn="l">
              <a:lnSpc>
                <a:spcPct val="112000"/>
              </a:lnSpc>
              <a:buNone/>
              <a:defRPr sz="1200">
                <a:solidFill>
                  <a:srgbClr val="FFFFFF"/>
                </a:solidFill>
                <a:latin typeface="Aptos"/>
                <a:ea typeface="Aptos"/>
                <a:cs typeface="Aptos"/>
              </a:defRPr>
            </a:pPr>
            <a:r>
              <a:rPr sz="1200">
                <a:solidFill>
                  <a:srgbClr val="FFFFFF"/>
                </a:solidFill>
                <a:latin typeface="Aptos"/>
                <a:ea typeface="Aptos"/>
                <a:cs typeface="Aptos"/>
              </a:rPr>
              <a:t>penalise predictions outside 20–600 mg/dL</a:t>
            </a:r>
          </a:p>
          <a:p xmlns:a="http://schemas.openxmlformats.org/drawingml/2006/main">
            <a:pPr marL="18" indent="-9" algn="l">
              <a:lnSpc>
                <a:spcPct val="112000"/>
              </a:lnSpc>
              <a:buNone/>
              <a:defRPr sz="1200">
                <a:solidFill>
                  <a:srgbClr val="FFFFFF"/>
                </a:solidFill>
                <a:latin typeface="Aptos"/>
                <a:ea typeface="Aptos"/>
                <a:cs typeface="Aptos"/>
              </a:defRPr>
            </a:pPr>
            <a:r>
              <a:rPr sz="1200">
                <a:solidFill>
                  <a:srgbClr val="FFFFFF"/>
                </a:solidFill>
                <a:latin typeface="Aptos"/>
                <a:ea typeface="Aptos"/>
                <a:cs typeface="Aptos"/>
              </a:rPr>
              <a:t>penalise excessive glucose rate-of-change</a:t>
            </a:r>
          </a:p>
          <a:p xmlns:a="http://schemas.openxmlformats.org/drawingml/2006/main">
            <a:pPr marL="18" indent="-9" algn="l">
              <a:lnSpc>
                <a:spcPct val="112000"/>
              </a:lnSpc>
              <a:buNone/>
              <a:defRPr sz="1200">
                <a:solidFill>
                  <a:srgbClr val="FFFFFF"/>
                </a:solidFill>
                <a:latin typeface="Aptos"/>
                <a:ea typeface="Aptos"/>
                <a:cs typeface="Aptos"/>
              </a:defRPr>
            </a:pPr>
            <a:r>
              <a:rPr sz="1200">
                <a:solidFill>
                  <a:srgbClr val="FFFFFF"/>
                </a:solidFill>
                <a:latin typeface="Aptos"/>
                <a:ea typeface="Aptos"/>
                <a:cs typeface="Aptos"/>
              </a:rPr>
              <a:t>penalise suspicious IOB / COB trajectories</a:t>
            </a:r>
          </a:p>
        </p:txBody>
      </p:sp>
      <p:sp>
        <p:nvSpPr>
          <p:cNvPr id="30" name="">
            <a:extLst xmlns:a="http://schemas.openxmlformats.org/drawingml/2006/main">
              <a:ext uri="{FF2B5EF4-FFF2-40B4-BE49-F238E27FC236}">
                <a16:creationId xmlns:a16="http://schemas.microsoft.com/office/drawing/2014/main" id="{BEE6FAAC-9A58-4A92-8768-228718BC5EA0}"/>
              </a:ext>
            </a:extLst>
          </p:cNvPr>
          <p:cNvSpPr>
            <a:spLocks xmlns:a="http://schemas.openxmlformats.org/drawingml/2006/main" noGrp="1"/>
          </p:cNvSpPr>
          <p:nvPr/>
        </p:nvSpPr>
        <p:spPr>
          <a:xfrm xmlns:a="http://schemas.openxmlformats.org/drawingml/2006/main">
            <a:off x="2038350" y="5372100"/>
            <a:ext cx="8115300" cy="609600"/>
          </a:xfrm>
          <a:prstGeom xmlns:a="http://schemas.openxmlformats.org/drawingml/2006/main" prst="roundRect">
            <a:avLst>
              <a:gd name="adj" fmla="val 18750"/>
            </a:avLst>
          </a:prstGeom>
          <a:solidFill xmlns:a="http://schemas.openxmlformats.org/drawingml/2006/main">
            <a:srgbClr val="F6E9C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39810F9B-38CA-4565-94AB-A08C8E8FB2E5}"/>
              </a:ext>
            </a:extLst>
          </p:cNvPr>
          <p:cNvSpPr>
            <a:spLocks xmlns:a="http://schemas.openxmlformats.org/drawingml/2006/main" noGrp="1"/>
          </p:cNvSpPr>
          <p:nvPr/>
        </p:nvSpPr>
        <p:spPr>
          <a:xfrm xmlns:a="http://schemas.openxmlformats.org/drawingml/2006/main">
            <a:off x="2324100" y="5534025"/>
            <a:ext cx="7543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7A4C00"/>
                </a:solidFill>
                <a:latin typeface="Cambria Math"/>
                <a:ea typeface="Cambria Math"/>
                <a:cs typeface="Cambria Math"/>
              </a:defRPr>
            </a:pPr>
            <a:r>
              <a:rPr sz="1500" b="1" i="0">
                <a:solidFill>
                  <a:srgbClr val="7A4C00"/>
                </a:solidFill>
                <a:latin typeface="Cambria Math"/>
                <a:ea typeface="Cambria Math"/>
                <a:cs typeface="Cambria Math"/>
              </a:rPr>
              <a:t>Promotion score = MAE + wphys·violations + whypo·missed hypoglycaemia</a:t>
            </a:r>
          </a:p>
        </p:txBody>
      </p:sp>
      <p:sp>
        <p:nvSpPr>
          <p:cNvPr id="32" name="">
            <a:extLst xmlns:a="http://schemas.openxmlformats.org/drawingml/2006/main">
              <a:ext uri="{FF2B5EF4-FFF2-40B4-BE49-F238E27FC236}">
                <a16:creationId xmlns:a16="http://schemas.microsoft.com/office/drawing/2014/main" id="{65213773-4DB3-41E8-80A4-BFEDF8B8FD2F}"/>
              </a:ext>
            </a:extLst>
          </p:cNvPr>
          <p:cNvSpPr>
            <a:spLocks xmlns:a="http://schemas.openxmlformats.org/drawingml/2006/main" noGrp="1"/>
          </p:cNvSpPr>
          <p:nvPr/>
        </p:nvSpPr>
        <p:spPr>
          <a:xfrm xmlns:a="http://schemas.openxmlformats.org/drawingml/2006/main">
            <a:off x="647700" y="621030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0" i="0">
                <a:solidFill>
                  <a:srgbClr val="5C6A70"/>
                </a:solidFill>
                <a:latin typeface="Aptos"/>
                <a:ea typeface="Aptos"/>
                <a:cs typeface="Aptos"/>
              </a:defRPr>
            </a:pPr>
            <a:r>
              <a:rPr sz="750" b="0" i="0">
                <a:solidFill>
                  <a:srgbClr val="5C6A70"/>
                </a:solidFill>
                <a:latin typeface="Aptos"/>
                <a:ea typeface="Aptos"/>
                <a:cs typeface="Aptos"/>
              </a:rPr>
              <a:t>Model workflow: research/train_predictor.py; src/iints/research/losses.py.</a:t>
            </a:r>
          </a:p>
        </p:txBody>
      </p:sp>
      <p:sp>
        <p:nvSpPr>
          <p:cNvPr id="33" name="">
            <a:extLst xmlns:a="http://schemas.openxmlformats.org/drawingml/2006/main">
              <a:ext uri="{FF2B5EF4-FFF2-40B4-BE49-F238E27FC236}">
                <a16:creationId xmlns:a16="http://schemas.microsoft.com/office/drawing/2014/main" id="{8734C6AF-8497-40B4-A99D-6670266EC433}"/>
              </a:ext>
            </a:extLst>
          </p:cNvPr>
          <p:cNvSpPr>
            <a:spLocks xmlns:a="http://schemas.openxmlformats.org/drawingml/2006/main" noGrp="1"/>
          </p:cNvSpPr>
          <p:nvPr/>
        </p:nvSpPr>
        <p:spPr>
          <a:xfrm xmlns:a="http://schemas.openxmlformats.org/drawingml/2006/main">
            <a:off x="647700" y="6467475"/>
            <a:ext cx="10896600" cy="9525"/>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57EC9FC6-1AD0-4FFC-A75D-6859FBA83593}"/>
              </a:ext>
            </a:extLst>
          </p:cNvPr>
          <p:cNvSpPr>
            <a:spLocks xmlns:a="http://schemas.openxmlformats.org/drawingml/2006/main" noGrp="1"/>
          </p:cNvSpPr>
          <p:nvPr/>
        </p:nvSpPr>
        <p:spPr>
          <a:xfrm xmlns:a="http://schemas.openxmlformats.org/drawingml/2006/main">
            <a:off x="647700" y="6553200"/>
            <a:ext cx="495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C6A70"/>
                </a:solidFill>
                <a:latin typeface="Aptos"/>
                <a:ea typeface="Aptos"/>
                <a:cs typeface="Aptos"/>
              </a:defRPr>
            </a:pPr>
            <a:r>
              <a:rPr sz="750" b="1" i="0">
                <a:solidFill>
                  <a:srgbClr val="5C6A70"/>
                </a:solidFill>
                <a:latin typeface="Aptos"/>
                <a:ea typeface="Aptos"/>
                <a:cs typeface="Aptos"/>
              </a:rPr>
              <a:t>RESEARCH &amp; EDUCATION ONLY · NOT A MEDICAL DEVICE</a:t>
            </a:r>
          </a:p>
        </p:txBody>
      </p:sp>
      <p:sp>
        <p:nvSpPr>
          <p:cNvPr id="35" name="">
            <a:extLst xmlns:a="http://schemas.openxmlformats.org/drawingml/2006/main">
              <a:ext uri="{FF2B5EF4-FFF2-40B4-BE49-F238E27FC236}">
                <a16:creationId xmlns:a16="http://schemas.microsoft.com/office/drawing/2014/main" id="{F7620C66-75CC-40A3-9CAB-DA537145C3A7}"/>
              </a:ext>
            </a:extLst>
          </p:cNvPr>
          <p:cNvSpPr>
            <a:spLocks xmlns:a="http://schemas.openxmlformats.org/drawingml/2006/main" noGrp="1"/>
          </p:cNvSpPr>
          <p:nvPr/>
        </p:nvSpPr>
        <p:spPr>
          <a:xfrm xmlns:a="http://schemas.openxmlformats.org/drawingml/2006/main">
            <a:off x="11096625" y="6534150"/>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1" i="0">
                <a:solidFill>
                  <a:srgbClr val="0C3B32"/>
                </a:solidFill>
                <a:latin typeface="Aptos"/>
                <a:ea typeface="Aptos"/>
                <a:cs typeface="Aptos"/>
              </a:defRPr>
            </a:pPr>
            <a:r>
              <a:rPr sz="900" b="1" i="0">
                <a:solidFill>
                  <a:srgbClr val="0C3B32"/>
                </a:solidFill>
                <a:latin typeface="Aptos"/>
                <a:ea typeface="Aptos"/>
                <a:cs typeface="Aptos"/>
              </a:rPr>
              <a:t>11</a:t>
            </a:r>
          </a:p>
        </p:txBody>
      </p:sp>
    </p:spTree>
    <p:extLst>
      <p:ext uri="{BB962C8B-B14F-4D97-AF65-F5344CB8AC3E}">
        <p14:creationId xmlns:p14="http://schemas.microsoft.com/office/powerpoint/2010/main" val="652531861"/>
      </p:ext>
    </p:extLst>
  </p:cSld>
</p:sld>
</file>

<file path=ppt/slides/slide1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7A6C03F-A2F7-487E-8506-54D700174088}"/>
              </a:ext>
            </a:extLst>
          </p:cNvPr>
          <p:cNvSpPr>
            <a:spLocks xmlns:a="http://schemas.openxmlformats.org/drawingml/2006/main" noGrp="1"/>
          </p:cNvSpPr>
          <p:nvPr/>
        </p:nvSpPr>
        <p:spPr>
          <a:xfrm xmlns:a="http://schemas.openxmlformats.org/drawingml/2006/main">
            <a:off x="647700" y="3429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E7D8A"/>
                </a:solidFill>
                <a:latin typeface="Aptos"/>
                <a:ea typeface="Aptos"/>
                <a:cs typeface="Aptos"/>
              </a:defRPr>
            </a:pPr>
            <a:r>
              <a:rPr sz="900" b="1" i="0">
                <a:solidFill>
                  <a:srgbClr val="2E7D8A"/>
                </a:solidFill>
                <a:latin typeface="Aptos"/>
                <a:ea typeface="Aptos"/>
                <a:cs typeface="Aptos"/>
              </a:rPr>
              <a:t>CURRENT RESEARCH CHECKPOINT</a:t>
            </a:r>
          </a:p>
        </p:txBody>
      </p:sp>
      <p:sp>
        <p:nvSpPr>
          <p:cNvPr id="2" name="">
            <a:extLst xmlns:a="http://schemas.openxmlformats.org/drawingml/2006/main">
              <a:ext uri="{FF2B5EF4-FFF2-40B4-BE49-F238E27FC236}">
                <a16:creationId xmlns:a16="http://schemas.microsoft.com/office/drawing/2014/main" id="{8B694AA8-4089-4FEA-8FBD-C3CDAAA5D862}"/>
              </a:ext>
            </a:extLst>
          </p:cNvPr>
          <p:cNvSpPr>
            <a:spLocks xmlns:a="http://schemas.openxmlformats.org/drawingml/2006/main" noGrp="1"/>
          </p:cNvSpPr>
          <p:nvPr/>
        </p:nvSpPr>
        <p:spPr>
          <a:xfrm xmlns:a="http://schemas.openxmlformats.org/drawingml/2006/main">
            <a:off x="6477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00" b="1" i="0">
                <a:solidFill>
                  <a:srgbClr val="0C3B32"/>
                </a:solidFill>
                <a:latin typeface="Aptos Display"/>
                <a:ea typeface="Aptos Display"/>
                <a:cs typeface="Aptos Display"/>
              </a:defRPr>
            </a:pPr>
            <a:r>
              <a:rPr sz="3000" b="1" i="0">
                <a:solidFill>
                  <a:srgbClr val="0C3B32"/>
                </a:solidFill>
                <a:latin typeface="Aptos Display"/>
                <a:ea typeface="Aptos Display"/>
                <a:cs typeface="Aptos Display"/>
              </a:rPr>
              <a:t>The predictor is promising—but not deployment-ready</a:t>
            </a:r>
          </a:p>
        </p:txBody>
      </p:sp>
      <p:sp>
        <p:nvSpPr>
          <p:cNvPr id="3" name="">
            <a:extLst xmlns:a="http://schemas.openxmlformats.org/drawingml/2006/main">
              <a:ext uri="{FF2B5EF4-FFF2-40B4-BE49-F238E27FC236}">
                <a16:creationId xmlns:a16="http://schemas.microsoft.com/office/drawing/2014/main" id="{472E6406-336F-48D4-A874-15C84BB0A3F7}"/>
              </a:ext>
            </a:extLst>
          </p:cNvPr>
          <p:cNvSpPr>
            <a:spLocks xmlns:a="http://schemas.openxmlformats.org/drawingml/2006/main" noGrp="1"/>
          </p:cNvSpPr>
          <p:nvPr/>
        </p:nvSpPr>
        <p:spPr>
          <a:xfrm xmlns:a="http://schemas.openxmlformats.org/drawingml/2006/main">
            <a:off x="647700" y="11811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5C6A70"/>
                </a:solidFill>
                <a:latin typeface="Aptos"/>
                <a:ea typeface="Aptos"/>
                <a:cs typeface="Aptos"/>
              </a:defRPr>
            </a:pPr>
            <a:r>
              <a:rPr sz="1275" b="0" i="0">
                <a:solidFill>
                  <a:srgbClr val="5C6A70"/>
                </a:solidFill>
                <a:latin typeface="Aptos"/>
                <a:ea typeface="Aptos"/>
                <a:cs typeface="Aptos"/>
              </a:rPr>
              <a:t>One leakage-aware OhioT1DM evaluation shows improvement over simple baselines and clear remaining limitations.</a:t>
            </a:r>
          </a:p>
        </p:txBody>
      </p:sp>
      <p:sp>
        <p:nvSpPr>
          <p:cNvPr id="4" name="">
            <a:extLst xmlns:a="http://schemas.openxmlformats.org/drawingml/2006/main">
              <a:ext uri="{FF2B5EF4-FFF2-40B4-BE49-F238E27FC236}">
                <a16:creationId xmlns:a16="http://schemas.microsoft.com/office/drawing/2014/main" id="{6DDC237B-B573-45C9-80A2-9FE4D88C8833}"/>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DDFA191-3F17-4843-B83C-DBC53AF67E62}"/>
              </a:ext>
            </a:extLst>
          </p:cNvPr>
          <p:cNvSpPr>
            <a:spLocks xmlns:a="http://schemas.openxmlformats.org/drawingml/2006/main" noGrp="1"/>
          </p:cNvSpPr>
          <p:nvPr/>
        </p:nvSpPr>
        <p:spPr>
          <a:xfrm xmlns:a="http://schemas.openxmlformats.org/drawingml/2006/main">
            <a:off x="647700" y="1885950"/>
            <a:ext cx="6381750" cy="3733800"/>
          </a:xfrm>
          <a:prstGeom xmlns:a="http://schemas.openxmlformats.org/drawingml/2006/main" prst="roundRect">
            <a:avLst>
              <a:gd name="adj" fmla="val 3061"/>
            </a:avLst>
          </a:prstGeom>
          <a:solidFill xmlns:a="http://schemas.openxmlformats.org/drawingml/2006/main">
            <a:srgbClr val="FFFDF8"/>
          </a:solidFill>
          <a:ln xmlns:a="http://schemas.openxmlformats.org/drawingml/2006/main" w="9525">
            <a:solidFill>
              <a:srgbClr val="C9D1CC"/>
            </a:solidFill>
            <a:prstDash val="solid"/>
          </a:ln>
        </p:spPr>
      </p:sp>
      <p:sp>
        <p:nvSpPr>
          <p:cNvPr id="6" name="">
            <a:extLst xmlns:a="http://schemas.openxmlformats.org/drawingml/2006/main">
              <a:ext uri="{FF2B5EF4-FFF2-40B4-BE49-F238E27FC236}">
                <a16:creationId xmlns:a16="http://schemas.microsoft.com/office/drawing/2014/main" id="{FC2B46A9-E455-423A-9110-32F50933B0DF}"/>
              </a:ext>
            </a:extLst>
          </p:cNvPr>
          <p:cNvSpPr>
            <a:spLocks xmlns:a="http://schemas.openxmlformats.org/drawingml/2006/main" noGrp="1"/>
          </p:cNvSpPr>
          <p:nvPr/>
        </p:nvSpPr>
        <p:spPr>
          <a:xfrm xmlns:a="http://schemas.openxmlformats.org/drawingml/2006/main">
            <a:off x="895350" y="20764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E7D8A"/>
                </a:solidFill>
                <a:latin typeface="Aptos"/>
                <a:ea typeface="Aptos"/>
                <a:cs typeface="Aptos"/>
              </a:defRPr>
            </a:pPr>
            <a:r>
              <a:rPr sz="975" b="1" i="0">
                <a:solidFill>
                  <a:srgbClr val="2E7D8A"/>
                </a:solidFill>
                <a:latin typeface="Aptos"/>
                <a:ea typeface="Aptos"/>
                <a:cs typeface="Aptos"/>
              </a:rPr>
              <a:t>120-MINUTE FORECAST · MAE (mg/dL, LOWER IS BETTER)</a:t>
            </a:r>
          </a:p>
        </p:txBody>
      </p:sp>
      <p:graphicFrame>
        <p:nvGraphicFramePr>
          <p:cNvPr id="40" name="Chart"/>
          <p:cNvGraphicFramePr/>
          <p:nvPr/>
        </p:nvGraphicFramePr>
        <p:xfrm>
          <a:off xmlns:a="http://schemas.openxmlformats.org/drawingml/2006/main" x="895350" y="2438400"/>
          <a:ext xmlns:a="http://schemas.openxmlformats.org/drawingml/2006/main" cx="5810250" cy="2781300"/>
        </p:xfrm>
        <a:graphic xmlns:a="http://schemas.openxmlformats.org/drawingml/2006/main">
          <a:graphicData uri="http://schemas.openxmlformats.org/drawingml/2006/chart">
            <c:chart xmlns:r="http://schemas.openxmlformats.org/officeDocument/2006/relationships" xmlns:c="http://schemas.openxmlformats.org/drawingml/2006/chart" r:id="R3cb09d1828104f1a"/>
          </a:graphicData>
        </a:graphic>
      </p:graphicFrame>
      <p:sp>
        <p:nvSpPr>
          <p:cNvPr id="8" name="">
            <a:extLst xmlns:a="http://schemas.openxmlformats.org/drawingml/2006/main">
              <a:ext uri="{FF2B5EF4-FFF2-40B4-BE49-F238E27FC236}">
                <a16:creationId xmlns:a16="http://schemas.microsoft.com/office/drawing/2014/main" id="{65C2D38B-B115-4640-A02E-771CE20DAE34}"/>
              </a:ext>
            </a:extLst>
          </p:cNvPr>
          <p:cNvSpPr>
            <a:spLocks xmlns:a="http://schemas.openxmlformats.org/drawingml/2006/main" noGrp="1"/>
          </p:cNvSpPr>
          <p:nvPr/>
        </p:nvSpPr>
        <p:spPr>
          <a:xfrm xmlns:a="http://schemas.openxmlformats.org/drawingml/2006/main">
            <a:off x="1571625" y="39433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i="0">
                <a:solidFill>
                  <a:srgbClr val="2E7D8A"/>
                </a:solidFill>
                <a:latin typeface="Aptos"/>
                <a:ea typeface="Aptos"/>
                <a:cs typeface="Aptos"/>
              </a:defRPr>
            </a:pPr>
            <a:r>
              <a:rPr sz="975" b="1" i="0">
                <a:solidFill>
                  <a:srgbClr val="2E7D8A"/>
                </a:solidFill>
                <a:latin typeface="Aptos"/>
                <a:ea typeface="Aptos"/>
                <a:cs typeface="Aptos"/>
              </a:rPr>
              <a:t>22.59</a:t>
            </a:r>
          </a:p>
        </p:txBody>
      </p:sp>
      <p:sp>
        <p:nvSpPr>
          <p:cNvPr id="9" name="">
            <a:extLst xmlns:a="http://schemas.openxmlformats.org/drawingml/2006/main">
              <a:ext uri="{FF2B5EF4-FFF2-40B4-BE49-F238E27FC236}">
                <a16:creationId xmlns:a16="http://schemas.microsoft.com/office/drawing/2014/main" id="{128A2515-38C8-4295-A79E-5D7D9A4726EE}"/>
              </a:ext>
            </a:extLst>
          </p:cNvPr>
          <p:cNvSpPr>
            <a:spLocks xmlns:a="http://schemas.openxmlformats.org/drawingml/2006/main" noGrp="1"/>
          </p:cNvSpPr>
          <p:nvPr/>
        </p:nvSpPr>
        <p:spPr>
          <a:xfrm xmlns:a="http://schemas.openxmlformats.org/drawingml/2006/main">
            <a:off x="2800350" y="3762375"/>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i="0">
                <a:solidFill>
                  <a:srgbClr val="2E7D8A"/>
                </a:solidFill>
                <a:latin typeface="Aptos"/>
                <a:ea typeface="Aptos"/>
                <a:cs typeface="Aptos"/>
              </a:defRPr>
            </a:pPr>
            <a:r>
              <a:rPr sz="975" b="1" i="0">
                <a:solidFill>
                  <a:srgbClr val="2E7D8A"/>
                </a:solidFill>
                <a:latin typeface="Aptos"/>
                <a:ea typeface="Aptos"/>
                <a:cs typeface="Aptos"/>
              </a:rPr>
              <a:t>27.24</a:t>
            </a:r>
          </a:p>
        </p:txBody>
      </p:sp>
      <p:sp>
        <p:nvSpPr>
          <p:cNvPr id="10" name="">
            <a:extLst xmlns:a="http://schemas.openxmlformats.org/drawingml/2006/main">
              <a:ext uri="{FF2B5EF4-FFF2-40B4-BE49-F238E27FC236}">
                <a16:creationId xmlns:a16="http://schemas.microsoft.com/office/drawing/2014/main" id="{8F2ED608-D603-4905-AC04-C609826BC8FA}"/>
              </a:ext>
            </a:extLst>
          </p:cNvPr>
          <p:cNvSpPr>
            <a:spLocks xmlns:a="http://schemas.openxmlformats.org/drawingml/2006/main" noGrp="1"/>
          </p:cNvSpPr>
          <p:nvPr/>
        </p:nvSpPr>
        <p:spPr>
          <a:xfrm xmlns:a="http://schemas.openxmlformats.org/drawingml/2006/main">
            <a:off x="4029075" y="2924175"/>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i="0">
                <a:solidFill>
                  <a:srgbClr val="2E7D8A"/>
                </a:solidFill>
                <a:latin typeface="Aptos"/>
                <a:ea typeface="Aptos"/>
                <a:cs typeface="Aptos"/>
              </a:defRPr>
            </a:pPr>
            <a:r>
              <a:rPr sz="975" b="1" i="0">
                <a:solidFill>
                  <a:srgbClr val="2E7D8A"/>
                </a:solidFill>
                <a:latin typeface="Aptos"/>
                <a:ea typeface="Aptos"/>
                <a:cs typeface="Aptos"/>
              </a:rPr>
              <a:t>48.91</a:t>
            </a:r>
          </a:p>
        </p:txBody>
      </p:sp>
      <p:sp>
        <p:nvSpPr>
          <p:cNvPr id="11" name="">
            <a:extLst xmlns:a="http://schemas.openxmlformats.org/drawingml/2006/main">
              <a:ext uri="{FF2B5EF4-FFF2-40B4-BE49-F238E27FC236}">
                <a16:creationId xmlns:a16="http://schemas.microsoft.com/office/drawing/2014/main" id="{6A1E05CB-0AD5-41AD-9CDE-2C667341F058}"/>
              </a:ext>
            </a:extLst>
          </p:cNvPr>
          <p:cNvSpPr>
            <a:spLocks xmlns:a="http://schemas.openxmlformats.org/drawingml/2006/main" noGrp="1"/>
          </p:cNvSpPr>
          <p:nvPr/>
        </p:nvSpPr>
        <p:spPr>
          <a:xfrm xmlns:a="http://schemas.openxmlformats.org/drawingml/2006/main">
            <a:off x="5257800" y="2771775"/>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i="0">
                <a:solidFill>
                  <a:srgbClr val="2E7D8A"/>
                </a:solidFill>
                <a:latin typeface="Aptos"/>
                <a:ea typeface="Aptos"/>
                <a:cs typeface="Aptos"/>
              </a:defRPr>
            </a:pPr>
            <a:r>
              <a:rPr sz="975" b="1" i="0">
                <a:solidFill>
                  <a:srgbClr val="2E7D8A"/>
                </a:solidFill>
                <a:latin typeface="Aptos"/>
                <a:ea typeface="Aptos"/>
                <a:cs typeface="Aptos"/>
              </a:rPr>
              <a:t>52.91</a:t>
            </a:r>
          </a:p>
        </p:txBody>
      </p:sp>
      <p:sp>
        <p:nvSpPr>
          <p:cNvPr id="12" name="">
            <a:extLst xmlns:a="http://schemas.openxmlformats.org/drawingml/2006/main">
              <a:ext uri="{FF2B5EF4-FFF2-40B4-BE49-F238E27FC236}">
                <a16:creationId xmlns:a16="http://schemas.microsoft.com/office/drawing/2014/main" id="{2091CD3D-ADA2-4607-AE71-6C92C57FB47B}"/>
              </a:ext>
            </a:extLst>
          </p:cNvPr>
          <p:cNvSpPr>
            <a:spLocks xmlns:a="http://schemas.openxmlformats.org/drawingml/2006/main" noGrp="1"/>
          </p:cNvSpPr>
          <p:nvPr/>
        </p:nvSpPr>
        <p:spPr>
          <a:xfrm xmlns:a="http://schemas.openxmlformats.org/drawingml/2006/main">
            <a:off x="7334250" y="1885950"/>
            <a:ext cx="1905000" cy="876300"/>
          </a:xfrm>
          <a:prstGeom xmlns:a="http://schemas.openxmlformats.org/drawingml/2006/main" prst="roundRect">
            <a:avLst>
              <a:gd name="adj" fmla="val 13043"/>
            </a:avLst>
          </a:prstGeom>
          <a:solidFill xmlns:a="http://schemas.openxmlformats.org/drawingml/2006/main">
            <a:srgbClr val="E4EE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A0B074A-A540-4361-B0D6-3385BB32C0F1}"/>
              </a:ext>
            </a:extLst>
          </p:cNvPr>
          <p:cNvSpPr>
            <a:spLocks xmlns:a="http://schemas.openxmlformats.org/drawingml/2006/main" noGrp="1"/>
          </p:cNvSpPr>
          <p:nvPr/>
        </p:nvSpPr>
        <p:spPr>
          <a:xfrm xmlns:a="http://schemas.openxmlformats.org/drawingml/2006/main">
            <a:off x="7486650" y="2000250"/>
            <a:ext cx="1600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0C3B32"/>
                </a:solidFill>
                <a:latin typeface="Aptos Display"/>
                <a:ea typeface="Aptos Display"/>
                <a:cs typeface="Aptos Display"/>
              </a:defRPr>
            </a:pPr>
            <a:r>
              <a:rPr sz="2550" b="1" i="0">
                <a:solidFill>
                  <a:srgbClr val="0C3B32"/>
                </a:solidFill>
                <a:latin typeface="Aptos Display"/>
                <a:ea typeface="Aptos Display"/>
                <a:cs typeface="Aptos Display"/>
              </a:rPr>
              <a:t>153,055</a:t>
            </a:r>
          </a:p>
        </p:txBody>
      </p:sp>
      <p:sp>
        <p:nvSpPr>
          <p:cNvPr id="14" name="">
            <a:extLst xmlns:a="http://schemas.openxmlformats.org/drawingml/2006/main">
              <a:ext uri="{FF2B5EF4-FFF2-40B4-BE49-F238E27FC236}">
                <a16:creationId xmlns:a16="http://schemas.microsoft.com/office/drawing/2014/main" id="{8D940E03-C9AA-4DC8-AFF9-8F1105C328B8}"/>
              </a:ext>
            </a:extLst>
          </p:cNvPr>
          <p:cNvSpPr>
            <a:spLocks xmlns:a="http://schemas.openxmlformats.org/drawingml/2006/main" noGrp="1"/>
          </p:cNvSpPr>
          <p:nvPr/>
        </p:nvSpPr>
        <p:spPr>
          <a:xfrm xmlns:a="http://schemas.openxmlformats.org/drawingml/2006/main">
            <a:off x="7486650" y="243840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5C6A70"/>
                </a:solidFill>
                <a:latin typeface="Aptos"/>
                <a:ea typeface="Aptos"/>
                <a:cs typeface="Aptos"/>
              </a:defRPr>
            </a:pPr>
            <a:r>
              <a:rPr sz="975" b="1" i="0">
                <a:solidFill>
                  <a:srgbClr val="5C6A70"/>
                </a:solidFill>
                <a:latin typeface="Aptos"/>
                <a:ea typeface="Aptos"/>
                <a:cs typeface="Aptos"/>
              </a:rPr>
              <a:t>OHIO TRAINING ROWS</a:t>
            </a:r>
          </a:p>
        </p:txBody>
      </p:sp>
      <p:sp>
        <p:nvSpPr>
          <p:cNvPr id="15" name="">
            <a:extLst xmlns:a="http://schemas.openxmlformats.org/drawingml/2006/main">
              <a:ext uri="{FF2B5EF4-FFF2-40B4-BE49-F238E27FC236}">
                <a16:creationId xmlns:a16="http://schemas.microsoft.com/office/drawing/2014/main" id="{5B8337EA-9AF6-45FE-84E6-73BBEE0A1A4F}"/>
              </a:ext>
            </a:extLst>
          </p:cNvPr>
          <p:cNvSpPr>
            <a:spLocks xmlns:a="http://schemas.openxmlformats.org/drawingml/2006/main" noGrp="1"/>
          </p:cNvSpPr>
          <p:nvPr/>
        </p:nvSpPr>
        <p:spPr>
          <a:xfrm xmlns:a="http://schemas.openxmlformats.org/drawingml/2006/main">
            <a:off x="9410700" y="1885950"/>
            <a:ext cx="1905000" cy="876300"/>
          </a:xfrm>
          <a:prstGeom xmlns:a="http://schemas.openxmlformats.org/drawingml/2006/main" prst="roundRect">
            <a:avLst>
              <a:gd name="adj" fmla="val 13043"/>
            </a:avLst>
          </a:prstGeom>
          <a:solidFill xmlns:a="http://schemas.openxmlformats.org/drawingml/2006/main">
            <a:srgbClr val="E7F0F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83D8AFB-63E6-4E64-BA48-6F5CB466E534}"/>
              </a:ext>
            </a:extLst>
          </p:cNvPr>
          <p:cNvSpPr>
            <a:spLocks xmlns:a="http://schemas.openxmlformats.org/drawingml/2006/main" noGrp="1"/>
          </p:cNvSpPr>
          <p:nvPr/>
        </p:nvSpPr>
        <p:spPr>
          <a:xfrm xmlns:a="http://schemas.openxmlformats.org/drawingml/2006/main">
            <a:off x="9563100" y="2000250"/>
            <a:ext cx="1600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173A52"/>
                </a:solidFill>
                <a:latin typeface="Aptos Display"/>
                <a:ea typeface="Aptos Display"/>
                <a:cs typeface="Aptos Display"/>
              </a:defRPr>
            </a:pPr>
            <a:r>
              <a:rPr sz="2550" b="1" i="0">
                <a:solidFill>
                  <a:srgbClr val="173A52"/>
                </a:solidFill>
                <a:latin typeface="Aptos Display"/>
                <a:ea typeface="Aptos Display"/>
                <a:cs typeface="Aptos Display"/>
              </a:rPr>
              <a:t>12</a:t>
            </a:r>
          </a:p>
        </p:txBody>
      </p:sp>
      <p:sp>
        <p:nvSpPr>
          <p:cNvPr id="17" name="">
            <a:extLst xmlns:a="http://schemas.openxmlformats.org/drawingml/2006/main">
              <a:ext uri="{FF2B5EF4-FFF2-40B4-BE49-F238E27FC236}">
                <a16:creationId xmlns:a16="http://schemas.microsoft.com/office/drawing/2014/main" id="{67CADD88-FA4D-4E72-8AC4-FC796757E74D}"/>
              </a:ext>
            </a:extLst>
          </p:cNvPr>
          <p:cNvSpPr>
            <a:spLocks xmlns:a="http://schemas.openxmlformats.org/drawingml/2006/main" noGrp="1"/>
          </p:cNvSpPr>
          <p:nvPr/>
        </p:nvSpPr>
        <p:spPr>
          <a:xfrm xmlns:a="http://schemas.openxmlformats.org/drawingml/2006/main">
            <a:off x="9563100" y="243840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5C6A70"/>
                </a:solidFill>
                <a:latin typeface="Aptos"/>
                <a:ea typeface="Aptos"/>
                <a:cs typeface="Aptos"/>
              </a:defRPr>
            </a:pPr>
            <a:r>
              <a:rPr sz="975" b="1" i="0">
                <a:solidFill>
                  <a:srgbClr val="5C6A70"/>
                </a:solidFill>
                <a:latin typeface="Aptos"/>
                <a:ea typeface="Aptos"/>
                <a:cs typeface="Aptos"/>
              </a:rPr>
              <a:t>SUBJECTS</a:t>
            </a:r>
          </a:p>
        </p:txBody>
      </p:sp>
      <p:sp>
        <p:nvSpPr>
          <p:cNvPr id="18" name="">
            <a:extLst xmlns:a="http://schemas.openxmlformats.org/drawingml/2006/main">
              <a:ext uri="{FF2B5EF4-FFF2-40B4-BE49-F238E27FC236}">
                <a16:creationId xmlns:a16="http://schemas.microsoft.com/office/drawing/2014/main" id="{F9B6428F-A016-41EB-9079-32B37FB6D641}"/>
              </a:ext>
            </a:extLst>
          </p:cNvPr>
          <p:cNvSpPr>
            <a:spLocks xmlns:a="http://schemas.openxmlformats.org/drawingml/2006/main" noGrp="1"/>
          </p:cNvSpPr>
          <p:nvPr/>
        </p:nvSpPr>
        <p:spPr>
          <a:xfrm xmlns:a="http://schemas.openxmlformats.org/drawingml/2006/main">
            <a:off x="7334250" y="2914650"/>
            <a:ext cx="1905000" cy="876300"/>
          </a:xfrm>
          <a:prstGeom xmlns:a="http://schemas.openxmlformats.org/drawingml/2006/main" prst="roundRect">
            <a:avLst>
              <a:gd name="adj" fmla="val 13043"/>
            </a:avLst>
          </a:prstGeom>
          <a:solidFill xmlns:a="http://schemas.openxmlformats.org/drawingml/2006/main">
            <a:srgbClr val="F6E9C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B7DBCF0-47C2-412B-8EA8-3BA4E7211408}"/>
              </a:ext>
            </a:extLst>
          </p:cNvPr>
          <p:cNvSpPr>
            <a:spLocks xmlns:a="http://schemas.openxmlformats.org/drawingml/2006/main" noGrp="1"/>
          </p:cNvSpPr>
          <p:nvPr/>
        </p:nvSpPr>
        <p:spPr>
          <a:xfrm xmlns:a="http://schemas.openxmlformats.org/drawingml/2006/main">
            <a:off x="7486650" y="3028950"/>
            <a:ext cx="1600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7A4C00"/>
                </a:solidFill>
                <a:latin typeface="Aptos Display"/>
                <a:ea typeface="Aptos Display"/>
                <a:cs typeface="Aptos Display"/>
              </a:defRPr>
            </a:pPr>
            <a:r>
              <a:rPr sz="2550" b="1" i="0">
                <a:solidFill>
                  <a:srgbClr val="7A4C00"/>
                </a:solidFill>
                <a:latin typeface="Aptos Display"/>
                <a:ea typeface="Aptos Display"/>
                <a:cs typeface="Aptos Display"/>
              </a:rPr>
              <a:t>8 / 2 / 2</a:t>
            </a:r>
          </a:p>
        </p:txBody>
      </p:sp>
      <p:sp>
        <p:nvSpPr>
          <p:cNvPr id="20" name="">
            <a:extLst xmlns:a="http://schemas.openxmlformats.org/drawingml/2006/main">
              <a:ext uri="{FF2B5EF4-FFF2-40B4-BE49-F238E27FC236}">
                <a16:creationId xmlns:a16="http://schemas.microsoft.com/office/drawing/2014/main" id="{BECD9C76-23B6-4B37-B600-C954F6A274E9}"/>
              </a:ext>
            </a:extLst>
          </p:cNvPr>
          <p:cNvSpPr>
            <a:spLocks xmlns:a="http://schemas.openxmlformats.org/drawingml/2006/main" noGrp="1"/>
          </p:cNvSpPr>
          <p:nvPr/>
        </p:nvSpPr>
        <p:spPr>
          <a:xfrm xmlns:a="http://schemas.openxmlformats.org/drawingml/2006/main">
            <a:off x="7486650" y="346710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958"/>
          </a:bodyPr>
          <a:lstStyle xmlns:a="http://schemas.openxmlformats.org/drawingml/2006/main"/>
          <a:p xmlns:a="http://schemas.openxmlformats.org/drawingml/2006/main">
            <a:pPr algn="l">
              <a:lnSpc>
                <a:spcPct val="100000"/>
              </a:lnSpc>
              <a:buNone/>
              <a:defRPr sz="975" b="1" i="0">
                <a:solidFill>
                  <a:srgbClr val="5C6A70"/>
                </a:solidFill>
                <a:latin typeface="Aptos"/>
                <a:ea typeface="Aptos"/>
                <a:cs typeface="Aptos"/>
              </a:defRPr>
            </a:pPr>
            <a:r>
              <a:rPr sz="975" b="1" i="0">
                <a:solidFill>
                  <a:srgbClr val="5C6A70"/>
                </a:solidFill>
                <a:latin typeface="Aptos"/>
                <a:ea typeface="Aptos"/>
                <a:cs typeface="Aptos"/>
              </a:rPr>
              <a:t>TRAIN / VAL / TEST SUBJECTS</a:t>
            </a:r>
          </a:p>
        </p:txBody>
      </p:sp>
      <p:sp>
        <p:nvSpPr>
          <p:cNvPr id="21" name="">
            <a:extLst xmlns:a="http://schemas.openxmlformats.org/drawingml/2006/main">
              <a:ext uri="{FF2B5EF4-FFF2-40B4-BE49-F238E27FC236}">
                <a16:creationId xmlns:a16="http://schemas.microsoft.com/office/drawing/2014/main" id="{11288861-448B-4609-8738-BAD685C6DD08}"/>
              </a:ext>
            </a:extLst>
          </p:cNvPr>
          <p:cNvSpPr>
            <a:spLocks xmlns:a="http://schemas.openxmlformats.org/drawingml/2006/main" noGrp="1"/>
          </p:cNvSpPr>
          <p:nvPr/>
        </p:nvSpPr>
        <p:spPr>
          <a:xfrm xmlns:a="http://schemas.openxmlformats.org/drawingml/2006/main">
            <a:off x="9410700" y="2914650"/>
            <a:ext cx="1905000" cy="876300"/>
          </a:xfrm>
          <a:prstGeom xmlns:a="http://schemas.openxmlformats.org/drawingml/2006/main" prst="roundRect">
            <a:avLst>
              <a:gd name="adj" fmla="val 13043"/>
            </a:avLst>
          </a:prstGeom>
          <a:solidFill xmlns:a="http://schemas.openxmlformats.org/drawingml/2006/main">
            <a:srgbClr val="F5E4E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6991769-1837-48E0-844A-D04E69C152B4}"/>
              </a:ext>
            </a:extLst>
          </p:cNvPr>
          <p:cNvSpPr>
            <a:spLocks xmlns:a="http://schemas.openxmlformats.org/drawingml/2006/main" noGrp="1"/>
          </p:cNvSpPr>
          <p:nvPr/>
        </p:nvSpPr>
        <p:spPr>
          <a:xfrm xmlns:a="http://schemas.openxmlformats.org/drawingml/2006/main">
            <a:off x="9563100" y="3028950"/>
            <a:ext cx="1600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C5534A"/>
                </a:solidFill>
                <a:latin typeface="Aptos Display"/>
                <a:ea typeface="Aptos Display"/>
                <a:cs typeface="Aptos Display"/>
              </a:defRPr>
            </a:pPr>
            <a:r>
              <a:rPr sz="2550" b="1" i="0">
                <a:solidFill>
                  <a:srgbClr val="C5534A"/>
                </a:solidFill>
                <a:latin typeface="Aptos Display"/>
                <a:ea typeface="Aptos Display"/>
                <a:cs typeface="Aptos Display"/>
              </a:rPr>
              <a:t>20,748</a:t>
            </a:r>
          </a:p>
        </p:txBody>
      </p:sp>
      <p:sp>
        <p:nvSpPr>
          <p:cNvPr id="23" name="">
            <a:extLst xmlns:a="http://schemas.openxmlformats.org/drawingml/2006/main">
              <a:ext uri="{FF2B5EF4-FFF2-40B4-BE49-F238E27FC236}">
                <a16:creationId xmlns:a16="http://schemas.microsoft.com/office/drawing/2014/main" id="{AEDE6473-E06C-4BBA-A5E5-24A78BB37634}"/>
              </a:ext>
            </a:extLst>
          </p:cNvPr>
          <p:cNvSpPr>
            <a:spLocks xmlns:a="http://schemas.openxmlformats.org/drawingml/2006/main" noGrp="1"/>
          </p:cNvSpPr>
          <p:nvPr/>
        </p:nvSpPr>
        <p:spPr>
          <a:xfrm xmlns:a="http://schemas.openxmlformats.org/drawingml/2006/main">
            <a:off x="9563100" y="346710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5C6A70"/>
                </a:solidFill>
                <a:latin typeface="Aptos"/>
                <a:ea typeface="Aptos"/>
                <a:cs typeface="Aptos"/>
              </a:defRPr>
            </a:pPr>
            <a:r>
              <a:rPr sz="975" b="1" i="0">
                <a:solidFill>
                  <a:srgbClr val="5C6A70"/>
                </a:solidFill>
                <a:latin typeface="Aptos"/>
                <a:ea typeface="Aptos"/>
                <a:cs typeface="Aptos"/>
              </a:rPr>
              <a:t>EVALUATION WINDOWS</a:t>
            </a:r>
          </a:p>
        </p:txBody>
      </p:sp>
      <p:sp>
        <p:nvSpPr>
          <p:cNvPr id="24" name="">
            <a:extLst xmlns:a="http://schemas.openxmlformats.org/drawingml/2006/main">
              <a:ext uri="{FF2B5EF4-FFF2-40B4-BE49-F238E27FC236}">
                <a16:creationId xmlns:a16="http://schemas.microsoft.com/office/drawing/2014/main" id="{D216A124-05F8-452A-9392-C93A5F1D946A}"/>
              </a:ext>
            </a:extLst>
          </p:cNvPr>
          <p:cNvSpPr>
            <a:spLocks xmlns:a="http://schemas.openxmlformats.org/drawingml/2006/main" noGrp="1"/>
          </p:cNvSpPr>
          <p:nvPr/>
        </p:nvSpPr>
        <p:spPr>
          <a:xfrm xmlns:a="http://schemas.openxmlformats.org/drawingml/2006/main">
            <a:off x="7334250" y="4057650"/>
            <a:ext cx="3981450" cy="1562100"/>
          </a:xfrm>
          <a:prstGeom xmlns:a="http://schemas.openxmlformats.org/drawingml/2006/main" prst="roundRect">
            <a:avLst>
              <a:gd name="adj" fmla="val 7317"/>
            </a:avLst>
          </a:prstGeom>
          <a:solidFill xmlns:a="http://schemas.openxmlformats.org/drawingml/2006/main">
            <a:srgbClr val="0C3B3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E08859F-13A9-4913-8F1A-DF366B2E4D05}"/>
              </a:ext>
            </a:extLst>
          </p:cNvPr>
          <p:cNvSpPr>
            <a:spLocks xmlns:a="http://schemas.openxmlformats.org/drawingml/2006/main" noGrp="1"/>
          </p:cNvSpPr>
          <p:nvPr/>
        </p:nvSpPr>
        <p:spPr>
          <a:xfrm xmlns:a="http://schemas.openxmlformats.org/drawingml/2006/main">
            <a:off x="7562850" y="4248150"/>
            <a:ext cx="3524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D89A2B"/>
                </a:solidFill>
                <a:latin typeface="Aptos"/>
                <a:ea typeface="Aptos"/>
                <a:cs typeface="Aptos"/>
              </a:defRPr>
            </a:pPr>
            <a:r>
              <a:rPr sz="975" b="1" i="0">
                <a:solidFill>
                  <a:srgbClr val="D89A2B"/>
                </a:solidFill>
                <a:latin typeface="Aptos"/>
                <a:ea typeface="Aptos"/>
                <a:cs typeface="Aptos"/>
              </a:rPr>
              <a:t>SAFE-BAND CHECKPOINT</a:t>
            </a:r>
          </a:p>
        </p:txBody>
      </p:sp>
      <p:sp>
        <p:nvSpPr>
          <p:cNvPr id="26" name="">
            <a:extLst xmlns:a="http://schemas.openxmlformats.org/drawingml/2006/main">
              <a:ext uri="{FF2B5EF4-FFF2-40B4-BE49-F238E27FC236}">
                <a16:creationId xmlns:a16="http://schemas.microsoft.com/office/drawing/2014/main" id="{4D634A4C-D7D9-4903-9D25-71F53661A2A5}"/>
              </a:ext>
            </a:extLst>
          </p:cNvPr>
          <p:cNvSpPr>
            <a:spLocks xmlns:a="http://schemas.openxmlformats.org/drawingml/2006/main" noGrp="1"/>
          </p:cNvSpPr>
          <p:nvPr/>
        </p:nvSpPr>
        <p:spPr>
          <a:xfrm xmlns:a="http://schemas.openxmlformats.org/drawingml/2006/main">
            <a:off x="7562850" y="455295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FFFFFF"/>
                </a:solidFill>
                <a:latin typeface="Aptos Display"/>
                <a:ea typeface="Aptos Display"/>
                <a:cs typeface="Aptos Display"/>
              </a:defRPr>
            </a:pPr>
            <a:r>
              <a:rPr sz="1650" b="1" i="0">
                <a:solidFill>
                  <a:srgbClr val="FFFFFF"/>
                </a:solidFill>
                <a:latin typeface="Aptos Display"/>
                <a:ea typeface="Aptos Display"/>
                <a:cs typeface="Aptos Display"/>
              </a:rPr>
              <a:t>MAE 22.59  ·  RMSE 32.58</a:t>
            </a:r>
          </a:p>
        </p:txBody>
      </p:sp>
      <p:sp>
        <p:nvSpPr>
          <p:cNvPr id="27" name="">
            <a:extLst xmlns:a="http://schemas.openxmlformats.org/drawingml/2006/main">
              <a:ext uri="{FF2B5EF4-FFF2-40B4-BE49-F238E27FC236}">
                <a16:creationId xmlns:a16="http://schemas.microsoft.com/office/drawing/2014/main" id="{E84B90E8-63F2-49F5-AE97-AF2D43F61896}"/>
              </a:ext>
            </a:extLst>
          </p:cNvPr>
          <p:cNvSpPr>
            <a:spLocks xmlns:a="http://schemas.openxmlformats.org/drawingml/2006/main" noGrp="1"/>
          </p:cNvSpPr>
          <p:nvPr/>
        </p:nvSpPr>
        <p:spPr>
          <a:xfrm xmlns:a="http://schemas.openxmlformats.org/drawingml/2006/main">
            <a:off x="7562850" y="4914900"/>
            <a:ext cx="3524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DDEBE5"/>
                </a:solidFill>
                <a:latin typeface="Aptos"/>
                <a:ea typeface="Aptos"/>
                <a:cs typeface="Aptos"/>
              </a:defRPr>
            </a:pPr>
            <a:r>
              <a:rPr sz="1125" b="0" i="0">
                <a:solidFill>
                  <a:srgbClr val="DDEBE5"/>
                </a:solidFill>
                <a:latin typeface="Aptos"/>
                <a:ea typeface="Aptos"/>
                <a:cs typeface="Aptos"/>
              </a:rPr>
              <a:t>Within ±20 mg/dL: 59.8%</a:t>
            </a:r>
          </a:p>
          <a:p xmlns:a="http://schemas.openxmlformats.org/drawingml/2006/main">
            <a:pPr algn="l">
              <a:lnSpc>
                <a:spcPct val="108000"/>
              </a:lnSpc>
              <a:buNone/>
              <a:defRPr sz="1125" b="0" i="0">
                <a:solidFill>
                  <a:srgbClr val="DDEBE5"/>
                </a:solidFill>
                <a:latin typeface="Aptos"/>
                <a:ea typeface="Aptos"/>
                <a:cs typeface="Aptos"/>
              </a:defRPr>
            </a:pPr>
            <a:r>
              <a:rPr sz="1125" b="0" i="0">
                <a:solidFill>
                  <a:srgbClr val="DDEBE5"/>
                </a:solidFill>
                <a:latin typeface="Aptos"/>
                <a:ea typeface="Aptos"/>
                <a:cs typeface="Aptos"/>
              </a:rPr>
              <a:t>Missed hypo rate: 2.41%</a:t>
            </a:r>
          </a:p>
          <a:p xmlns:a="http://schemas.openxmlformats.org/drawingml/2006/main">
            <a:pPr algn="l">
              <a:lnSpc>
                <a:spcPct val="108000"/>
              </a:lnSpc>
              <a:buNone/>
              <a:defRPr sz="1125" b="0" i="0">
                <a:solidFill>
                  <a:srgbClr val="DDEBE5"/>
                </a:solidFill>
                <a:latin typeface="Aptos"/>
                <a:ea typeface="Aptos"/>
                <a:cs typeface="Aptos"/>
              </a:defRPr>
            </a:pPr>
            <a:r>
              <a:rPr sz="1125" b="0" i="0">
                <a:solidFill>
                  <a:srgbClr val="DDEBE5"/>
                </a:solidFill>
                <a:latin typeface="Aptos"/>
                <a:ea typeface="Aptos"/>
                <a:cs typeface="Aptos"/>
              </a:rPr>
              <a:t>Any physiology violation: 4.80%</a:t>
            </a:r>
          </a:p>
        </p:txBody>
      </p:sp>
      <p:sp>
        <p:nvSpPr>
          <p:cNvPr id="28" name="">
            <a:extLst xmlns:a="http://schemas.openxmlformats.org/drawingml/2006/main">
              <a:ext uri="{FF2B5EF4-FFF2-40B4-BE49-F238E27FC236}">
                <a16:creationId xmlns:a16="http://schemas.microsoft.com/office/drawing/2014/main" id="{F7DA59FC-8DDD-4871-8B4C-489DC85714D0}"/>
              </a:ext>
            </a:extLst>
          </p:cNvPr>
          <p:cNvSpPr>
            <a:spLocks xmlns:a="http://schemas.openxmlformats.org/drawingml/2006/main" noGrp="1"/>
          </p:cNvSpPr>
          <p:nvPr/>
        </p:nvSpPr>
        <p:spPr>
          <a:xfrm xmlns:a="http://schemas.openxmlformats.org/drawingml/2006/main">
            <a:off x="3409950" y="5810250"/>
            <a:ext cx="5372100" cy="304800"/>
          </a:xfrm>
          <a:prstGeom xmlns:a="http://schemas.openxmlformats.org/drawingml/2006/main" prst="roundRect">
            <a:avLst>
              <a:gd name="adj" fmla="val 37500"/>
            </a:avLst>
          </a:prstGeom>
          <a:solidFill xmlns:a="http://schemas.openxmlformats.org/drawingml/2006/main">
            <a:srgbClr val="F5E4E1"/>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D6C9F3E-CFFC-425D-AFBB-AEAB8BE8D202}"/>
              </a:ext>
            </a:extLst>
          </p:cNvPr>
          <p:cNvSpPr>
            <a:spLocks xmlns:a="http://schemas.openxmlformats.org/drawingml/2006/main" noGrp="1"/>
          </p:cNvSpPr>
          <p:nvPr/>
        </p:nvSpPr>
        <p:spPr>
          <a:xfrm xmlns:a="http://schemas.openxmlformats.org/drawingml/2006/main">
            <a:off x="3505200" y="5848350"/>
            <a:ext cx="518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C5534A"/>
                </a:solidFill>
                <a:latin typeface="Aptos"/>
                <a:ea typeface="Aptos"/>
                <a:cs typeface="Aptos"/>
              </a:defRPr>
            </a:pPr>
            <a:r>
              <a:rPr sz="1050" b="1" i="0">
                <a:solidFill>
                  <a:srgbClr val="C5534A"/>
                </a:solidFill>
                <a:latin typeface="Aptos"/>
                <a:ea typeface="Aptos"/>
                <a:cs typeface="Aptos"/>
              </a:rPr>
              <a:t>RESEARCH EVALUATION — NOT CLINICAL VALIDATION</a:t>
            </a:r>
          </a:p>
        </p:txBody>
      </p:sp>
      <p:sp>
        <p:nvSpPr>
          <p:cNvPr id="30" name="">
            <a:extLst xmlns:a="http://schemas.openxmlformats.org/drawingml/2006/main">
              <a:ext uri="{FF2B5EF4-FFF2-40B4-BE49-F238E27FC236}">
                <a16:creationId xmlns:a16="http://schemas.microsoft.com/office/drawing/2014/main" id="{4BF7C145-CAD0-4C55-8F66-33CCBA2EC494}"/>
              </a:ext>
            </a:extLst>
          </p:cNvPr>
          <p:cNvSpPr>
            <a:spLocks xmlns:a="http://schemas.openxmlformats.org/drawingml/2006/main" noGrp="1"/>
          </p:cNvSpPr>
          <p:nvPr/>
        </p:nvSpPr>
        <p:spPr>
          <a:xfrm xmlns:a="http://schemas.openxmlformats.org/drawingml/2006/main">
            <a:off x="647700" y="621030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0" i="0">
                <a:solidFill>
                  <a:srgbClr val="5C6A70"/>
                </a:solidFill>
                <a:latin typeface="Aptos"/>
                <a:ea typeface="Aptos"/>
                <a:cs typeface="Aptos"/>
              </a:defRPr>
            </a:pPr>
            <a:r>
              <a:rPr sz="750" b="0" i="0">
                <a:solidFill>
                  <a:srgbClr val="5C6A70"/>
                </a:solidFill>
                <a:latin typeface="Aptos"/>
                <a:ea typeface="Aptos"/>
                <a:cs typeface="Aptos"/>
              </a:rPr>
              <a:t>Local model comparison created 16 Jun 2026; OhioT1DM data are not redistributed in this deck.</a:t>
            </a:r>
          </a:p>
        </p:txBody>
      </p:sp>
      <p:sp>
        <p:nvSpPr>
          <p:cNvPr id="31" name="">
            <a:extLst xmlns:a="http://schemas.openxmlformats.org/drawingml/2006/main">
              <a:ext uri="{FF2B5EF4-FFF2-40B4-BE49-F238E27FC236}">
                <a16:creationId xmlns:a16="http://schemas.microsoft.com/office/drawing/2014/main" id="{60E6685E-2D4E-4267-99D5-ACC3D6EA8DEC}"/>
              </a:ext>
            </a:extLst>
          </p:cNvPr>
          <p:cNvSpPr>
            <a:spLocks xmlns:a="http://schemas.openxmlformats.org/drawingml/2006/main" noGrp="1"/>
          </p:cNvSpPr>
          <p:nvPr/>
        </p:nvSpPr>
        <p:spPr>
          <a:xfrm xmlns:a="http://schemas.openxmlformats.org/drawingml/2006/main">
            <a:off x="647700" y="6467475"/>
            <a:ext cx="10896600" cy="9525"/>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E288F3A-0E50-44E2-8A69-B39A5C253431}"/>
              </a:ext>
            </a:extLst>
          </p:cNvPr>
          <p:cNvSpPr>
            <a:spLocks xmlns:a="http://schemas.openxmlformats.org/drawingml/2006/main" noGrp="1"/>
          </p:cNvSpPr>
          <p:nvPr/>
        </p:nvSpPr>
        <p:spPr>
          <a:xfrm xmlns:a="http://schemas.openxmlformats.org/drawingml/2006/main">
            <a:off x="647700" y="6553200"/>
            <a:ext cx="495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C6A70"/>
                </a:solidFill>
                <a:latin typeface="Aptos"/>
                <a:ea typeface="Aptos"/>
                <a:cs typeface="Aptos"/>
              </a:defRPr>
            </a:pPr>
            <a:r>
              <a:rPr sz="750" b="1" i="0">
                <a:solidFill>
                  <a:srgbClr val="5C6A70"/>
                </a:solidFill>
                <a:latin typeface="Aptos"/>
                <a:ea typeface="Aptos"/>
                <a:cs typeface="Aptos"/>
              </a:rPr>
              <a:t>RESEARCH &amp; EDUCATION ONLY · NOT A MEDICAL DEVICE</a:t>
            </a:r>
          </a:p>
        </p:txBody>
      </p:sp>
      <p:sp>
        <p:nvSpPr>
          <p:cNvPr id="33" name="">
            <a:extLst xmlns:a="http://schemas.openxmlformats.org/drawingml/2006/main">
              <a:ext uri="{FF2B5EF4-FFF2-40B4-BE49-F238E27FC236}">
                <a16:creationId xmlns:a16="http://schemas.microsoft.com/office/drawing/2014/main" id="{5ABB37E0-49A6-4581-91A5-8E2D13BA6D0C}"/>
              </a:ext>
            </a:extLst>
          </p:cNvPr>
          <p:cNvSpPr>
            <a:spLocks xmlns:a="http://schemas.openxmlformats.org/drawingml/2006/main" noGrp="1"/>
          </p:cNvSpPr>
          <p:nvPr/>
        </p:nvSpPr>
        <p:spPr>
          <a:xfrm xmlns:a="http://schemas.openxmlformats.org/drawingml/2006/main">
            <a:off x="11096625" y="6534150"/>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1" i="0">
                <a:solidFill>
                  <a:srgbClr val="0C3B32"/>
                </a:solidFill>
                <a:latin typeface="Aptos"/>
                <a:ea typeface="Aptos"/>
                <a:cs typeface="Aptos"/>
              </a:defRPr>
            </a:pPr>
            <a:r>
              <a:rPr sz="900" b="1" i="0">
                <a:solidFill>
                  <a:srgbClr val="0C3B32"/>
                </a:solidFill>
                <a:latin typeface="Aptos"/>
                <a:ea typeface="Aptos"/>
                <a:cs typeface="Aptos"/>
              </a:rPr>
              <a:t>12</a:t>
            </a:r>
          </a:p>
        </p:txBody>
      </p:sp>
    </p:spTree>
    <p:extLst>
      <p:ext uri="{BB962C8B-B14F-4D97-AF65-F5344CB8AC3E}">
        <p14:creationId xmlns:p14="http://schemas.microsoft.com/office/powerpoint/2010/main" val="2078940026"/>
      </p:ext>
    </p:extLst>
  </p:cSld>
</p:sld>
</file>

<file path=ppt/slides/slide1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43E61D8-A5E4-47D9-B24F-2ABF91C0B0C9}"/>
              </a:ext>
            </a:extLst>
          </p:cNvPr>
          <p:cNvSpPr>
            <a:spLocks xmlns:a="http://schemas.openxmlformats.org/drawingml/2006/main" noGrp="1"/>
          </p:cNvSpPr>
          <p:nvPr/>
        </p:nvSpPr>
        <p:spPr>
          <a:xfrm xmlns:a="http://schemas.openxmlformats.org/drawingml/2006/main">
            <a:off x="647700" y="3429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E7D8A"/>
                </a:solidFill>
                <a:latin typeface="Aptos"/>
                <a:ea typeface="Aptos"/>
                <a:cs typeface="Aptos"/>
              </a:defRPr>
            </a:pPr>
            <a:r>
              <a:rPr sz="900" b="1" i="0">
                <a:solidFill>
                  <a:srgbClr val="2E7D8A"/>
                </a:solidFill>
                <a:latin typeface="Aptos"/>
                <a:ea typeface="Aptos"/>
                <a:cs typeface="Aptos"/>
              </a:rPr>
              <a:t>RESEARCH OPERATIONS</a:t>
            </a:r>
          </a:p>
        </p:txBody>
      </p:sp>
      <p:sp>
        <p:nvSpPr>
          <p:cNvPr id="2" name="">
            <a:extLst xmlns:a="http://schemas.openxmlformats.org/drawingml/2006/main">
              <a:ext uri="{FF2B5EF4-FFF2-40B4-BE49-F238E27FC236}">
                <a16:creationId xmlns:a16="http://schemas.microsoft.com/office/drawing/2014/main" id="{4745898A-E8EA-4025-9216-BAF21BAEEBB4}"/>
              </a:ext>
            </a:extLst>
          </p:cNvPr>
          <p:cNvSpPr>
            <a:spLocks xmlns:a="http://schemas.openxmlformats.org/drawingml/2006/main" noGrp="1"/>
          </p:cNvSpPr>
          <p:nvPr/>
        </p:nvSpPr>
        <p:spPr>
          <a:xfrm xmlns:a="http://schemas.openxmlformats.org/drawingml/2006/main">
            <a:off x="6477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00" b="1" i="0">
                <a:solidFill>
                  <a:srgbClr val="0C3B32"/>
                </a:solidFill>
                <a:latin typeface="Aptos Display"/>
                <a:ea typeface="Aptos Display"/>
                <a:cs typeface="Aptos Display"/>
              </a:defRPr>
            </a:pPr>
            <a:r>
              <a:rPr sz="3000" b="1" i="0">
                <a:solidFill>
                  <a:srgbClr val="0C3B32"/>
                </a:solidFill>
                <a:latin typeface="Aptos Display"/>
                <a:ea typeface="Aptos Display"/>
                <a:cs typeface="Aptos Display"/>
              </a:rPr>
              <a:t>A run is useful only when its evidence survives the demo</a:t>
            </a:r>
          </a:p>
        </p:txBody>
      </p:sp>
      <p:sp>
        <p:nvSpPr>
          <p:cNvPr id="3" name="">
            <a:extLst xmlns:a="http://schemas.openxmlformats.org/drawingml/2006/main">
              <a:ext uri="{FF2B5EF4-FFF2-40B4-BE49-F238E27FC236}">
                <a16:creationId xmlns:a16="http://schemas.microsoft.com/office/drawing/2014/main" id="{9A8FBE49-AEE3-4235-A631-85748C1F9565}"/>
              </a:ext>
            </a:extLst>
          </p:cNvPr>
          <p:cNvSpPr>
            <a:spLocks xmlns:a="http://schemas.openxmlformats.org/drawingml/2006/main" noGrp="1"/>
          </p:cNvSpPr>
          <p:nvPr/>
        </p:nvSpPr>
        <p:spPr>
          <a:xfrm xmlns:a="http://schemas.openxmlformats.org/drawingml/2006/main">
            <a:off x="647700" y="11811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5C6A70"/>
                </a:solidFill>
                <a:latin typeface="Aptos"/>
                <a:ea typeface="Aptos"/>
                <a:cs typeface="Aptos"/>
              </a:defRPr>
            </a:pPr>
            <a:r>
              <a:rPr sz="1275" b="0" i="0">
                <a:solidFill>
                  <a:srgbClr val="5C6A70"/>
                </a:solidFill>
                <a:latin typeface="Aptos"/>
                <a:ea typeface="Aptos"/>
                <a:cs typeface="Aptos"/>
              </a:rPr>
              <a:t>The SDK turns experiments into inspectable bundles instead of leaving results inside a notebook.</a:t>
            </a:r>
          </a:p>
        </p:txBody>
      </p:sp>
      <p:sp>
        <p:nvSpPr>
          <p:cNvPr id="4" name="">
            <a:extLst xmlns:a="http://schemas.openxmlformats.org/drawingml/2006/main">
              <a:ext uri="{FF2B5EF4-FFF2-40B4-BE49-F238E27FC236}">
                <a16:creationId xmlns:a16="http://schemas.microsoft.com/office/drawing/2014/main" id="{ECAAD9AB-62F6-4132-A7BF-C966BABB1952}"/>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E8D2732-1F99-4C09-9940-C03FF5EC463A}"/>
              </a:ext>
            </a:extLst>
          </p:cNvPr>
          <p:cNvSpPr>
            <a:spLocks xmlns:a="http://schemas.openxmlformats.org/drawingml/2006/main" noGrp="1"/>
          </p:cNvSpPr>
          <p:nvPr/>
        </p:nvSpPr>
        <p:spPr>
          <a:xfrm xmlns:a="http://schemas.openxmlformats.org/drawingml/2006/main">
            <a:off x="628650" y="2171700"/>
            <a:ext cx="1676400" cy="1619250"/>
          </a:xfrm>
          <a:prstGeom xmlns:a="http://schemas.openxmlformats.org/drawingml/2006/main" prst="roundRect">
            <a:avLst>
              <a:gd name="adj" fmla="val 7059"/>
            </a:avLst>
          </a:prstGeom>
          <a:solidFill xmlns:a="http://schemas.openxmlformats.org/drawingml/2006/main">
            <a:srgbClr val="E7F0F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34FDB69-E13E-4E2C-B505-135F36DCF99E}"/>
              </a:ext>
            </a:extLst>
          </p:cNvPr>
          <p:cNvSpPr>
            <a:spLocks xmlns:a="http://schemas.openxmlformats.org/drawingml/2006/main" noGrp="1"/>
          </p:cNvSpPr>
          <p:nvPr/>
        </p:nvSpPr>
        <p:spPr>
          <a:xfrm xmlns:a="http://schemas.openxmlformats.org/drawingml/2006/main">
            <a:off x="762000" y="238125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173A52"/>
                </a:solidFill>
                <a:latin typeface="Aptos"/>
                <a:ea typeface="Aptos"/>
                <a:cs typeface="Aptos"/>
              </a:defRPr>
            </a:pPr>
            <a:r>
              <a:rPr sz="1125" b="1" i="0">
                <a:solidFill>
                  <a:srgbClr val="173A52"/>
                </a:solidFill>
                <a:latin typeface="Aptos"/>
                <a:ea typeface="Aptos"/>
                <a:cs typeface="Aptos"/>
              </a:rPr>
              <a:t>IMPORT</a:t>
            </a:r>
          </a:p>
        </p:txBody>
      </p:sp>
      <p:sp>
        <p:nvSpPr>
          <p:cNvPr id="7" name="">
            <a:extLst xmlns:a="http://schemas.openxmlformats.org/drawingml/2006/main">
              <a:ext uri="{FF2B5EF4-FFF2-40B4-BE49-F238E27FC236}">
                <a16:creationId xmlns:a16="http://schemas.microsoft.com/office/drawing/2014/main" id="{002DA567-89A4-485A-B7D8-2B1FFC5E553D}"/>
              </a:ext>
            </a:extLst>
          </p:cNvPr>
          <p:cNvSpPr>
            <a:spLocks xmlns:a="http://schemas.openxmlformats.org/drawingml/2006/main" noGrp="1"/>
          </p:cNvSpPr>
          <p:nvPr/>
        </p:nvSpPr>
        <p:spPr>
          <a:xfrm xmlns:a="http://schemas.openxmlformats.org/drawingml/2006/main">
            <a:off x="762000" y="2838450"/>
            <a:ext cx="1409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1200" b="0" i="0">
                <a:solidFill>
                  <a:srgbClr val="5C6A70"/>
                </a:solidFill>
                <a:latin typeface="Aptos"/>
                <a:ea typeface="Aptos"/>
                <a:cs typeface="Aptos"/>
              </a:defRPr>
            </a:pPr>
            <a:r>
              <a:rPr sz="1200" b="0" i="0">
                <a:solidFill>
                  <a:srgbClr val="5C6A70"/>
                </a:solidFill>
                <a:latin typeface="Aptos"/>
                <a:ea typeface="Aptos"/>
                <a:cs typeface="Aptos"/>
              </a:rPr>
              <a:t>CareLink · Ohio</a:t>
            </a:r>
          </a:p>
          <a:p xmlns:a="http://schemas.openxmlformats.org/drawingml/2006/main">
            <a:pPr algn="ctr">
              <a:lnSpc>
                <a:spcPct val="110000"/>
              </a:lnSpc>
              <a:buNone/>
              <a:defRPr sz="1200" b="0" i="0">
                <a:solidFill>
                  <a:srgbClr val="5C6A70"/>
                </a:solidFill>
                <a:latin typeface="Aptos"/>
                <a:ea typeface="Aptos"/>
                <a:cs typeface="Aptos"/>
              </a:defRPr>
            </a:pPr>
            <a:r>
              <a:rPr sz="1200" b="0" i="0">
                <a:solidFill>
                  <a:srgbClr val="5C6A70"/>
                </a:solidFill>
                <a:latin typeface="Aptos"/>
                <a:ea typeface="Aptos"/>
                <a:cs typeface="Aptos"/>
              </a:rPr>
              <a:t>Nightscout · CSV</a:t>
            </a:r>
          </a:p>
        </p:txBody>
      </p:sp>
      <p:sp>
        <p:nvSpPr>
          <p:cNvPr id="8" name="">
            <a:extLst xmlns:a="http://schemas.openxmlformats.org/drawingml/2006/main">
              <a:ext uri="{FF2B5EF4-FFF2-40B4-BE49-F238E27FC236}">
                <a16:creationId xmlns:a16="http://schemas.microsoft.com/office/drawing/2014/main" id="{5DF41308-A88F-4CBC-8A97-B7DF6C446C73}"/>
              </a:ext>
            </a:extLst>
          </p:cNvPr>
          <p:cNvSpPr>
            <a:spLocks xmlns:a="http://schemas.openxmlformats.org/drawingml/2006/main" noGrp="1"/>
          </p:cNvSpPr>
          <p:nvPr/>
        </p:nvSpPr>
        <p:spPr>
          <a:xfrm xmlns:a="http://schemas.openxmlformats.org/drawingml/2006/main">
            <a:off x="2324100" y="28003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444"/>
          </a:bodyPr>
          <a:lstStyle xmlns:a="http://schemas.openxmlformats.org/drawingml/2006/main"/>
          <a:p xmlns:a="http://schemas.openxmlformats.org/drawingml/2006/main">
            <a:pPr algn="ctr">
              <a:lnSpc>
                <a:spcPct val="100000"/>
              </a:lnSpc>
              <a:buNone/>
              <a:defRPr sz="2250" b="1" i="0">
                <a:solidFill>
                  <a:srgbClr val="2E7D8A"/>
                </a:solidFill>
                <a:latin typeface="Aptos"/>
                <a:ea typeface="Aptos"/>
                <a:cs typeface="Aptos"/>
              </a:defRPr>
            </a:pPr>
            <a:r>
              <a:rPr sz="2250" b="1" i="0">
                <a:solidFill>
                  <a:srgbClr val="2E7D8A"/>
                </a:solidFill>
                <a:latin typeface="Aptos"/>
                <a:ea typeface="Aptos"/>
                <a:cs typeface="Aptos"/>
              </a:rPr>
              <a:t>→</a:t>
            </a:r>
          </a:p>
        </p:txBody>
      </p:sp>
      <p:sp>
        <p:nvSpPr>
          <p:cNvPr id="9" name="">
            <a:extLst xmlns:a="http://schemas.openxmlformats.org/drawingml/2006/main">
              <a:ext uri="{FF2B5EF4-FFF2-40B4-BE49-F238E27FC236}">
                <a16:creationId xmlns:a16="http://schemas.microsoft.com/office/drawing/2014/main" id="{F48D941E-92EA-4A4E-9CA3-5ED19A2A5DB8}"/>
              </a:ext>
            </a:extLst>
          </p:cNvPr>
          <p:cNvSpPr>
            <a:spLocks xmlns:a="http://schemas.openxmlformats.org/drawingml/2006/main" noGrp="1"/>
          </p:cNvSpPr>
          <p:nvPr/>
        </p:nvSpPr>
        <p:spPr>
          <a:xfrm xmlns:a="http://schemas.openxmlformats.org/drawingml/2006/main">
            <a:off x="2609850" y="2171700"/>
            <a:ext cx="1676400" cy="1619250"/>
          </a:xfrm>
          <a:prstGeom xmlns:a="http://schemas.openxmlformats.org/drawingml/2006/main" prst="roundRect">
            <a:avLst>
              <a:gd name="adj" fmla="val 7059"/>
            </a:avLst>
          </a:prstGeom>
          <a:solidFill xmlns:a="http://schemas.openxmlformats.org/drawingml/2006/main">
            <a:srgbClr val="E4EE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F2B68CC-85F7-4A06-8CB1-62433939AE32}"/>
              </a:ext>
            </a:extLst>
          </p:cNvPr>
          <p:cNvSpPr>
            <a:spLocks xmlns:a="http://schemas.openxmlformats.org/drawingml/2006/main" noGrp="1"/>
          </p:cNvSpPr>
          <p:nvPr/>
        </p:nvSpPr>
        <p:spPr>
          <a:xfrm xmlns:a="http://schemas.openxmlformats.org/drawingml/2006/main">
            <a:off x="2743200" y="238125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0C3B32"/>
                </a:solidFill>
                <a:latin typeface="Aptos"/>
                <a:ea typeface="Aptos"/>
                <a:cs typeface="Aptos"/>
              </a:defRPr>
            </a:pPr>
            <a:r>
              <a:rPr sz="1125" b="1" i="0">
                <a:solidFill>
                  <a:srgbClr val="0C3B32"/>
                </a:solidFill>
                <a:latin typeface="Aptos"/>
                <a:ea typeface="Aptos"/>
                <a:cs typeface="Aptos"/>
              </a:rPr>
              <a:t>CERTIFY</a:t>
            </a:r>
          </a:p>
        </p:txBody>
      </p:sp>
      <p:sp>
        <p:nvSpPr>
          <p:cNvPr id="11" name="">
            <a:extLst xmlns:a="http://schemas.openxmlformats.org/drawingml/2006/main">
              <a:ext uri="{FF2B5EF4-FFF2-40B4-BE49-F238E27FC236}">
                <a16:creationId xmlns:a16="http://schemas.microsoft.com/office/drawing/2014/main" id="{ECF53C73-A1E6-4707-8C9C-6A5E027C0926}"/>
              </a:ext>
            </a:extLst>
          </p:cNvPr>
          <p:cNvSpPr>
            <a:spLocks xmlns:a="http://schemas.openxmlformats.org/drawingml/2006/main" noGrp="1"/>
          </p:cNvSpPr>
          <p:nvPr/>
        </p:nvSpPr>
        <p:spPr>
          <a:xfrm xmlns:a="http://schemas.openxmlformats.org/drawingml/2006/main">
            <a:off x="2743200" y="2838450"/>
            <a:ext cx="1409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1200" b="0" i="0">
                <a:solidFill>
                  <a:srgbClr val="5C6A70"/>
                </a:solidFill>
                <a:latin typeface="Aptos"/>
                <a:ea typeface="Aptos"/>
                <a:cs typeface="Aptos"/>
              </a:defRPr>
            </a:pPr>
            <a:r>
              <a:rPr sz="1200" b="0" i="0">
                <a:solidFill>
                  <a:srgbClr val="5C6A70"/>
                </a:solidFill>
                <a:latin typeface="Aptos"/>
                <a:ea typeface="Aptos"/>
                <a:cs typeface="Aptos"/>
              </a:rPr>
              <a:t>contract · provenance</a:t>
            </a:r>
          </a:p>
          <a:p xmlns:a="http://schemas.openxmlformats.org/drawingml/2006/main">
            <a:pPr algn="ctr">
              <a:lnSpc>
                <a:spcPct val="110000"/>
              </a:lnSpc>
              <a:buNone/>
              <a:defRPr sz="1200" b="0" i="0">
                <a:solidFill>
                  <a:srgbClr val="5C6A70"/>
                </a:solidFill>
                <a:latin typeface="Aptos"/>
                <a:ea typeface="Aptos"/>
                <a:cs typeface="Aptos"/>
              </a:defRPr>
            </a:pPr>
            <a:r>
              <a:rPr sz="1200" b="0" i="0">
                <a:solidFill>
                  <a:srgbClr val="5C6A70"/>
                </a:solidFill>
                <a:latin typeface="Aptos"/>
                <a:ea typeface="Aptos"/>
                <a:cs typeface="Aptos"/>
              </a:rPr>
              <a:t>realism · corruption</a:t>
            </a:r>
          </a:p>
        </p:txBody>
      </p:sp>
      <p:sp>
        <p:nvSpPr>
          <p:cNvPr id="12" name="">
            <a:extLst xmlns:a="http://schemas.openxmlformats.org/drawingml/2006/main">
              <a:ext uri="{FF2B5EF4-FFF2-40B4-BE49-F238E27FC236}">
                <a16:creationId xmlns:a16="http://schemas.microsoft.com/office/drawing/2014/main" id="{CBF251F4-CA63-4C09-8F69-48C40C008E21}"/>
              </a:ext>
            </a:extLst>
          </p:cNvPr>
          <p:cNvSpPr>
            <a:spLocks xmlns:a="http://schemas.openxmlformats.org/drawingml/2006/main" noGrp="1"/>
          </p:cNvSpPr>
          <p:nvPr/>
        </p:nvSpPr>
        <p:spPr>
          <a:xfrm xmlns:a="http://schemas.openxmlformats.org/drawingml/2006/main">
            <a:off x="4305300" y="28003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444"/>
          </a:bodyPr>
          <a:lstStyle xmlns:a="http://schemas.openxmlformats.org/drawingml/2006/main"/>
          <a:p xmlns:a="http://schemas.openxmlformats.org/drawingml/2006/main">
            <a:pPr algn="ctr">
              <a:lnSpc>
                <a:spcPct val="100000"/>
              </a:lnSpc>
              <a:buNone/>
              <a:defRPr sz="2250" b="1" i="0">
                <a:solidFill>
                  <a:srgbClr val="2E7D8A"/>
                </a:solidFill>
                <a:latin typeface="Aptos"/>
                <a:ea typeface="Aptos"/>
                <a:cs typeface="Aptos"/>
              </a:defRPr>
            </a:pPr>
            <a:r>
              <a:rPr sz="2250" b="1" i="0">
                <a:solidFill>
                  <a:srgbClr val="2E7D8A"/>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9E29D8EB-8F53-4848-A61C-291BCCBCB3B4}"/>
              </a:ext>
            </a:extLst>
          </p:cNvPr>
          <p:cNvSpPr>
            <a:spLocks xmlns:a="http://schemas.openxmlformats.org/drawingml/2006/main" noGrp="1"/>
          </p:cNvSpPr>
          <p:nvPr/>
        </p:nvSpPr>
        <p:spPr>
          <a:xfrm xmlns:a="http://schemas.openxmlformats.org/drawingml/2006/main">
            <a:off x="4591050" y="2171700"/>
            <a:ext cx="1676400" cy="1619250"/>
          </a:xfrm>
          <a:prstGeom xmlns:a="http://schemas.openxmlformats.org/drawingml/2006/main" prst="roundRect">
            <a:avLst>
              <a:gd name="adj" fmla="val 7059"/>
            </a:avLst>
          </a:prstGeom>
          <a:solidFill xmlns:a="http://schemas.openxmlformats.org/drawingml/2006/main">
            <a:srgbClr val="F6E9C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70F4229-8C8B-43FC-B34B-D5C578342A17}"/>
              </a:ext>
            </a:extLst>
          </p:cNvPr>
          <p:cNvSpPr>
            <a:spLocks xmlns:a="http://schemas.openxmlformats.org/drawingml/2006/main" noGrp="1"/>
          </p:cNvSpPr>
          <p:nvPr/>
        </p:nvSpPr>
        <p:spPr>
          <a:xfrm xmlns:a="http://schemas.openxmlformats.org/drawingml/2006/main">
            <a:off x="4724400" y="238125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7A4C00"/>
                </a:solidFill>
                <a:latin typeface="Aptos"/>
                <a:ea typeface="Aptos"/>
                <a:cs typeface="Aptos"/>
              </a:defRPr>
            </a:pPr>
            <a:r>
              <a:rPr sz="1125" b="1" i="0">
                <a:solidFill>
                  <a:srgbClr val="7A4C00"/>
                </a:solidFill>
                <a:latin typeface="Aptos"/>
                <a:ea typeface="Aptos"/>
                <a:cs typeface="Aptos"/>
              </a:rPr>
              <a:t>SIMULATE</a:t>
            </a:r>
          </a:p>
        </p:txBody>
      </p:sp>
      <p:sp>
        <p:nvSpPr>
          <p:cNvPr id="15" name="">
            <a:extLst xmlns:a="http://schemas.openxmlformats.org/drawingml/2006/main">
              <a:ext uri="{FF2B5EF4-FFF2-40B4-BE49-F238E27FC236}">
                <a16:creationId xmlns:a16="http://schemas.microsoft.com/office/drawing/2014/main" id="{F476723B-98FB-49DA-8A57-1BC9160982E3}"/>
              </a:ext>
            </a:extLst>
          </p:cNvPr>
          <p:cNvSpPr>
            <a:spLocks xmlns:a="http://schemas.openxmlformats.org/drawingml/2006/main" noGrp="1"/>
          </p:cNvSpPr>
          <p:nvPr/>
        </p:nvSpPr>
        <p:spPr>
          <a:xfrm xmlns:a="http://schemas.openxmlformats.org/drawingml/2006/main">
            <a:off x="4724400" y="2838450"/>
            <a:ext cx="1409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1200" b="0" i="0">
                <a:solidFill>
                  <a:srgbClr val="5C6A70"/>
                </a:solidFill>
                <a:latin typeface="Aptos"/>
                <a:ea typeface="Aptos"/>
                <a:cs typeface="Aptos"/>
              </a:defRPr>
            </a:pPr>
            <a:r>
              <a:rPr sz="1200" b="0" i="0">
                <a:solidFill>
                  <a:srgbClr val="5C6A70"/>
                </a:solidFill>
                <a:latin typeface="Aptos"/>
                <a:ea typeface="Aptos"/>
                <a:cs typeface="Aptos"/>
              </a:rPr>
              <a:t>fixed seed · profile</a:t>
            </a:r>
          </a:p>
          <a:p xmlns:a="http://schemas.openxmlformats.org/drawingml/2006/main">
            <a:pPr algn="ctr">
              <a:lnSpc>
                <a:spcPct val="110000"/>
              </a:lnSpc>
              <a:buNone/>
              <a:defRPr sz="1200" b="0" i="0">
                <a:solidFill>
                  <a:srgbClr val="5C6A70"/>
                </a:solidFill>
                <a:latin typeface="Aptos"/>
                <a:ea typeface="Aptos"/>
                <a:cs typeface="Aptos"/>
              </a:defRPr>
            </a:pPr>
            <a:r>
              <a:rPr sz="1200" b="0" i="0">
                <a:solidFill>
                  <a:srgbClr val="5C6A70"/>
                </a:solidFill>
                <a:latin typeface="Aptos"/>
                <a:ea typeface="Aptos"/>
                <a:cs typeface="Aptos"/>
              </a:rPr>
              <a:t>scenario · controller</a:t>
            </a:r>
          </a:p>
        </p:txBody>
      </p:sp>
      <p:sp>
        <p:nvSpPr>
          <p:cNvPr id="16" name="">
            <a:extLst xmlns:a="http://schemas.openxmlformats.org/drawingml/2006/main">
              <a:ext uri="{FF2B5EF4-FFF2-40B4-BE49-F238E27FC236}">
                <a16:creationId xmlns:a16="http://schemas.microsoft.com/office/drawing/2014/main" id="{6B319AE1-7C8F-4509-AF7F-87AF30C92619}"/>
              </a:ext>
            </a:extLst>
          </p:cNvPr>
          <p:cNvSpPr>
            <a:spLocks xmlns:a="http://schemas.openxmlformats.org/drawingml/2006/main" noGrp="1"/>
          </p:cNvSpPr>
          <p:nvPr/>
        </p:nvSpPr>
        <p:spPr>
          <a:xfrm xmlns:a="http://schemas.openxmlformats.org/drawingml/2006/main">
            <a:off x="6286500" y="28003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444"/>
          </a:bodyPr>
          <a:lstStyle xmlns:a="http://schemas.openxmlformats.org/drawingml/2006/main"/>
          <a:p xmlns:a="http://schemas.openxmlformats.org/drawingml/2006/main">
            <a:pPr algn="ctr">
              <a:lnSpc>
                <a:spcPct val="100000"/>
              </a:lnSpc>
              <a:buNone/>
              <a:defRPr sz="2250" b="1" i="0">
                <a:solidFill>
                  <a:srgbClr val="2E7D8A"/>
                </a:solidFill>
                <a:latin typeface="Aptos"/>
                <a:ea typeface="Aptos"/>
                <a:cs typeface="Aptos"/>
              </a:defRPr>
            </a:pPr>
            <a:r>
              <a:rPr sz="2250" b="1" i="0">
                <a:solidFill>
                  <a:srgbClr val="2E7D8A"/>
                </a:solidFill>
                <a:latin typeface="Aptos"/>
                <a:ea typeface="Aptos"/>
                <a:cs typeface="Aptos"/>
              </a:rPr>
              <a:t>→</a:t>
            </a:r>
          </a:p>
        </p:txBody>
      </p:sp>
      <p:sp>
        <p:nvSpPr>
          <p:cNvPr id="17" name="">
            <a:extLst xmlns:a="http://schemas.openxmlformats.org/drawingml/2006/main">
              <a:ext uri="{FF2B5EF4-FFF2-40B4-BE49-F238E27FC236}">
                <a16:creationId xmlns:a16="http://schemas.microsoft.com/office/drawing/2014/main" id="{052B4771-7D8A-4C91-AE58-093DF8C1A635}"/>
              </a:ext>
            </a:extLst>
          </p:cNvPr>
          <p:cNvSpPr>
            <a:spLocks xmlns:a="http://schemas.openxmlformats.org/drawingml/2006/main" noGrp="1"/>
          </p:cNvSpPr>
          <p:nvPr/>
        </p:nvSpPr>
        <p:spPr>
          <a:xfrm xmlns:a="http://schemas.openxmlformats.org/drawingml/2006/main">
            <a:off x="6572250" y="2171700"/>
            <a:ext cx="1676400" cy="1619250"/>
          </a:xfrm>
          <a:prstGeom xmlns:a="http://schemas.openxmlformats.org/drawingml/2006/main" prst="roundRect">
            <a:avLst>
              <a:gd name="adj" fmla="val 7059"/>
            </a:avLst>
          </a:prstGeom>
          <a:solidFill xmlns:a="http://schemas.openxmlformats.org/drawingml/2006/main">
            <a:srgbClr val="F5E4E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7D48860-0959-4267-89DE-CBF749541CCA}"/>
              </a:ext>
            </a:extLst>
          </p:cNvPr>
          <p:cNvSpPr>
            <a:spLocks xmlns:a="http://schemas.openxmlformats.org/drawingml/2006/main" noGrp="1"/>
          </p:cNvSpPr>
          <p:nvPr/>
        </p:nvSpPr>
        <p:spPr>
          <a:xfrm xmlns:a="http://schemas.openxmlformats.org/drawingml/2006/main">
            <a:off x="6705600" y="238125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C5534A"/>
                </a:solidFill>
                <a:latin typeface="Aptos"/>
                <a:ea typeface="Aptos"/>
                <a:cs typeface="Aptos"/>
              </a:defRPr>
            </a:pPr>
            <a:r>
              <a:rPr sz="1125" b="1" i="0">
                <a:solidFill>
                  <a:srgbClr val="C5534A"/>
                </a:solidFill>
                <a:latin typeface="Aptos"/>
                <a:ea typeface="Aptos"/>
                <a:cs typeface="Aptos"/>
              </a:rPr>
              <a:t>COMPARE</a:t>
            </a:r>
          </a:p>
        </p:txBody>
      </p:sp>
      <p:sp>
        <p:nvSpPr>
          <p:cNvPr id="19" name="">
            <a:extLst xmlns:a="http://schemas.openxmlformats.org/drawingml/2006/main">
              <a:ext uri="{FF2B5EF4-FFF2-40B4-BE49-F238E27FC236}">
                <a16:creationId xmlns:a16="http://schemas.microsoft.com/office/drawing/2014/main" id="{0D59F996-9170-42CC-A2DA-E4F489317649}"/>
              </a:ext>
            </a:extLst>
          </p:cNvPr>
          <p:cNvSpPr>
            <a:spLocks xmlns:a="http://schemas.openxmlformats.org/drawingml/2006/main" noGrp="1"/>
          </p:cNvSpPr>
          <p:nvPr/>
        </p:nvSpPr>
        <p:spPr>
          <a:xfrm xmlns:a="http://schemas.openxmlformats.org/drawingml/2006/main">
            <a:off x="6705600" y="2838450"/>
            <a:ext cx="1409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1200" b="0" i="0">
                <a:solidFill>
                  <a:srgbClr val="5C6A70"/>
                </a:solidFill>
                <a:latin typeface="Aptos"/>
                <a:ea typeface="Aptos"/>
                <a:cs typeface="Aptos"/>
              </a:defRPr>
            </a:pPr>
            <a:r>
              <a:rPr sz="1200" b="0" i="0">
                <a:solidFill>
                  <a:srgbClr val="5C6A70"/>
                </a:solidFill>
                <a:latin typeface="Aptos"/>
                <a:ea typeface="Aptos"/>
                <a:cs typeface="Aptos"/>
              </a:rPr>
              <a:t>baseline · ablation</a:t>
            </a:r>
          </a:p>
          <a:p xmlns:a="http://schemas.openxmlformats.org/drawingml/2006/main">
            <a:pPr algn="ctr">
              <a:lnSpc>
                <a:spcPct val="110000"/>
              </a:lnSpc>
              <a:buNone/>
              <a:defRPr sz="1200" b="0" i="0">
                <a:solidFill>
                  <a:srgbClr val="5C6A70"/>
                </a:solidFill>
                <a:latin typeface="Aptos"/>
                <a:ea typeface="Aptos"/>
                <a:cs typeface="Aptos"/>
              </a:defRPr>
            </a:pPr>
            <a:r>
              <a:rPr sz="1200" b="0" i="0">
                <a:solidFill>
                  <a:srgbClr val="5C6A70"/>
                </a:solidFill>
                <a:latin typeface="Aptos"/>
                <a:ea typeface="Aptos"/>
                <a:cs typeface="Aptos"/>
              </a:rPr>
              <a:t>replay · golden</a:t>
            </a:r>
          </a:p>
        </p:txBody>
      </p:sp>
      <p:sp>
        <p:nvSpPr>
          <p:cNvPr id="20" name="">
            <a:extLst xmlns:a="http://schemas.openxmlformats.org/drawingml/2006/main">
              <a:ext uri="{FF2B5EF4-FFF2-40B4-BE49-F238E27FC236}">
                <a16:creationId xmlns:a16="http://schemas.microsoft.com/office/drawing/2014/main" id="{86F11962-ADEF-424F-980C-3A1FAEA1399B}"/>
              </a:ext>
            </a:extLst>
          </p:cNvPr>
          <p:cNvSpPr>
            <a:spLocks xmlns:a="http://schemas.openxmlformats.org/drawingml/2006/main" noGrp="1"/>
          </p:cNvSpPr>
          <p:nvPr/>
        </p:nvSpPr>
        <p:spPr>
          <a:xfrm xmlns:a="http://schemas.openxmlformats.org/drawingml/2006/main">
            <a:off x="8267700" y="28003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444"/>
          </a:bodyPr>
          <a:lstStyle xmlns:a="http://schemas.openxmlformats.org/drawingml/2006/main"/>
          <a:p xmlns:a="http://schemas.openxmlformats.org/drawingml/2006/main">
            <a:pPr algn="ctr">
              <a:lnSpc>
                <a:spcPct val="100000"/>
              </a:lnSpc>
              <a:buNone/>
              <a:defRPr sz="2250" b="1" i="0">
                <a:solidFill>
                  <a:srgbClr val="2E7D8A"/>
                </a:solidFill>
                <a:latin typeface="Aptos"/>
                <a:ea typeface="Aptos"/>
                <a:cs typeface="Aptos"/>
              </a:defRPr>
            </a:pPr>
            <a:r>
              <a:rPr sz="2250" b="1" i="0">
                <a:solidFill>
                  <a:srgbClr val="2E7D8A"/>
                </a:solidFill>
                <a:latin typeface="Aptos"/>
                <a:ea typeface="Aptos"/>
                <a:cs typeface="Aptos"/>
              </a:rPr>
              <a:t>→</a:t>
            </a:r>
          </a:p>
        </p:txBody>
      </p:sp>
      <p:sp>
        <p:nvSpPr>
          <p:cNvPr id="21" name="">
            <a:extLst xmlns:a="http://schemas.openxmlformats.org/drawingml/2006/main">
              <a:ext uri="{FF2B5EF4-FFF2-40B4-BE49-F238E27FC236}">
                <a16:creationId xmlns:a16="http://schemas.microsoft.com/office/drawing/2014/main" id="{E80201BE-4B41-47D5-8164-C33332BCA984}"/>
              </a:ext>
            </a:extLst>
          </p:cNvPr>
          <p:cNvSpPr>
            <a:spLocks xmlns:a="http://schemas.openxmlformats.org/drawingml/2006/main" noGrp="1"/>
          </p:cNvSpPr>
          <p:nvPr/>
        </p:nvSpPr>
        <p:spPr>
          <a:xfrm xmlns:a="http://schemas.openxmlformats.org/drawingml/2006/main">
            <a:off x="8553450" y="2171700"/>
            <a:ext cx="1676400" cy="1619250"/>
          </a:xfrm>
          <a:prstGeom xmlns:a="http://schemas.openxmlformats.org/drawingml/2006/main" prst="roundRect">
            <a:avLst>
              <a:gd name="adj" fmla="val 7059"/>
            </a:avLst>
          </a:prstGeom>
          <a:solidFill xmlns:a="http://schemas.openxmlformats.org/drawingml/2006/main">
            <a:srgbClr val="FFFDF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45228D7-BBF8-42EC-BCC6-76C3A9F2E8C4}"/>
              </a:ext>
            </a:extLst>
          </p:cNvPr>
          <p:cNvSpPr>
            <a:spLocks xmlns:a="http://schemas.openxmlformats.org/drawingml/2006/main" noGrp="1"/>
          </p:cNvSpPr>
          <p:nvPr/>
        </p:nvSpPr>
        <p:spPr>
          <a:xfrm xmlns:a="http://schemas.openxmlformats.org/drawingml/2006/main">
            <a:off x="8686800" y="238125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2E7D8A"/>
                </a:solidFill>
                <a:latin typeface="Aptos"/>
                <a:ea typeface="Aptos"/>
                <a:cs typeface="Aptos"/>
              </a:defRPr>
            </a:pPr>
            <a:r>
              <a:rPr sz="1125" b="1" i="0">
                <a:solidFill>
                  <a:srgbClr val="2E7D8A"/>
                </a:solidFill>
                <a:latin typeface="Aptos"/>
                <a:ea typeface="Aptos"/>
                <a:cs typeface="Aptos"/>
              </a:rPr>
              <a:t>REPORT</a:t>
            </a:r>
          </a:p>
        </p:txBody>
      </p:sp>
      <p:sp>
        <p:nvSpPr>
          <p:cNvPr id="23" name="">
            <a:extLst xmlns:a="http://schemas.openxmlformats.org/drawingml/2006/main">
              <a:ext uri="{FF2B5EF4-FFF2-40B4-BE49-F238E27FC236}">
                <a16:creationId xmlns:a16="http://schemas.microsoft.com/office/drawing/2014/main" id="{E5DB5722-7ADC-4AA0-A684-F10FA2B3C5F6}"/>
              </a:ext>
            </a:extLst>
          </p:cNvPr>
          <p:cNvSpPr>
            <a:spLocks xmlns:a="http://schemas.openxmlformats.org/drawingml/2006/main" noGrp="1"/>
          </p:cNvSpPr>
          <p:nvPr/>
        </p:nvSpPr>
        <p:spPr>
          <a:xfrm xmlns:a="http://schemas.openxmlformats.org/drawingml/2006/main">
            <a:off x="8686800" y="2838450"/>
            <a:ext cx="1409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1200" b="0" i="0">
                <a:solidFill>
                  <a:srgbClr val="5C6A70"/>
                </a:solidFill>
                <a:latin typeface="Aptos"/>
                <a:ea typeface="Aptos"/>
                <a:cs typeface="Aptos"/>
              </a:defRPr>
            </a:pPr>
            <a:r>
              <a:rPr sz="1200" b="0" i="0">
                <a:solidFill>
                  <a:srgbClr val="5C6A70"/>
                </a:solidFill>
                <a:latin typeface="Aptos"/>
                <a:ea typeface="Aptos"/>
                <a:cs typeface="Aptos"/>
              </a:rPr>
              <a:t>CSV · JSON · PDF</a:t>
            </a:r>
          </a:p>
          <a:p xmlns:a="http://schemas.openxmlformats.org/drawingml/2006/main">
            <a:pPr algn="ctr">
              <a:lnSpc>
                <a:spcPct val="110000"/>
              </a:lnSpc>
              <a:buNone/>
              <a:defRPr sz="1200" b="0" i="0">
                <a:solidFill>
                  <a:srgbClr val="5C6A70"/>
                </a:solidFill>
                <a:latin typeface="Aptos"/>
                <a:ea typeface="Aptos"/>
                <a:cs typeface="Aptos"/>
              </a:defRPr>
            </a:pPr>
            <a:r>
              <a:rPr sz="1200" b="0" i="0">
                <a:solidFill>
                  <a:srgbClr val="5C6A70"/>
                </a:solidFill>
                <a:latin typeface="Aptos"/>
                <a:ea typeface="Aptos"/>
                <a:cs typeface="Aptos"/>
              </a:rPr>
              <a:t>AGP · poster · XAI</a:t>
            </a:r>
          </a:p>
        </p:txBody>
      </p:sp>
      <p:sp>
        <p:nvSpPr>
          <p:cNvPr id="24" name="">
            <a:extLst xmlns:a="http://schemas.openxmlformats.org/drawingml/2006/main">
              <a:ext uri="{FF2B5EF4-FFF2-40B4-BE49-F238E27FC236}">
                <a16:creationId xmlns:a16="http://schemas.microsoft.com/office/drawing/2014/main" id="{07C7C078-665F-4586-91FC-67BBA07676EA}"/>
              </a:ext>
            </a:extLst>
          </p:cNvPr>
          <p:cNvSpPr>
            <a:spLocks xmlns:a="http://schemas.openxmlformats.org/drawingml/2006/main" noGrp="1"/>
          </p:cNvSpPr>
          <p:nvPr/>
        </p:nvSpPr>
        <p:spPr>
          <a:xfrm xmlns:a="http://schemas.openxmlformats.org/drawingml/2006/main">
            <a:off x="628650" y="4171950"/>
            <a:ext cx="9601200" cy="1162050"/>
          </a:xfrm>
          <a:prstGeom xmlns:a="http://schemas.openxmlformats.org/drawingml/2006/main" prst="roundRect">
            <a:avLst>
              <a:gd name="adj" fmla="val 9836"/>
            </a:avLst>
          </a:prstGeom>
          <a:solidFill xmlns:a="http://schemas.openxmlformats.org/drawingml/2006/main">
            <a:srgbClr val="0C3B3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BD9B05C-BFE5-430D-AE89-7D6A8BCC508C}"/>
              </a:ext>
            </a:extLst>
          </p:cNvPr>
          <p:cNvSpPr>
            <a:spLocks xmlns:a="http://schemas.openxmlformats.org/drawingml/2006/main" noGrp="1"/>
          </p:cNvSpPr>
          <p:nvPr/>
        </p:nvSpPr>
        <p:spPr>
          <a:xfrm xmlns:a="http://schemas.openxmlformats.org/drawingml/2006/main">
            <a:off x="857250" y="43624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D89A2B"/>
                </a:solidFill>
                <a:latin typeface="Aptos"/>
                <a:ea typeface="Aptos"/>
                <a:cs typeface="Aptos"/>
              </a:defRPr>
            </a:pPr>
            <a:r>
              <a:rPr sz="975" b="1" i="0">
                <a:solidFill>
                  <a:srgbClr val="D89A2B"/>
                </a:solidFill>
                <a:latin typeface="Aptos"/>
                <a:ea typeface="Aptos"/>
                <a:cs typeface="Aptos"/>
              </a:rPr>
              <a:t>EVIDENCE BUNDLE</a:t>
            </a:r>
          </a:p>
        </p:txBody>
      </p:sp>
      <p:sp>
        <p:nvSpPr>
          <p:cNvPr id="26" name="">
            <a:extLst xmlns:a="http://schemas.openxmlformats.org/drawingml/2006/main">
              <a:ext uri="{FF2B5EF4-FFF2-40B4-BE49-F238E27FC236}">
                <a16:creationId xmlns:a16="http://schemas.microsoft.com/office/drawing/2014/main" id="{B418A393-4A88-47D0-AC80-A31AB5C632DF}"/>
              </a:ext>
            </a:extLst>
          </p:cNvPr>
          <p:cNvSpPr>
            <a:spLocks xmlns:a="http://schemas.openxmlformats.org/drawingml/2006/main" noGrp="1"/>
          </p:cNvSpPr>
          <p:nvPr/>
        </p:nvSpPr>
        <p:spPr>
          <a:xfrm xmlns:a="http://schemas.openxmlformats.org/drawingml/2006/main">
            <a:off x="857250" y="466725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FFFFFF"/>
                </a:solidFill>
                <a:latin typeface="Aptos Display"/>
                <a:ea typeface="Aptos Display"/>
                <a:cs typeface="Aptos Display"/>
              </a:defRPr>
            </a:pPr>
            <a:r>
              <a:rPr sz="1800" b="1" i="0">
                <a:solidFill>
                  <a:srgbClr val="FFFFFF"/>
                </a:solidFill>
                <a:latin typeface="Aptos Display"/>
                <a:ea typeface="Aptos Display"/>
                <a:cs typeface="Aptos Display"/>
              </a:rPr>
              <a:t>protocol + manifest + hashes + results + safety decisions + limitations</a:t>
            </a:r>
          </a:p>
        </p:txBody>
      </p:sp>
      <p:sp>
        <p:nvSpPr>
          <p:cNvPr id="27" name="">
            <a:extLst xmlns:a="http://schemas.openxmlformats.org/drawingml/2006/main">
              <a:ext uri="{FF2B5EF4-FFF2-40B4-BE49-F238E27FC236}">
                <a16:creationId xmlns:a16="http://schemas.microsoft.com/office/drawing/2014/main" id="{B0A60624-1F15-4288-8FEF-6DD3EDCD1095}"/>
              </a:ext>
            </a:extLst>
          </p:cNvPr>
          <p:cNvSpPr>
            <a:spLocks xmlns:a="http://schemas.openxmlformats.org/drawingml/2006/main" noGrp="1"/>
          </p:cNvSpPr>
          <p:nvPr/>
        </p:nvSpPr>
        <p:spPr>
          <a:xfrm xmlns:a="http://schemas.openxmlformats.org/drawingml/2006/main">
            <a:off x="857250" y="50673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DDEBE5"/>
                </a:solidFill>
                <a:latin typeface="Aptos"/>
                <a:ea typeface="Aptos"/>
                <a:cs typeface="Aptos"/>
              </a:defRPr>
            </a:pPr>
            <a:r>
              <a:rPr sz="1050" b="0" i="0">
                <a:solidFill>
                  <a:srgbClr val="DDEBE5"/>
                </a:solidFill>
                <a:latin typeface="Aptos"/>
                <a:ea typeface="Aptos"/>
                <a:cs typeface="Aptos"/>
              </a:rPr>
              <a:t>MDMP-style data review and EU AI Pact-oriented documentation support auditability; they do not equal regulatory compliance.</a:t>
            </a:r>
          </a:p>
        </p:txBody>
      </p:sp>
      <p:sp>
        <p:nvSpPr>
          <p:cNvPr id="28" name="">
            <a:extLst xmlns:a="http://schemas.openxmlformats.org/drawingml/2006/main">
              <a:ext uri="{FF2B5EF4-FFF2-40B4-BE49-F238E27FC236}">
                <a16:creationId xmlns:a16="http://schemas.microsoft.com/office/drawing/2014/main" id="{BE09F070-85DC-4118-BBD4-96571B5D25C9}"/>
              </a:ext>
            </a:extLst>
          </p:cNvPr>
          <p:cNvSpPr>
            <a:spLocks xmlns:a="http://schemas.openxmlformats.org/drawingml/2006/main" noGrp="1"/>
          </p:cNvSpPr>
          <p:nvPr/>
        </p:nvSpPr>
        <p:spPr>
          <a:xfrm xmlns:a="http://schemas.openxmlformats.org/drawingml/2006/main">
            <a:off x="10458450" y="2171700"/>
            <a:ext cx="1066800" cy="3162300"/>
          </a:xfrm>
          <a:prstGeom xmlns:a="http://schemas.openxmlformats.org/drawingml/2006/main" prst="roundRect">
            <a:avLst>
              <a:gd name="adj" fmla="val 10714"/>
            </a:avLst>
          </a:prstGeom>
          <a:solidFill xmlns:a="http://schemas.openxmlformats.org/drawingml/2006/main">
            <a:srgbClr val="173A5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A1EB1BA-7A7D-45F3-9E9D-E447680C6F37}"/>
              </a:ext>
            </a:extLst>
          </p:cNvPr>
          <p:cNvSpPr>
            <a:spLocks xmlns:a="http://schemas.openxmlformats.org/drawingml/2006/main" noGrp="1"/>
          </p:cNvSpPr>
          <p:nvPr/>
        </p:nvSpPr>
        <p:spPr>
          <a:xfrm xmlns:a="http://schemas.openxmlformats.org/drawingml/2006/main">
            <a:off x="10648950" y="23812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D89A2B"/>
                </a:solidFill>
                <a:latin typeface="Aptos"/>
                <a:ea typeface="Aptos"/>
                <a:cs typeface="Aptos"/>
              </a:defRPr>
            </a:pPr>
            <a:r>
              <a:rPr sz="1050" b="1" i="0">
                <a:solidFill>
                  <a:srgbClr val="D89A2B"/>
                </a:solidFill>
                <a:latin typeface="Aptos"/>
                <a:ea typeface="Aptos"/>
                <a:cs typeface="Aptos"/>
              </a:rPr>
              <a:t>EDGE</a:t>
            </a:r>
          </a:p>
        </p:txBody>
      </p:sp>
      <p:sp>
        <p:nvSpPr>
          <p:cNvPr id="30" name="">
            <a:extLst xmlns:a="http://schemas.openxmlformats.org/drawingml/2006/main">
              <a:ext uri="{FF2B5EF4-FFF2-40B4-BE49-F238E27FC236}">
                <a16:creationId xmlns:a16="http://schemas.microsoft.com/office/drawing/2014/main" id="{8246FFF3-E05C-4F31-9270-E587EFE4BEDA}"/>
              </a:ext>
            </a:extLst>
          </p:cNvPr>
          <p:cNvSpPr>
            <a:spLocks xmlns:a="http://schemas.openxmlformats.org/drawingml/2006/main" noGrp="1"/>
          </p:cNvSpPr>
          <p:nvPr/>
        </p:nvSpPr>
        <p:spPr>
          <a:xfrm xmlns:a="http://schemas.openxmlformats.org/drawingml/2006/main">
            <a:off x="10648950" y="2800350"/>
            <a:ext cx="6858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1275" b="1" i="0">
                <a:solidFill>
                  <a:srgbClr val="FFFFFF"/>
                </a:solidFill>
                <a:latin typeface="Aptos"/>
                <a:ea typeface="Aptos"/>
                <a:cs typeface="Aptos"/>
              </a:defRPr>
            </a:pPr>
            <a:r>
              <a:rPr sz="1275" b="1" i="0">
                <a:solidFill>
                  <a:srgbClr val="FFFFFF"/>
                </a:solidFill>
                <a:latin typeface="Aptos"/>
                <a:ea typeface="Aptos"/>
                <a:cs typeface="Aptos"/>
              </a:rPr>
              <a:t>PI</a:t>
            </a:r>
          </a:p>
          <a:p xmlns:a="http://schemas.openxmlformats.org/drawingml/2006/main">
            <a:r>
              <a:t/>
            </a:r>
          </a:p>
          <a:p xmlns:a="http://schemas.openxmlformats.org/drawingml/2006/main">
            <a:pPr algn="ctr">
              <a:lnSpc>
                <a:spcPct val="110000"/>
              </a:lnSpc>
              <a:buNone/>
              <a:defRPr sz="1275" b="1" i="0">
                <a:solidFill>
                  <a:srgbClr val="FFFFFF"/>
                </a:solidFill>
                <a:latin typeface="Aptos"/>
                <a:ea typeface="Aptos"/>
                <a:cs typeface="Aptos"/>
              </a:defRPr>
            </a:pPr>
            <a:r>
              <a:rPr sz="1275" b="1" i="0">
                <a:solidFill>
                  <a:srgbClr val="FFFFFF"/>
                </a:solidFill>
                <a:latin typeface="Aptos"/>
                <a:ea typeface="Aptos"/>
                <a:cs typeface="Aptos"/>
              </a:rPr>
              <a:t>UNO Q</a:t>
            </a:r>
          </a:p>
          <a:p xmlns:a="http://schemas.openxmlformats.org/drawingml/2006/main">
            <a:r>
              <a:t/>
            </a:r>
          </a:p>
          <a:p xmlns:a="http://schemas.openxmlformats.org/drawingml/2006/main">
            <a:pPr algn="ctr">
              <a:lnSpc>
                <a:spcPct val="110000"/>
              </a:lnSpc>
              <a:buNone/>
              <a:defRPr sz="1275" b="1" i="0">
                <a:solidFill>
                  <a:srgbClr val="FFFFFF"/>
                </a:solidFill>
                <a:latin typeface="Aptos"/>
                <a:ea typeface="Aptos"/>
                <a:cs typeface="Aptos"/>
              </a:defRPr>
            </a:pPr>
            <a:r>
              <a:rPr sz="1275" b="1" i="0">
                <a:solidFill>
                  <a:srgbClr val="FFFFFF"/>
                </a:solidFill>
                <a:latin typeface="Aptos"/>
                <a:ea typeface="Aptos"/>
                <a:cs typeface="Aptos"/>
              </a:rPr>
              <a:t>JETSON</a:t>
            </a:r>
          </a:p>
          <a:p xmlns:a="http://schemas.openxmlformats.org/drawingml/2006/main">
            <a:r>
              <a:t/>
            </a:r>
          </a:p>
          <a:p xmlns:a="http://schemas.openxmlformats.org/drawingml/2006/main">
            <a:pPr algn="ctr">
              <a:lnSpc>
                <a:spcPct val="110000"/>
              </a:lnSpc>
              <a:buNone/>
              <a:defRPr sz="1275" b="1" i="0">
                <a:solidFill>
                  <a:srgbClr val="FFFFFF"/>
                </a:solidFill>
                <a:latin typeface="Aptos"/>
                <a:ea typeface="Aptos"/>
                <a:cs typeface="Aptos"/>
              </a:defRPr>
            </a:pPr>
            <a:r>
              <a:rPr sz="1275" b="1" i="0">
                <a:solidFill>
                  <a:srgbClr val="FFFFFF"/>
                </a:solidFill>
                <a:latin typeface="Aptos"/>
                <a:ea typeface="Aptos"/>
                <a:cs typeface="Aptos"/>
              </a:rPr>
              <a:t>FPGA</a:t>
            </a:r>
          </a:p>
        </p:txBody>
      </p:sp>
      <p:sp>
        <p:nvSpPr>
          <p:cNvPr id="31" name="">
            <a:extLst xmlns:a="http://schemas.openxmlformats.org/drawingml/2006/main">
              <a:ext uri="{FF2B5EF4-FFF2-40B4-BE49-F238E27FC236}">
                <a16:creationId xmlns:a16="http://schemas.microsoft.com/office/drawing/2014/main" id="{258287BB-FAC2-464E-BEDB-A99E0CCAA669}"/>
              </a:ext>
            </a:extLst>
          </p:cNvPr>
          <p:cNvSpPr>
            <a:spLocks xmlns:a="http://schemas.openxmlformats.org/drawingml/2006/main" noGrp="1"/>
          </p:cNvSpPr>
          <p:nvPr/>
        </p:nvSpPr>
        <p:spPr>
          <a:xfrm xmlns:a="http://schemas.openxmlformats.org/drawingml/2006/main">
            <a:off x="2247900" y="5676900"/>
            <a:ext cx="7696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0C3B32"/>
                </a:solidFill>
                <a:latin typeface="Aptos"/>
                <a:ea typeface="Aptos"/>
                <a:cs typeface="Aptos"/>
              </a:defRPr>
            </a:pPr>
            <a:r>
              <a:rPr sz="1575" b="1" i="0">
                <a:solidFill>
                  <a:srgbClr val="0C3B32"/>
                </a:solidFill>
                <a:latin typeface="Aptos"/>
                <a:ea typeface="Aptos"/>
                <a:cs typeface="Aptos"/>
              </a:rPr>
              <a:t>The same CLI connects simulation, data, AI, reports and hardware experiments.</a:t>
            </a:r>
          </a:p>
        </p:txBody>
      </p:sp>
      <p:sp>
        <p:nvSpPr>
          <p:cNvPr id="32" name="">
            <a:extLst xmlns:a="http://schemas.openxmlformats.org/drawingml/2006/main">
              <a:ext uri="{FF2B5EF4-FFF2-40B4-BE49-F238E27FC236}">
                <a16:creationId xmlns:a16="http://schemas.microsoft.com/office/drawing/2014/main" id="{500B7E8A-8F0E-42B4-B59C-78583D6A07FA}"/>
              </a:ext>
            </a:extLst>
          </p:cNvPr>
          <p:cNvSpPr>
            <a:spLocks xmlns:a="http://schemas.openxmlformats.org/drawingml/2006/main" noGrp="1"/>
          </p:cNvSpPr>
          <p:nvPr/>
        </p:nvSpPr>
        <p:spPr>
          <a:xfrm xmlns:a="http://schemas.openxmlformats.org/drawingml/2006/main">
            <a:off x="647700" y="621030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0" i="0">
                <a:solidFill>
                  <a:srgbClr val="5C6A70"/>
                </a:solidFill>
                <a:latin typeface="Aptos"/>
                <a:ea typeface="Aptos"/>
                <a:cs typeface="Aptos"/>
              </a:defRPr>
            </a:pPr>
            <a:r>
              <a:rPr sz="750" b="0" i="0">
                <a:solidFill>
                  <a:srgbClr val="5C6A70"/>
                </a:solidFill>
                <a:latin typeface="Aptos"/>
                <a:ea typeface="Aptos"/>
                <a:cs typeface="Aptos"/>
              </a:rPr>
              <a:t>Examples: iints run-study · iints report · iints data certify · iints fpga demo.</a:t>
            </a:r>
          </a:p>
        </p:txBody>
      </p:sp>
      <p:sp>
        <p:nvSpPr>
          <p:cNvPr id="33" name="">
            <a:extLst xmlns:a="http://schemas.openxmlformats.org/drawingml/2006/main">
              <a:ext uri="{FF2B5EF4-FFF2-40B4-BE49-F238E27FC236}">
                <a16:creationId xmlns:a16="http://schemas.microsoft.com/office/drawing/2014/main" id="{C7974721-173C-480C-8ACA-3B59AA426EC3}"/>
              </a:ext>
            </a:extLst>
          </p:cNvPr>
          <p:cNvSpPr>
            <a:spLocks xmlns:a="http://schemas.openxmlformats.org/drawingml/2006/main" noGrp="1"/>
          </p:cNvSpPr>
          <p:nvPr/>
        </p:nvSpPr>
        <p:spPr>
          <a:xfrm xmlns:a="http://schemas.openxmlformats.org/drawingml/2006/main">
            <a:off x="647700" y="6467475"/>
            <a:ext cx="10896600" cy="9525"/>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4B2B406-BCD6-4916-9496-F47CEFFDFD7D}"/>
              </a:ext>
            </a:extLst>
          </p:cNvPr>
          <p:cNvSpPr>
            <a:spLocks xmlns:a="http://schemas.openxmlformats.org/drawingml/2006/main" noGrp="1"/>
          </p:cNvSpPr>
          <p:nvPr/>
        </p:nvSpPr>
        <p:spPr>
          <a:xfrm xmlns:a="http://schemas.openxmlformats.org/drawingml/2006/main">
            <a:off x="647700" y="6553200"/>
            <a:ext cx="495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C6A70"/>
                </a:solidFill>
                <a:latin typeface="Aptos"/>
                <a:ea typeface="Aptos"/>
                <a:cs typeface="Aptos"/>
              </a:defRPr>
            </a:pPr>
            <a:r>
              <a:rPr sz="750" b="1" i="0">
                <a:solidFill>
                  <a:srgbClr val="5C6A70"/>
                </a:solidFill>
                <a:latin typeface="Aptos"/>
                <a:ea typeface="Aptos"/>
                <a:cs typeface="Aptos"/>
              </a:rPr>
              <a:t>RESEARCH &amp; EDUCATION ONLY · NOT A MEDICAL DEVICE</a:t>
            </a:r>
          </a:p>
        </p:txBody>
      </p:sp>
      <p:sp>
        <p:nvSpPr>
          <p:cNvPr id="35" name="">
            <a:extLst xmlns:a="http://schemas.openxmlformats.org/drawingml/2006/main">
              <a:ext uri="{FF2B5EF4-FFF2-40B4-BE49-F238E27FC236}">
                <a16:creationId xmlns:a16="http://schemas.microsoft.com/office/drawing/2014/main" id="{41194DFC-DA0B-48CB-B879-7A4656AA4872}"/>
              </a:ext>
            </a:extLst>
          </p:cNvPr>
          <p:cNvSpPr>
            <a:spLocks xmlns:a="http://schemas.openxmlformats.org/drawingml/2006/main" noGrp="1"/>
          </p:cNvSpPr>
          <p:nvPr/>
        </p:nvSpPr>
        <p:spPr>
          <a:xfrm xmlns:a="http://schemas.openxmlformats.org/drawingml/2006/main">
            <a:off x="11096625" y="6534150"/>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1" i="0">
                <a:solidFill>
                  <a:srgbClr val="0C3B32"/>
                </a:solidFill>
                <a:latin typeface="Aptos"/>
                <a:ea typeface="Aptos"/>
                <a:cs typeface="Aptos"/>
              </a:defRPr>
            </a:pPr>
            <a:r>
              <a:rPr sz="900" b="1" i="0">
                <a:solidFill>
                  <a:srgbClr val="0C3B32"/>
                </a:solidFill>
                <a:latin typeface="Aptos"/>
                <a:ea typeface="Aptos"/>
                <a:cs typeface="Aptos"/>
              </a:rPr>
              <a:t>13</a:t>
            </a:r>
          </a:p>
        </p:txBody>
      </p:sp>
    </p:spTree>
    <p:extLst>
      <p:ext uri="{BB962C8B-B14F-4D97-AF65-F5344CB8AC3E}">
        <p14:creationId xmlns:p14="http://schemas.microsoft.com/office/powerpoint/2010/main" val="892389584"/>
      </p:ext>
    </p:extLst>
  </p:cSld>
</p:sld>
</file>

<file path=ppt/slides/slide1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3F8EE31-CF0E-4F90-886C-EFA7FC94894B}"/>
              </a:ext>
            </a:extLst>
          </p:cNvPr>
          <p:cNvSpPr>
            <a:spLocks xmlns:a="http://schemas.openxmlformats.org/drawingml/2006/main" noGrp="1"/>
          </p:cNvSpPr>
          <p:nvPr/>
        </p:nvSpPr>
        <p:spPr>
          <a:xfrm xmlns:a="http://schemas.openxmlformats.org/drawingml/2006/main">
            <a:off x="647700" y="3429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E7D8A"/>
                </a:solidFill>
                <a:latin typeface="Aptos"/>
                <a:ea typeface="Aptos"/>
                <a:cs typeface="Aptos"/>
              </a:defRPr>
            </a:pPr>
            <a:r>
              <a:rPr sz="900" b="1" i="0">
                <a:solidFill>
                  <a:srgbClr val="2E7D8A"/>
                </a:solidFill>
                <a:latin typeface="Aptos"/>
                <a:ea typeface="Aptos"/>
                <a:cs typeface="Aptos"/>
              </a:rPr>
              <a:t>SCIENTIFIC POSITION</a:t>
            </a:r>
          </a:p>
        </p:txBody>
      </p:sp>
      <p:sp>
        <p:nvSpPr>
          <p:cNvPr id="2" name="">
            <a:extLst xmlns:a="http://schemas.openxmlformats.org/drawingml/2006/main">
              <a:ext uri="{FF2B5EF4-FFF2-40B4-BE49-F238E27FC236}">
                <a16:creationId xmlns:a16="http://schemas.microsoft.com/office/drawing/2014/main" id="{7FE22054-731D-4F22-B939-D5703C24A52A}"/>
              </a:ext>
            </a:extLst>
          </p:cNvPr>
          <p:cNvSpPr>
            <a:spLocks xmlns:a="http://schemas.openxmlformats.org/drawingml/2006/main" noGrp="1"/>
          </p:cNvSpPr>
          <p:nvPr/>
        </p:nvSpPr>
        <p:spPr>
          <a:xfrm xmlns:a="http://schemas.openxmlformats.org/drawingml/2006/main">
            <a:off x="6477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00" b="1" i="0">
                <a:solidFill>
                  <a:srgbClr val="0C3B32"/>
                </a:solidFill>
                <a:latin typeface="Aptos Display"/>
                <a:ea typeface="Aptos Display"/>
                <a:cs typeface="Aptos Display"/>
              </a:defRPr>
            </a:pPr>
            <a:r>
              <a:rPr sz="3000" b="1" i="0">
                <a:solidFill>
                  <a:srgbClr val="0C3B32"/>
                </a:solidFill>
                <a:latin typeface="Aptos Display"/>
                <a:ea typeface="Aptos Display"/>
                <a:cs typeface="Aptos Display"/>
              </a:rPr>
              <a:t>What the SDK is—and what it is not</a:t>
            </a:r>
          </a:p>
        </p:txBody>
      </p:sp>
      <p:sp>
        <p:nvSpPr>
          <p:cNvPr id="3" name="">
            <a:extLst xmlns:a="http://schemas.openxmlformats.org/drawingml/2006/main">
              <a:ext uri="{FF2B5EF4-FFF2-40B4-BE49-F238E27FC236}">
                <a16:creationId xmlns:a16="http://schemas.microsoft.com/office/drawing/2014/main" id="{B662D18A-91C3-4BBC-9F27-5FCF2571C11C}"/>
              </a:ext>
            </a:extLst>
          </p:cNvPr>
          <p:cNvSpPr>
            <a:spLocks xmlns:a="http://schemas.openxmlformats.org/drawingml/2006/main" noGrp="1"/>
          </p:cNvSpPr>
          <p:nvPr/>
        </p:nvSpPr>
        <p:spPr>
          <a:xfrm xmlns:a="http://schemas.openxmlformats.org/drawingml/2006/main">
            <a:off x="647700" y="11811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5C6A70"/>
                </a:solidFill>
                <a:latin typeface="Aptos"/>
                <a:ea typeface="Aptos"/>
                <a:cs typeface="Aptos"/>
              </a:defRPr>
            </a:pPr>
            <a:r>
              <a:rPr sz="1275" b="0" i="0">
                <a:solidFill>
                  <a:srgbClr val="5C6A70"/>
                </a:solidFill>
                <a:latin typeface="Aptos"/>
                <a:ea typeface="Aptos"/>
                <a:cs typeface="Aptos"/>
              </a:rPr>
              <a:t>The credibility of the project depends on making the boundary explicit.</a:t>
            </a:r>
          </a:p>
        </p:txBody>
      </p:sp>
      <p:sp>
        <p:nvSpPr>
          <p:cNvPr id="4" name="">
            <a:extLst xmlns:a="http://schemas.openxmlformats.org/drawingml/2006/main">
              <a:ext uri="{FF2B5EF4-FFF2-40B4-BE49-F238E27FC236}">
                <a16:creationId xmlns:a16="http://schemas.microsoft.com/office/drawing/2014/main" id="{0F758B89-AED0-4B02-8945-16F1B5DEC42B}"/>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7B5EE0E-C287-46E6-9FEA-52FF98200D11}"/>
              </a:ext>
            </a:extLst>
          </p:cNvPr>
          <p:cNvSpPr>
            <a:spLocks xmlns:a="http://schemas.openxmlformats.org/drawingml/2006/main" noGrp="1"/>
          </p:cNvSpPr>
          <p:nvPr/>
        </p:nvSpPr>
        <p:spPr>
          <a:xfrm xmlns:a="http://schemas.openxmlformats.org/drawingml/2006/main">
            <a:off x="647700" y="1924050"/>
            <a:ext cx="5219700" cy="2362200"/>
          </a:xfrm>
          <a:prstGeom xmlns:a="http://schemas.openxmlformats.org/drawingml/2006/main" prst="roundRect">
            <a:avLst>
              <a:gd name="adj" fmla="val 4839"/>
            </a:avLst>
          </a:prstGeom>
          <a:solidFill xmlns:a="http://schemas.openxmlformats.org/drawingml/2006/main">
            <a:srgbClr val="E4EEE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7ADAAE1-DC58-421D-9AD8-7713B56863AF}"/>
              </a:ext>
            </a:extLst>
          </p:cNvPr>
          <p:cNvSpPr>
            <a:spLocks xmlns:a="http://schemas.openxmlformats.org/drawingml/2006/main" noGrp="1"/>
          </p:cNvSpPr>
          <p:nvPr/>
        </p:nvSpPr>
        <p:spPr>
          <a:xfrm xmlns:a="http://schemas.openxmlformats.org/drawingml/2006/main">
            <a:off x="876300" y="21336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0C3B32"/>
                </a:solidFill>
                <a:latin typeface="Aptos"/>
                <a:ea typeface="Aptos"/>
                <a:cs typeface="Aptos"/>
              </a:defRPr>
            </a:pPr>
            <a:r>
              <a:rPr sz="1050" b="1" i="0">
                <a:solidFill>
                  <a:srgbClr val="0C3B32"/>
                </a:solidFill>
                <a:latin typeface="Aptos"/>
                <a:ea typeface="Aptos"/>
                <a:cs typeface="Aptos"/>
              </a:rPr>
              <a:t>IT IS</a:t>
            </a:r>
          </a:p>
        </p:txBody>
      </p:sp>
      <p:sp>
        <p:nvSpPr>
          <p:cNvPr id="7" name="">
            <a:extLst xmlns:a="http://schemas.openxmlformats.org/drawingml/2006/main">
              <a:ext uri="{FF2B5EF4-FFF2-40B4-BE49-F238E27FC236}">
                <a16:creationId xmlns:a16="http://schemas.microsoft.com/office/drawing/2014/main" id="{107197C2-FD1F-49AF-AADC-BE7624AE2E6A}"/>
              </a:ext>
            </a:extLst>
          </p:cNvPr>
          <p:cNvSpPr>
            <a:spLocks xmlns:a="http://schemas.openxmlformats.org/drawingml/2006/main" noGrp="1"/>
          </p:cNvSpPr>
          <p:nvPr/>
        </p:nvSpPr>
        <p:spPr>
          <a:xfrm xmlns:a="http://schemas.openxmlformats.org/drawingml/2006/main">
            <a:off x="876300" y="2571750"/>
            <a:ext cx="46482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marL="22" indent="-12" algn="l">
              <a:lnSpc>
                <a:spcPct val="113000"/>
              </a:lnSpc>
              <a:buNone/>
              <a:defRPr sz="1425">
                <a:solidFill>
                  <a:srgbClr val="182329"/>
                </a:solidFill>
                <a:latin typeface="Aptos"/>
                <a:ea typeface="Aptos"/>
                <a:cs typeface="Aptos"/>
              </a:defRPr>
            </a:pPr>
            <a:r>
              <a:rPr sz="1425">
                <a:solidFill>
                  <a:srgbClr val="182329"/>
                </a:solidFill>
                <a:latin typeface="Aptos"/>
                <a:ea typeface="Aptos"/>
                <a:cs typeface="Aptos"/>
              </a:rPr>
              <a:t>a pre-clinical research simulator</a:t>
            </a:r>
          </a:p>
          <a:p xmlns:a="http://schemas.openxmlformats.org/drawingml/2006/main">
            <a:pPr marL="22" indent="-12" algn="l">
              <a:lnSpc>
                <a:spcPct val="113000"/>
              </a:lnSpc>
              <a:buNone/>
              <a:defRPr sz="1425">
                <a:solidFill>
                  <a:srgbClr val="182329"/>
                </a:solidFill>
                <a:latin typeface="Aptos"/>
                <a:ea typeface="Aptos"/>
                <a:cs typeface="Aptos"/>
              </a:defRPr>
            </a:pPr>
            <a:r>
              <a:rPr sz="1425">
                <a:solidFill>
                  <a:srgbClr val="182329"/>
                </a:solidFill>
                <a:latin typeface="Aptos"/>
                <a:ea typeface="Aptos"/>
                <a:cs typeface="Aptos"/>
              </a:rPr>
              <a:t>a reproducible algorithm test harness</a:t>
            </a:r>
          </a:p>
          <a:p xmlns:a="http://schemas.openxmlformats.org/drawingml/2006/main">
            <a:pPr marL="22" indent="-12" algn="l">
              <a:lnSpc>
                <a:spcPct val="113000"/>
              </a:lnSpc>
              <a:buNone/>
              <a:defRPr sz="1425">
                <a:solidFill>
                  <a:srgbClr val="182329"/>
                </a:solidFill>
                <a:latin typeface="Aptos"/>
                <a:ea typeface="Aptos"/>
                <a:cs typeface="Aptos"/>
              </a:defRPr>
            </a:pPr>
            <a:r>
              <a:rPr sz="1425">
                <a:solidFill>
                  <a:srgbClr val="182329"/>
                </a:solidFill>
                <a:latin typeface="Aptos"/>
                <a:ea typeface="Aptos"/>
                <a:cs typeface="Aptos"/>
              </a:rPr>
              <a:t>a physiology and AI experimentation platform</a:t>
            </a:r>
          </a:p>
          <a:p xmlns:a="http://schemas.openxmlformats.org/drawingml/2006/main">
            <a:pPr marL="22" indent="-12" algn="l">
              <a:lnSpc>
                <a:spcPct val="113000"/>
              </a:lnSpc>
              <a:buNone/>
              <a:defRPr sz="1425">
                <a:solidFill>
                  <a:srgbClr val="182329"/>
                </a:solidFill>
                <a:latin typeface="Aptos"/>
                <a:ea typeface="Aptos"/>
                <a:cs typeface="Aptos"/>
              </a:defRPr>
            </a:pPr>
            <a:r>
              <a:rPr sz="1425">
                <a:solidFill>
                  <a:srgbClr val="182329"/>
                </a:solidFill>
                <a:latin typeface="Aptos"/>
                <a:ea typeface="Aptos"/>
                <a:cs typeface="Aptos"/>
              </a:rPr>
              <a:t>an educational digital twin</a:t>
            </a:r>
          </a:p>
        </p:txBody>
      </p:sp>
      <p:sp>
        <p:nvSpPr>
          <p:cNvPr id="8" name="">
            <a:extLst xmlns:a="http://schemas.openxmlformats.org/drawingml/2006/main">
              <a:ext uri="{FF2B5EF4-FFF2-40B4-BE49-F238E27FC236}">
                <a16:creationId xmlns:a16="http://schemas.microsoft.com/office/drawing/2014/main" id="{11089116-B21E-4174-9B2D-299AB49463BE}"/>
              </a:ext>
            </a:extLst>
          </p:cNvPr>
          <p:cNvSpPr>
            <a:spLocks xmlns:a="http://schemas.openxmlformats.org/drawingml/2006/main" noGrp="1"/>
          </p:cNvSpPr>
          <p:nvPr/>
        </p:nvSpPr>
        <p:spPr>
          <a:xfrm xmlns:a="http://schemas.openxmlformats.org/drawingml/2006/main">
            <a:off x="6038850" y="1924050"/>
            <a:ext cx="5505450" cy="2362200"/>
          </a:xfrm>
          <a:prstGeom xmlns:a="http://schemas.openxmlformats.org/drawingml/2006/main" prst="roundRect">
            <a:avLst>
              <a:gd name="adj" fmla="val 4839"/>
            </a:avLst>
          </a:prstGeom>
          <a:solidFill xmlns:a="http://schemas.openxmlformats.org/drawingml/2006/main">
            <a:srgbClr val="F5E4E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A81400B-5CAF-44C0-8940-97D37F0F04A7}"/>
              </a:ext>
            </a:extLst>
          </p:cNvPr>
          <p:cNvSpPr>
            <a:spLocks xmlns:a="http://schemas.openxmlformats.org/drawingml/2006/main" noGrp="1"/>
          </p:cNvSpPr>
          <p:nvPr/>
        </p:nvSpPr>
        <p:spPr>
          <a:xfrm xmlns:a="http://schemas.openxmlformats.org/drawingml/2006/main">
            <a:off x="6267450" y="21336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C5534A"/>
                </a:solidFill>
                <a:latin typeface="Aptos"/>
                <a:ea typeface="Aptos"/>
                <a:cs typeface="Aptos"/>
              </a:defRPr>
            </a:pPr>
            <a:r>
              <a:rPr sz="1050" b="1" i="0">
                <a:solidFill>
                  <a:srgbClr val="C5534A"/>
                </a:solidFill>
                <a:latin typeface="Aptos"/>
                <a:ea typeface="Aptos"/>
                <a:cs typeface="Aptos"/>
              </a:rPr>
              <a:t>IT IS NOT</a:t>
            </a:r>
          </a:p>
        </p:txBody>
      </p:sp>
      <p:sp>
        <p:nvSpPr>
          <p:cNvPr id="10" name="">
            <a:extLst xmlns:a="http://schemas.openxmlformats.org/drawingml/2006/main">
              <a:ext uri="{FF2B5EF4-FFF2-40B4-BE49-F238E27FC236}">
                <a16:creationId xmlns:a16="http://schemas.microsoft.com/office/drawing/2014/main" id="{820FBE1A-F93C-477F-9A74-C6B6F792932E}"/>
              </a:ext>
            </a:extLst>
          </p:cNvPr>
          <p:cNvSpPr>
            <a:spLocks xmlns:a="http://schemas.openxmlformats.org/drawingml/2006/main" noGrp="1"/>
          </p:cNvSpPr>
          <p:nvPr/>
        </p:nvSpPr>
        <p:spPr>
          <a:xfrm xmlns:a="http://schemas.openxmlformats.org/drawingml/2006/main">
            <a:off x="6267450" y="2571750"/>
            <a:ext cx="49339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marL="22" indent="-12" algn="l">
              <a:lnSpc>
                <a:spcPct val="113000"/>
              </a:lnSpc>
              <a:buNone/>
              <a:defRPr sz="1425">
                <a:solidFill>
                  <a:srgbClr val="182329"/>
                </a:solidFill>
                <a:latin typeface="Aptos"/>
                <a:ea typeface="Aptos"/>
                <a:cs typeface="Aptos"/>
              </a:defRPr>
            </a:pPr>
            <a:r>
              <a:rPr sz="1425">
                <a:solidFill>
                  <a:srgbClr val="182329"/>
                </a:solidFill>
                <a:latin typeface="Aptos"/>
                <a:ea typeface="Aptos"/>
                <a:cs typeface="Aptos"/>
              </a:rPr>
              <a:t>a medical device or certified controller</a:t>
            </a:r>
          </a:p>
          <a:p xmlns:a="http://schemas.openxmlformats.org/drawingml/2006/main">
            <a:pPr marL="22" indent="-12" algn="l">
              <a:lnSpc>
                <a:spcPct val="113000"/>
              </a:lnSpc>
              <a:buNone/>
              <a:defRPr sz="1425">
                <a:solidFill>
                  <a:srgbClr val="182329"/>
                </a:solidFill>
                <a:latin typeface="Aptos"/>
                <a:ea typeface="Aptos"/>
                <a:cs typeface="Aptos"/>
              </a:defRPr>
            </a:pPr>
            <a:r>
              <a:rPr sz="1425">
                <a:solidFill>
                  <a:srgbClr val="182329"/>
                </a:solidFill>
                <a:latin typeface="Aptos"/>
                <a:ea typeface="Aptos"/>
                <a:cs typeface="Aptos"/>
              </a:rPr>
              <a:t>a replacement for clinical trials</a:t>
            </a:r>
          </a:p>
          <a:p xmlns:a="http://schemas.openxmlformats.org/drawingml/2006/main">
            <a:pPr marL="22" indent="-12" algn="l">
              <a:lnSpc>
                <a:spcPct val="113000"/>
              </a:lnSpc>
              <a:buNone/>
              <a:defRPr sz="1425">
                <a:solidFill>
                  <a:srgbClr val="182329"/>
                </a:solidFill>
                <a:latin typeface="Aptos"/>
                <a:ea typeface="Aptos"/>
                <a:cs typeface="Aptos"/>
              </a:defRPr>
            </a:pPr>
            <a:r>
              <a:rPr sz="1425">
                <a:solidFill>
                  <a:srgbClr val="182329"/>
                </a:solidFill>
                <a:latin typeface="Aptos"/>
                <a:ea typeface="Aptos"/>
                <a:cs typeface="Aptos"/>
              </a:rPr>
              <a:t>a source of treatment or dosing advice</a:t>
            </a:r>
          </a:p>
          <a:p xmlns:a="http://schemas.openxmlformats.org/drawingml/2006/main">
            <a:pPr marL="22" indent="-12" algn="l">
              <a:lnSpc>
                <a:spcPct val="113000"/>
              </a:lnSpc>
              <a:buNone/>
              <a:defRPr sz="1425">
                <a:solidFill>
                  <a:srgbClr val="182329"/>
                </a:solidFill>
                <a:latin typeface="Aptos"/>
                <a:ea typeface="Aptos"/>
                <a:cs typeface="Aptos"/>
              </a:defRPr>
            </a:pPr>
            <a:r>
              <a:rPr sz="1425">
                <a:solidFill>
                  <a:srgbClr val="182329"/>
                </a:solidFill>
                <a:latin typeface="Aptos"/>
                <a:ea typeface="Aptos"/>
                <a:cs typeface="Aptos"/>
              </a:rPr>
              <a:t>proof that every physiology parameter is clinically exact</a:t>
            </a:r>
          </a:p>
        </p:txBody>
      </p:sp>
      <p:sp>
        <p:nvSpPr>
          <p:cNvPr id="11" name="">
            <a:extLst xmlns:a="http://schemas.openxmlformats.org/drawingml/2006/main">
              <a:ext uri="{FF2B5EF4-FFF2-40B4-BE49-F238E27FC236}">
                <a16:creationId xmlns:a16="http://schemas.microsoft.com/office/drawing/2014/main" id="{E689BA04-FB64-4C12-BE77-BD587E427327}"/>
              </a:ext>
            </a:extLst>
          </p:cNvPr>
          <p:cNvSpPr>
            <a:spLocks xmlns:a="http://schemas.openxmlformats.org/drawingml/2006/main" noGrp="1"/>
          </p:cNvSpPr>
          <p:nvPr/>
        </p:nvSpPr>
        <p:spPr>
          <a:xfrm xmlns:a="http://schemas.openxmlformats.org/drawingml/2006/main">
            <a:off x="647700" y="46291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2E7D8A"/>
                </a:solidFill>
                <a:latin typeface="Aptos"/>
                <a:ea typeface="Aptos"/>
                <a:cs typeface="Aptos"/>
              </a:defRPr>
            </a:pPr>
            <a:r>
              <a:rPr sz="1050" b="1" i="0">
                <a:solidFill>
                  <a:srgbClr val="2E7D8A"/>
                </a:solidFill>
                <a:latin typeface="Aptos"/>
                <a:ea typeface="Aptos"/>
                <a:cs typeface="Aptos"/>
              </a:rPr>
              <a:t>NEXT VALIDATION STEPS</a:t>
            </a:r>
          </a:p>
        </p:txBody>
      </p:sp>
      <p:sp>
        <p:nvSpPr>
          <p:cNvPr id="12" name="">
            <a:extLst xmlns:a="http://schemas.openxmlformats.org/drawingml/2006/main">
              <a:ext uri="{FF2B5EF4-FFF2-40B4-BE49-F238E27FC236}">
                <a16:creationId xmlns:a16="http://schemas.microsoft.com/office/drawing/2014/main" id="{34986055-B119-4F24-9300-1DFB1D105EE7}"/>
              </a:ext>
            </a:extLst>
          </p:cNvPr>
          <p:cNvSpPr>
            <a:spLocks xmlns:a="http://schemas.openxmlformats.org/drawingml/2006/main" noGrp="1"/>
          </p:cNvSpPr>
          <p:nvPr/>
        </p:nvSpPr>
        <p:spPr>
          <a:xfrm xmlns:a="http://schemas.openxmlformats.org/drawingml/2006/main">
            <a:off x="647700" y="4972050"/>
            <a:ext cx="2476500" cy="723900"/>
          </a:xfrm>
          <a:prstGeom xmlns:a="http://schemas.openxmlformats.org/drawingml/2006/main" prst="roundRect">
            <a:avLst>
              <a:gd name="adj" fmla="val 15789"/>
            </a:avLst>
          </a:prstGeom>
          <a:solidFill xmlns:a="http://schemas.openxmlformats.org/drawingml/2006/main">
            <a:srgbClr val="FFFDF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8D6BD01-9C0C-4CE5-94C5-F1AACDE2A0DF}"/>
              </a:ext>
            </a:extLst>
          </p:cNvPr>
          <p:cNvSpPr>
            <a:spLocks xmlns:a="http://schemas.openxmlformats.org/drawingml/2006/main" noGrp="1"/>
          </p:cNvSpPr>
          <p:nvPr/>
        </p:nvSpPr>
        <p:spPr>
          <a:xfrm xmlns:a="http://schemas.openxmlformats.org/drawingml/2006/main">
            <a:off x="781050" y="5153025"/>
            <a:ext cx="361950" cy="361950"/>
          </a:xfrm>
          <a:prstGeom xmlns:a="http://schemas.openxmlformats.org/drawingml/2006/main" prst="ellipse">
            <a:avLst/>
          </a:prstGeom>
          <a:solidFill xmlns:a="http://schemas.openxmlformats.org/drawingml/2006/main">
            <a:srgbClr val="2E7D8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5436F91-5DB2-4569-A881-0D28FA33C8B7}"/>
              </a:ext>
            </a:extLst>
          </p:cNvPr>
          <p:cNvSpPr>
            <a:spLocks xmlns:a="http://schemas.openxmlformats.org/drawingml/2006/main" noGrp="1"/>
          </p:cNvSpPr>
          <p:nvPr/>
        </p:nvSpPr>
        <p:spPr>
          <a:xfrm xmlns:a="http://schemas.openxmlformats.org/drawingml/2006/main">
            <a:off x="781050" y="5229225"/>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FFFFFF"/>
                </a:solidFill>
                <a:latin typeface="Aptos"/>
                <a:ea typeface="Aptos"/>
                <a:cs typeface="Aptos"/>
              </a:defRPr>
            </a:pPr>
            <a:r>
              <a:rPr sz="1125" b="1" i="0">
                <a:solidFill>
                  <a:srgbClr val="FFFFFF"/>
                </a:solidFill>
                <a:latin typeface="Aptos"/>
                <a:ea typeface="Aptos"/>
                <a:cs typeface="Aptos"/>
              </a:rPr>
              <a:t>1</a:t>
            </a:r>
          </a:p>
        </p:txBody>
      </p:sp>
      <p:sp>
        <p:nvSpPr>
          <p:cNvPr id="15" name="">
            <a:extLst xmlns:a="http://schemas.openxmlformats.org/drawingml/2006/main">
              <a:ext uri="{FF2B5EF4-FFF2-40B4-BE49-F238E27FC236}">
                <a16:creationId xmlns:a16="http://schemas.microsoft.com/office/drawing/2014/main" id="{40E9E7B5-2669-4C71-AAC5-42245456C38A}"/>
              </a:ext>
            </a:extLst>
          </p:cNvPr>
          <p:cNvSpPr>
            <a:spLocks xmlns:a="http://schemas.openxmlformats.org/drawingml/2006/main" noGrp="1"/>
          </p:cNvSpPr>
          <p:nvPr/>
        </p:nvSpPr>
        <p:spPr>
          <a:xfrm xmlns:a="http://schemas.openxmlformats.org/drawingml/2006/main">
            <a:off x="1276350" y="5095875"/>
            <a:ext cx="1657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0000"/>
              </a:lnSpc>
              <a:buNone/>
              <a:defRPr sz="1275" b="1" i="0">
                <a:solidFill>
                  <a:srgbClr val="0C3B32"/>
                </a:solidFill>
                <a:latin typeface="Aptos"/>
                <a:ea typeface="Aptos"/>
                <a:cs typeface="Aptos"/>
              </a:defRPr>
            </a:pPr>
            <a:r>
              <a:rPr sz="1275" b="1" i="0">
                <a:solidFill>
                  <a:srgbClr val="0C3B32"/>
                </a:solidFill>
                <a:latin typeface="Aptos"/>
                <a:ea typeface="Aptos"/>
                <a:cs typeface="Aptos"/>
              </a:rPr>
              <a:t>Calibrate</a:t>
            </a:r>
          </a:p>
        </p:txBody>
      </p:sp>
      <p:sp>
        <p:nvSpPr>
          <p:cNvPr id="16" name="">
            <a:extLst xmlns:a="http://schemas.openxmlformats.org/drawingml/2006/main">
              <a:ext uri="{FF2B5EF4-FFF2-40B4-BE49-F238E27FC236}">
                <a16:creationId xmlns:a16="http://schemas.microsoft.com/office/drawing/2014/main" id="{0115E373-92CB-4478-8967-D56C04862488}"/>
              </a:ext>
            </a:extLst>
          </p:cNvPr>
          <p:cNvSpPr>
            <a:spLocks xmlns:a="http://schemas.openxmlformats.org/drawingml/2006/main" noGrp="1"/>
          </p:cNvSpPr>
          <p:nvPr/>
        </p:nvSpPr>
        <p:spPr>
          <a:xfrm xmlns:a="http://schemas.openxmlformats.org/drawingml/2006/main">
            <a:off x="1276350" y="5334000"/>
            <a:ext cx="1657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C6A70"/>
                </a:solidFill>
                <a:latin typeface="Aptos"/>
                <a:ea typeface="Aptos"/>
                <a:cs typeface="Aptos"/>
              </a:defRPr>
            </a:pPr>
            <a:r>
              <a:rPr sz="975" b="0" i="0">
                <a:solidFill>
                  <a:srgbClr val="5C6A70"/>
                </a:solidFill>
                <a:latin typeface="Aptos"/>
                <a:ea typeface="Aptos"/>
                <a:cs typeface="Aptos"/>
              </a:rPr>
              <a:t>Ohio + external CGM</a:t>
            </a:r>
          </a:p>
        </p:txBody>
      </p:sp>
      <p:sp>
        <p:nvSpPr>
          <p:cNvPr id="17" name="">
            <a:extLst xmlns:a="http://schemas.openxmlformats.org/drawingml/2006/main">
              <a:ext uri="{FF2B5EF4-FFF2-40B4-BE49-F238E27FC236}">
                <a16:creationId xmlns:a16="http://schemas.microsoft.com/office/drawing/2014/main" id="{B3718FFA-C6C3-48F6-ACF1-59625A689F6C}"/>
              </a:ext>
            </a:extLst>
          </p:cNvPr>
          <p:cNvSpPr>
            <a:spLocks xmlns:a="http://schemas.openxmlformats.org/drawingml/2006/main" noGrp="1"/>
          </p:cNvSpPr>
          <p:nvPr/>
        </p:nvSpPr>
        <p:spPr>
          <a:xfrm xmlns:a="http://schemas.openxmlformats.org/drawingml/2006/main">
            <a:off x="3371850" y="4972050"/>
            <a:ext cx="2476500" cy="723900"/>
          </a:xfrm>
          <a:prstGeom xmlns:a="http://schemas.openxmlformats.org/drawingml/2006/main" prst="roundRect">
            <a:avLst>
              <a:gd name="adj" fmla="val 15789"/>
            </a:avLst>
          </a:prstGeom>
          <a:solidFill xmlns:a="http://schemas.openxmlformats.org/drawingml/2006/main">
            <a:srgbClr val="FFFDF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4C87C81-81BF-44D5-A6F4-A0C600B1AF3D}"/>
              </a:ext>
            </a:extLst>
          </p:cNvPr>
          <p:cNvSpPr>
            <a:spLocks xmlns:a="http://schemas.openxmlformats.org/drawingml/2006/main" noGrp="1"/>
          </p:cNvSpPr>
          <p:nvPr/>
        </p:nvSpPr>
        <p:spPr>
          <a:xfrm xmlns:a="http://schemas.openxmlformats.org/drawingml/2006/main">
            <a:off x="3505200" y="5153025"/>
            <a:ext cx="361950" cy="361950"/>
          </a:xfrm>
          <a:prstGeom xmlns:a="http://schemas.openxmlformats.org/drawingml/2006/main" prst="ellipse">
            <a:avLst/>
          </a:prstGeom>
          <a:solidFill xmlns:a="http://schemas.openxmlformats.org/drawingml/2006/main">
            <a:srgbClr val="2E7D8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DE1B7AB-3DE5-49FC-9A6B-8D645CD16F70}"/>
              </a:ext>
            </a:extLst>
          </p:cNvPr>
          <p:cNvSpPr>
            <a:spLocks xmlns:a="http://schemas.openxmlformats.org/drawingml/2006/main" noGrp="1"/>
          </p:cNvSpPr>
          <p:nvPr/>
        </p:nvSpPr>
        <p:spPr>
          <a:xfrm xmlns:a="http://schemas.openxmlformats.org/drawingml/2006/main">
            <a:off x="3505200" y="5229225"/>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FFFFFF"/>
                </a:solidFill>
                <a:latin typeface="Aptos"/>
                <a:ea typeface="Aptos"/>
                <a:cs typeface="Aptos"/>
              </a:defRPr>
            </a:pPr>
            <a:r>
              <a:rPr sz="1125" b="1" i="0">
                <a:solidFill>
                  <a:srgbClr val="FFFFFF"/>
                </a:solidFill>
                <a:latin typeface="Aptos"/>
                <a:ea typeface="Aptos"/>
                <a:cs typeface="Aptos"/>
              </a:rPr>
              <a:t>2</a:t>
            </a:r>
          </a:p>
        </p:txBody>
      </p:sp>
      <p:sp>
        <p:nvSpPr>
          <p:cNvPr id="20" name="">
            <a:extLst xmlns:a="http://schemas.openxmlformats.org/drawingml/2006/main">
              <a:ext uri="{FF2B5EF4-FFF2-40B4-BE49-F238E27FC236}">
                <a16:creationId xmlns:a16="http://schemas.microsoft.com/office/drawing/2014/main" id="{D1D4BA9A-D700-419D-91B9-5D44A718C091}"/>
              </a:ext>
            </a:extLst>
          </p:cNvPr>
          <p:cNvSpPr>
            <a:spLocks xmlns:a="http://schemas.openxmlformats.org/drawingml/2006/main" noGrp="1"/>
          </p:cNvSpPr>
          <p:nvPr/>
        </p:nvSpPr>
        <p:spPr>
          <a:xfrm xmlns:a="http://schemas.openxmlformats.org/drawingml/2006/main">
            <a:off x="4000500" y="5095875"/>
            <a:ext cx="1657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0000"/>
              </a:lnSpc>
              <a:buNone/>
              <a:defRPr sz="1275" b="1" i="0">
                <a:solidFill>
                  <a:srgbClr val="0C3B32"/>
                </a:solidFill>
                <a:latin typeface="Aptos"/>
                <a:ea typeface="Aptos"/>
                <a:cs typeface="Aptos"/>
              </a:defRPr>
            </a:pPr>
            <a:r>
              <a:rPr sz="1275" b="1" i="0">
                <a:solidFill>
                  <a:srgbClr val="0C3B32"/>
                </a:solidFill>
                <a:latin typeface="Aptos"/>
                <a:ea typeface="Aptos"/>
                <a:cs typeface="Aptos"/>
              </a:rPr>
              <a:t>Stress-test</a:t>
            </a:r>
          </a:p>
        </p:txBody>
      </p:sp>
      <p:sp>
        <p:nvSpPr>
          <p:cNvPr id="21" name="">
            <a:extLst xmlns:a="http://schemas.openxmlformats.org/drawingml/2006/main">
              <a:ext uri="{FF2B5EF4-FFF2-40B4-BE49-F238E27FC236}">
                <a16:creationId xmlns:a16="http://schemas.microsoft.com/office/drawing/2014/main" id="{04922529-249E-47EB-BE55-F0AA1638F07B}"/>
              </a:ext>
            </a:extLst>
          </p:cNvPr>
          <p:cNvSpPr>
            <a:spLocks xmlns:a="http://schemas.openxmlformats.org/drawingml/2006/main" noGrp="1"/>
          </p:cNvSpPr>
          <p:nvPr/>
        </p:nvSpPr>
        <p:spPr>
          <a:xfrm xmlns:a="http://schemas.openxmlformats.org/drawingml/2006/main">
            <a:off x="4000500" y="5334000"/>
            <a:ext cx="1657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C6A70"/>
                </a:solidFill>
                <a:latin typeface="Aptos"/>
                <a:ea typeface="Aptos"/>
                <a:cs typeface="Aptos"/>
              </a:defRPr>
            </a:pPr>
            <a:r>
              <a:rPr sz="975" b="0" i="0">
                <a:solidFill>
                  <a:srgbClr val="5C6A70"/>
                </a:solidFill>
                <a:latin typeface="Aptos"/>
                <a:ea typeface="Aptos"/>
                <a:cs typeface="Aptos"/>
              </a:rPr>
              <a:t>meals · exercise · illness</a:t>
            </a:r>
          </a:p>
        </p:txBody>
      </p:sp>
      <p:sp>
        <p:nvSpPr>
          <p:cNvPr id="22" name="">
            <a:extLst xmlns:a="http://schemas.openxmlformats.org/drawingml/2006/main">
              <a:ext uri="{FF2B5EF4-FFF2-40B4-BE49-F238E27FC236}">
                <a16:creationId xmlns:a16="http://schemas.microsoft.com/office/drawing/2014/main" id="{51649276-F386-4CE3-B9D3-636ECD8327F0}"/>
              </a:ext>
            </a:extLst>
          </p:cNvPr>
          <p:cNvSpPr>
            <a:spLocks xmlns:a="http://schemas.openxmlformats.org/drawingml/2006/main" noGrp="1"/>
          </p:cNvSpPr>
          <p:nvPr/>
        </p:nvSpPr>
        <p:spPr>
          <a:xfrm xmlns:a="http://schemas.openxmlformats.org/drawingml/2006/main">
            <a:off x="6096000" y="4972050"/>
            <a:ext cx="2476500" cy="723900"/>
          </a:xfrm>
          <a:prstGeom xmlns:a="http://schemas.openxmlformats.org/drawingml/2006/main" prst="roundRect">
            <a:avLst>
              <a:gd name="adj" fmla="val 15789"/>
            </a:avLst>
          </a:prstGeom>
          <a:solidFill xmlns:a="http://schemas.openxmlformats.org/drawingml/2006/main">
            <a:srgbClr val="FFFDF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BFDE5D4-514F-4C02-942E-09747B314C72}"/>
              </a:ext>
            </a:extLst>
          </p:cNvPr>
          <p:cNvSpPr>
            <a:spLocks xmlns:a="http://schemas.openxmlformats.org/drawingml/2006/main" noGrp="1"/>
          </p:cNvSpPr>
          <p:nvPr/>
        </p:nvSpPr>
        <p:spPr>
          <a:xfrm xmlns:a="http://schemas.openxmlformats.org/drawingml/2006/main">
            <a:off x="6229350" y="5153025"/>
            <a:ext cx="361950" cy="361950"/>
          </a:xfrm>
          <a:prstGeom xmlns:a="http://schemas.openxmlformats.org/drawingml/2006/main" prst="ellipse">
            <a:avLst/>
          </a:prstGeom>
          <a:solidFill xmlns:a="http://schemas.openxmlformats.org/drawingml/2006/main">
            <a:srgbClr val="2E7D8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24AE62D-C4C6-4F32-9829-552544495A9E}"/>
              </a:ext>
            </a:extLst>
          </p:cNvPr>
          <p:cNvSpPr>
            <a:spLocks xmlns:a="http://schemas.openxmlformats.org/drawingml/2006/main" noGrp="1"/>
          </p:cNvSpPr>
          <p:nvPr/>
        </p:nvSpPr>
        <p:spPr>
          <a:xfrm xmlns:a="http://schemas.openxmlformats.org/drawingml/2006/main">
            <a:off x="6229350" y="5229225"/>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FFFFFF"/>
                </a:solidFill>
                <a:latin typeface="Aptos"/>
                <a:ea typeface="Aptos"/>
                <a:cs typeface="Aptos"/>
              </a:defRPr>
            </a:pPr>
            <a:r>
              <a:rPr sz="1125" b="1" i="0">
                <a:solidFill>
                  <a:srgbClr val="FFFFFF"/>
                </a:solidFill>
                <a:latin typeface="Aptos"/>
                <a:ea typeface="Aptos"/>
                <a:cs typeface="Aptos"/>
              </a:rPr>
              <a:t>3</a:t>
            </a:r>
          </a:p>
        </p:txBody>
      </p:sp>
      <p:sp>
        <p:nvSpPr>
          <p:cNvPr id="25" name="">
            <a:extLst xmlns:a="http://schemas.openxmlformats.org/drawingml/2006/main">
              <a:ext uri="{FF2B5EF4-FFF2-40B4-BE49-F238E27FC236}">
                <a16:creationId xmlns:a16="http://schemas.microsoft.com/office/drawing/2014/main" id="{81EA5CA4-5F54-4873-B738-98D20E47C4EF}"/>
              </a:ext>
            </a:extLst>
          </p:cNvPr>
          <p:cNvSpPr>
            <a:spLocks xmlns:a="http://schemas.openxmlformats.org/drawingml/2006/main" noGrp="1"/>
          </p:cNvSpPr>
          <p:nvPr/>
        </p:nvSpPr>
        <p:spPr>
          <a:xfrm xmlns:a="http://schemas.openxmlformats.org/drawingml/2006/main">
            <a:off x="6724650" y="5095875"/>
            <a:ext cx="1657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0000"/>
              </a:lnSpc>
              <a:buNone/>
              <a:defRPr sz="1275" b="1" i="0">
                <a:solidFill>
                  <a:srgbClr val="0C3B32"/>
                </a:solidFill>
                <a:latin typeface="Aptos"/>
                <a:ea typeface="Aptos"/>
                <a:cs typeface="Aptos"/>
              </a:defRPr>
            </a:pPr>
            <a:r>
              <a:rPr sz="1275" b="1" i="0">
                <a:solidFill>
                  <a:srgbClr val="0C3B32"/>
                </a:solidFill>
                <a:latin typeface="Aptos"/>
                <a:ea typeface="Aptos"/>
                <a:cs typeface="Aptos"/>
              </a:rPr>
              <a:t>Quantify</a:t>
            </a:r>
          </a:p>
        </p:txBody>
      </p:sp>
      <p:sp>
        <p:nvSpPr>
          <p:cNvPr id="26" name="">
            <a:extLst xmlns:a="http://schemas.openxmlformats.org/drawingml/2006/main">
              <a:ext uri="{FF2B5EF4-FFF2-40B4-BE49-F238E27FC236}">
                <a16:creationId xmlns:a16="http://schemas.microsoft.com/office/drawing/2014/main" id="{FD1AEF83-AEF3-4989-8A48-0342090AD796}"/>
              </a:ext>
            </a:extLst>
          </p:cNvPr>
          <p:cNvSpPr>
            <a:spLocks xmlns:a="http://schemas.openxmlformats.org/drawingml/2006/main" noGrp="1"/>
          </p:cNvSpPr>
          <p:nvPr/>
        </p:nvSpPr>
        <p:spPr>
          <a:xfrm xmlns:a="http://schemas.openxmlformats.org/drawingml/2006/main">
            <a:off x="6724650" y="5334000"/>
            <a:ext cx="1657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C6A70"/>
                </a:solidFill>
                <a:latin typeface="Aptos"/>
                <a:ea typeface="Aptos"/>
                <a:cs typeface="Aptos"/>
              </a:defRPr>
            </a:pPr>
            <a:r>
              <a:rPr sz="975" b="0" i="0">
                <a:solidFill>
                  <a:srgbClr val="5C6A70"/>
                </a:solidFill>
                <a:latin typeface="Aptos"/>
                <a:ea typeface="Aptos"/>
                <a:cs typeface="Aptos"/>
              </a:rPr>
              <a:t>uncertainty + identifiability</a:t>
            </a:r>
          </a:p>
        </p:txBody>
      </p:sp>
      <p:sp>
        <p:nvSpPr>
          <p:cNvPr id="27" name="">
            <a:extLst xmlns:a="http://schemas.openxmlformats.org/drawingml/2006/main">
              <a:ext uri="{FF2B5EF4-FFF2-40B4-BE49-F238E27FC236}">
                <a16:creationId xmlns:a16="http://schemas.microsoft.com/office/drawing/2014/main" id="{93E6A86E-0B60-4DAB-B7D1-9C6F7929C5CC}"/>
              </a:ext>
            </a:extLst>
          </p:cNvPr>
          <p:cNvSpPr>
            <a:spLocks xmlns:a="http://schemas.openxmlformats.org/drawingml/2006/main" noGrp="1"/>
          </p:cNvSpPr>
          <p:nvPr/>
        </p:nvSpPr>
        <p:spPr>
          <a:xfrm xmlns:a="http://schemas.openxmlformats.org/drawingml/2006/main">
            <a:off x="8820150" y="4972050"/>
            <a:ext cx="2476500" cy="723900"/>
          </a:xfrm>
          <a:prstGeom xmlns:a="http://schemas.openxmlformats.org/drawingml/2006/main" prst="roundRect">
            <a:avLst>
              <a:gd name="adj" fmla="val 15789"/>
            </a:avLst>
          </a:prstGeom>
          <a:solidFill xmlns:a="http://schemas.openxmlformats.org/drawingml/2006/main">
            <a:srgbClr val="173A5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C6ACA57-847E-499E-BCCC-957D41131901}"/>
              </a:ext>
            </a:extLst>
          </p:cNvPr>
          <p:cNvSpPr>
            <a:spLocks xmlns:a="http://schemas.openxmlformats.org/drawingml/2006/main" noGrp="1"/>
          </p:cNvSpPr>
          <p:nvPr/>
        </p:nvSpPr>
        <p:spPr>
          <a:xfrm xmlns:a="http://schemas.openxmlformats.org/drawingml/2006/main">
            <a:off x="8953500" y="5153025"/>
            <a:ext cx="361950" cy="361950"/>
          </a:xfrm>
          <a:prstGeom xmlns:a="http://schemas.openxmlformats.org/drawingml/2006/main" prst="ellipse">
            <a:avLst/>
          </a:prstGeom>
          <a:solidFill xmlns:a="http://schemas.openxmlformats.org/drawingml/2006/main">
            <a:srgbClr val="D89A2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79465C5-194C-437D-857A-4ABD49624CAA}"/>
              </a:ext>
            </a:extLst>
          </p:cNvPr>
          <p:cNvSpPr>
            <a:spLocks xmlns:a="http://schemas.openxmlformats.org/drawingml/2006/main" noGrp="1"/>
          </p:cNvSpPr>
          <p:nvPr/>
        </p:nvSpPr>
        <p:spPr>
          <a:xfrm xmlns:a="http://schemas.openxmlformats.org/drawingml/2006/main">
            <a:off x="8953500" y="5229225"/>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173A52"/>
                </a:solidFill>
                <a:latin typeface="Aptos"/>
                <a:ea typeface="Aptos"/>
                <a:cs typeface="Aptos"/>
              </a:defRPr>
            </a:pPr>
            <a:r>
              <a:rPr sz="1125" b="1" i="0">
                <a:solidFill>
                  <a:srgbClr val="173A52"/>
                </a:solidFill>
                <a:latin typeface="Aptos"/>
                <a:ea typeface="Aptos"/>
                <a:cs typeface="Aptos"/>
              </a:rPr>
              <a:t>4</a:t>
            </a:r>
          </a:p>
        </p:txBody>
      </p:sp>
      <p:sp>
        <p:nvSpPr>
          <p:cNvPr id="30" name="">
            <a:extLst xmlns:a="http://schemas.openxmlformats.org/drawingml/2006/main">
              <a:ext uri="{FF2B5EF4-FFF2-40B4-BE49-F238E27FC236}">
                <a16:creationId xmlns:a16="http://schemas.microsoft.com/office/drawing/2014/main" id="{627E605C-84F6-40B8-A54D-F87C12ABBF3C}"/>
              </a:ext>
            </a:extLst>
          </p:cNvPr>
          <p:cNvSpPr>
            <a:spLocks xmlns:a="http://schemas.openxmlformats.org/drawingml/2006/main" noGrp="1"/>
          </p:cNvSpPr>
          <p:nvPr/>
        </p:nvSpPr>
        <p:spPr>
          <a:xfrm xmlns:a="http://schemas.openxmlformats.org/drawingml/2006/main">
            <a:off x="9448800" y="5095875"/>
            <a:ext cx="1657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0000"/>
              </a:lnSpc>
              <a:buNone/>
              <a:defRPr sz="1275" b="1" i="0">
                <a:solidFill>
                  <a:srgbClr val="FFFFFF"/>
                </a:solidFill>
                <a:latin typeface="Aptos"/>
                <a:ea typeface="Aptos"/>
                <a:cs typeface="Aptos"/>
              </a:defRPr>
            </a:pPr>
            <a:r>
              <a:rPr sz="1275" b="1" i="0">
                <a:solidFill>
                  <a:srgbClr val="FFFFFF"/>
                </a:solidFill>
                <a:latin typeface="Aptos"/>
                <a:ea typeface="Aptos"/>
                <a:cs typeface="Aptos"/>
              </a:rPr>
              <a:t>Review</a:t>
            </a:r>
          </a:p>
        </p:txBody>
      </p:sp>
      <p:sp>
        <p:nvSpPr>
          <p:cNvPr id="31" name="">
            <a:extLst xmlns:a="http://schemas.openxmlformats.org/drawingml/2006/main">
              <a:ext uri="{FF2B5EF4-FFF2-40B4-BE49-F238E27FC236}">
                <a16:creationId xmlns:a16="http://schemas.microsoft.com/office/drawing/2014/main" id="{2187B68E-980F-4919-A9B8-7F3B7A529FD1}"/>
              </a:ext>
            </a:extLst>
          </p:cNvPr>
          <p:cNvSpPr>
            <a:spLocks xmlns:a="http://schemas.openxmlformats.org/drawingml/2006/main" noGrp="1"/>
          </p:cNvSpPr>
          <p:nvPr/>
        </p:nvSpPr>
        <p:spPr>
          <a:xfrm xmlns:a="http://schemas.openxmlformats.org/drawingml/2006/main">
            <a:off x="9448800" y="5334000"/>
            <a:ext cx="1657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D8E5EC"/>
                </a:solidFill>
                <a:latin typeface="Aptos"/>
                <a:ea typeface="Aptos"/>
                <a:cs typeface="Aptos"/>
              </a:defRPr>
            </a:pPr>
            <a:r>
              <a:rPr sz="975" b="0" i="0">
                <a:solidFill>
                  <a:srgbClr val="D8E5EC"/>
                </a:solidFill>
                <a:latin typeface="Aptos"/>
                <a:ea typeface="Aptos"/>
                <a:cs typeface="Aptos"/>
              </a:rPr>
              <a:t>clinicians + engineers</a:t>
            </a:r>
          </a:p>
        </p:txBody>
      </p:sp>
      <p:sp>
        <p:nvSpPr>
          <p:cNvPr id="32" name="">
            <a:extLst xmlns:a="http://schemas.openxmlformats.org/drawingml/2006/main">
              <a:ext uri="{FF2B5EF4-FFF2-40B4-BE49-F238E27FC236}">
                <a16:creationId xmlns:a16="http://schemas.microsoft.com/office/drawing/2014/main" id="{49797DCC-AA99-4A9A-9F55-4843056DBDEE}"/>
              </a:ext>
            </a:extLst>
          </p:cNvPr>
          <p:cNvSpPr>
            <a:spLocks xmlns:a="http://schemas.openxmlformats.org/drawingml/2006/main" noGrp="1"/>
          </p:cNvSpPr>
          <p:nvPr/>
        </p:nvSpPr>
        <p:spPr>
          <a:xfrm xmlns:a="http://schemas.openxmlformats.org/drawingml/2006/main">
            <a:off x="647700" y="621030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0" i="0">
                <a:solidFill>
                  <a:srgbClr val="5C6A70"/>
                </a:solidFill>
                <a:latin typeface="Aptos"/>
                <a:ea typeface="Aptos"/>
                <a:cs typeface="Aptos"/>
              </a:defRPr>
            </a:pPr>
            <a:r>
              <a:rPr sz="750" b="0" i="0">
                <a:solidFill>
                  <a:srgbClr val="5C6A70"/>
                </a:solidFill>
                <a:latin typeface="Aptos"/>
                <a:ea typeface="Aptos"/>
                <a:cs typeface="Aptos"/>
              </a:rPr>
              <a:t>Scientific position aligned with the project dossier and release documentation.</a:t>
            </a:r>
          </a:p>
        </p:txBody>
      </p:sp>
      <p:sp>
        <p:nvSpPr>
          <p:cNvPr id="33" name="">
            <a:extLst xmlns:a="http://schemas.openxmlformats.org/drawingml/2006/main">
              <a:ext uri="{FF2B5EF4-FFF2-40B4-BE49-F238E27FC236}">
                <a16:creationId xmlns:a16="http://schemas.microsoft.com/office/drawing/2014/main" id="{7097D9A6-9004-47FC-993E-D98654B67900}"/>
              </a:ext>
            </a:extLst>
          </p:cNvPr>
          <p:cNvSpPr>
            <a:spLocks xmlns:a="http://schemas.openxmlformats.org/drawingml/2006/main" noGrp="1"/>
          </p:cNvSpPr>
          <p:nvPr/>
        </p:nvSpPr>
        <p:spPr>
          <a:xfrm xmlns:a="http://schemas.openxmlformats.org/drawingml/2006/main">
            <a:off x="647700" y="6467475"/>
            <a:ext cx="10896600" cy="9525"/>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E5DC3B58-11B2-4E96-8901-E02B20EDD157}"/>
              </a:ext>
            </a:extLst>
          </p:cNvPr>
          <p:cNvSpPr>
            <a:spLocks xmlns:a="http://schemas.openxmlformats.org/drawingml/2006/main" noGrp="1"/>
          </p:cNvSpPr>
          <p:nvPr/>
        </p:nvSpPr>
        <p:spPr>
          <a:xfrm xmlns:a="http://schemas.openxmlformats.org/drawingml/2006/main">
            <a:off x="647700" y="6553200"/>
            <a:ext cx="495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C6A70"/>
                </a:solidFill>
                <a:latin typeface="Aptos"/>
                <a:ea typeface="Aptos"/>
                <a:cs typeface="Aptos"/>
              </a:defRPr>
            </a:pPr>
            <a:r>
              <a:rPr sz="750" b="1" i="0">
                <a:solidFill>
                  <a:srgbClr val="5C6A70"/>
                </a:solidFill>
                <a:latin typeface="Aptos"/>
                <a:ea typeface="Aptos"/>
                <a:cs typeface="Aptos"/>
              </a:rPr>
              <a:t>RESEARCH &amp; EDUCATION ONLY · NOT A MEDICAL DEVICE</a:t>
            </a:r>
          </a:p>
        </p:txBody>
      </p:sp>
      <p:sp>
        <p:nvSpPr>
          <p:cNvPr id="35" name="">
            <a:extLst xmlns:a="http://schemas.openxmlformats.org/drawingml/2006/main">
              <a:ext uri="{FF2B5EF4-FFF2-40B4-BE49-F238E27FC236}">
                <a16:creationId xmlns:a16="http://schemas.microsoft.com/office/drawing/2014/main" id="{C35B9771-16F0-4C0B-A835-E4BD65E002B5}"/>
              </a:ext>
            </a:extLst>
          </p:cNvPr>
          <p:cNvSpPr>
            <a:spLocks xmlns:a="http://schemas.openxmlformats.org/drawingml/2006/main" noGrp="1"/>
          </p:cNvSpPr>
          <p:nvPr/>
        </p:nvSpPr>
        <p:spPr>
          <a:xfrm xmlns:a="http://schemas.openxmlformats.org/drawingml/2006/main">
            <a:off x="11096625" y="6534150"/>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1" i="0">
                <a:solidFill>
                  <a:srgbClr val="0C3B32"/>
                </a:solidFill>
                <a:latin typeface="Aptos"/>
                <a:ea typeface="Aptos"/>
                <a:cs typeface="Aptos"/>
              </a:defRPr>
            </a:pPr>
            <a:r>
              <a:rPr sz="900" b="1" i="0">
                <a:solidFill>
                  <a:srgbClr val="0C3B32"/>
                </a:solidFill>
                <a:latin typeface="Aptos"/>
                <a:ea typeface="Aptos"/>
                <a:cs typeface="Aptos"/>
              </a:rPr>
              <a:t>14</a:t>
            </a:r>
          </a:p>
        </p:txBody>
      </p:sp>
    </p:spTree>
    <p:extLst>
      <p:ext uri="{BB962C8B-B14F-4D97-AF65-F5344CB8AC3E}">
        <p14:creationId xmlns:p14="http://schemas.microsoft.com/office/powerpoint/2010/main" val="725185739"/>
      </p:ext>
    </p:extLst>
  </p:cSld>
</p:sld>
</file>

<file path=ppt/slides/slide15.xml><?xml version="1.0" encoding="utf-8"?>
<p:sld xmlns:p="http://schemas.openxmlformats.org/presentationml/2006/main">
  <p:cSld>
    <p:bg>
      <p:bgPr>
        <a:solidFill xmlns:a="http://schemas.openxmlformats.org/drawingml/2006/main">
          <a:srgbClr val="0C3B3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67CC432-3D37-4E8A-A56B-38FB20A04F7B}"/>
              </a:ext>
            </a:extLst>
          </p:cNvPr>
          <p:cNvSpPr>
            <a:spLocks xmlns:a="http://schemas.openxmlformats.org/drawingml/2006/main" noGrp="1"/>
          </p:cNvSpPr>
          <p:nvPr/>
        </p:nvSpPr>
        <p:spPr>
          <a:xfrm xmlns:a="http://schemas.openxmlformats.org/drawingml/2006/main">
            <a:off x="647700" y="4000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D89A2B"/>
                </a:solidFill>
                <a:latin typeface="Aptos"/>
                <a:ea typeface="Aptos"/>
                <a:cs typeface="Aptos"/>
              </a:defRPr>
            </a:pPr>
            <a:r>
              <a:rPr sz="975" b="1" i="0">
                <a:solidFill>
                  <a:srgbClr val="D89A2B"/>
                </a:solidFill>
                <a:latin typeface="Aptos"/>
                <a:ea typeface="Aptos"/>
                <a:cs typeface="Aptos"/>
              </a:rPr>
              <a:t>FROM PRESENTATION TO LIVE EVIDENCE</a:t>
            </a:r>
          </a:p>
        </p:txBody>
      </p:sp>
      <p:sp>
        <p:nvSpPr>
          <p:cNvPr id="2" name="">
            <a:extLst xmlns:a="http://schemas.openxmlformats.org/drawingml/2006/main">
              <a:ext uri="{FF2B5EF4-FFF2-40B4-BE49-F238E27FC236}">
                <a16:creationId xmlns:a16="http://schemas.microsoft.com/office/drawing/2014/main" id="{67961194-BEC4-4F1B-B46E-6557E96631CE}"/>
              </a:ext>
            </a:extLst>
          </p:cNvPr>
          <p:cNvSpPr>
            <a:spLocks xmlns:a="http://schemas.openxmlformats.org/drawingml/2006/main" noGrp="1"/>
          </p:cNvSpPr>
          <p:nvPr/>
        </p:nvSpPr>
        <p:spPr>
          <a:xfrm xmlns:a="http://schemas.openxmlformats.org/drawingml/2006/main">
            <a:off x="647700" y="723900"/>
            <a:ext cx="666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i="0">
                <a:solidFill>
                  <a:srgbClr val="FFFFFF"/>
                </a:solidFill>
                <a:latin typeface="Aptos Display"/>
                <a:ea typeface="Aptos Display"/>
                <a:cs typeface="Aptos Display"/>
              </a:defRPr>
            </a:pPr>
            <a:r>
              <a:rPr sz="3300" b="1" i="0">
                <a:solidFill>
                  <a:srgbClr val="FFFFFF"/>
                </a:solidFill>
                <a:latin typeface="Aptos Display"/>
                <a:ea typeface="Aptos Display"/>
                <a:cs typeface="Aptos Display"/>
              </a:rPr>
              <a:t>What I will demonstrate</a:t>
            </a:r>
          </a:p>
        </p:txBody>
      </p:sp>
      <p:sp>
        <p:nvSpPr>
          <p:cNvPr id="3" name="">
            <a:extLst xmlns:a="http://schemas.openxmlformats.org/drawingml/2006/main">
              <a:ext uri="{FF2B5EF4-FFF2-40B4-BE49-F238E27FC236}">
                <a16:creationId xmlns:a16="http://schemas.microsoft.com/office/drawing/2014/main" id="{DE619D13-A9EB-413A-8A86-272F83C53C2F}"/>
              </a:ext>
            </a:extLst>
          </p:cNvPr>
          <p:cNvSpPr>
            <a:spLocks xmlns:a="http://schemas.openxmlformats.org/drawingml/2006/main" noGrp="1"/>
          </p:cNvSpPr>
          <p:nvPr/>
        </p:nvSpPr>
        <p:spPr>
          <a:xfrm xmlns:a="http://schemas.openxmlformats.org/drawingml/2006/main">
            <a:off x="647700" y="131445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0">
                <a:solidFill>
                  <a:srgbClr val="C8DCD4"/>
                </a:solidFill>
                <a:latin typeface="Aptos"/>
                <a:ea typeface="Aptos"/>
                <a:cs typeface="Aptos"/>
              </a:defRPr>
            </a:pPr>
            <a:r>
              <a:rPr sz="1500" b="0" i="0">
                <a:solidFill>
                  <a:srgbClr val="C8DCD4"/>
                </a:solidFill>
                <a:latin typeface="Aptos"/>
                <a:ea typeface="Aptos"/>
                <a:cs typeface="Aptos"/>
              </a:rPr>
              <a:t>A controlled scientific story—not a terminal trick.</a:t>
            </a:r>
          </a:p>
        </p:txBody>
      </p:sp>
      <p:sp>
        <p:nvSpPr>
          <p:cNvPr id="4" name="">
            <a:extLst xmlns:a="http://schemas.openxmlformats.org/drawingml/2006/main">
              <a:ext uri="{FF2B5EF4-FFF2-40B4-BE49-F238E27FC236}">
                <a16:creationId xmlns:a16="http://schemas.microsoft.com/office/drawing/2014/main" id="{3EDD9A84-6C94-49F5-9FD0-B5283BC28EB1}"/>
              </a:ext>
            </a:extLst>
          </p:cNvPr>
          <p:cNvSpPr>
            <a:spLocks xmlns:a="http://schemas.openxmlformats.org/drawingml/2006/main" noGrp="1"/>
          </p:cNvSpPr>
          <p:nvPr/>
        </p:nvSpPr>
        <p:spPr>
          <a:xfrm xmlns:a="http://schemas.openxmlformats.org/drawingml/2006/main">
            <a:off x="590550" y="2133600"/>
            <a:ext cx="1943100" cy="1352550"/>
          </a:xfrm>
          <a:prstGeom xmlns:a="http://schemas.openxmlformats.org/drawingml/2006/main" prst="roundRect">
            <a:avLst>
              <a:gd name="adj" fmla="val 8451"/>
            </a:avLst>
          </a:prstGeom>
          <a:solidFill xmlns:a="http://schemas.openxmlformats.org/drawingml/2006/main">
            <a:srgbClr val="FFFDF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6A795EC-7E1E-4489-9548-2CEF45851A39}"/>
              </a:ext>
            </a:extLst>
          </p:cNvPr>
          <p:cNvSpPr>
            <a:spLocks xmlns:a="http://schemas.openxmlformats.org/drawingml/2006/main" noGrp="1"/>
          </p:cNvSpPr>
          <p:nvPr/>
        </p:nvSpPr>
        <p:spPr>
          <a:xfrm xmlns:a="http://schemas.openxmlformats.org/drawingml/2006/main">
            <a:off x="742950" y="2286000"/>
            <a:ext cx="342900" cy="342900"/>
          </a:xfrm>
          <a:prstGeom xmlns:a="http://schemas.openxmlformats.org/drawingml/2006/main" prst="ellipse">
            <a:avLst/>
          </a:prstGeom>
          <a:solidFill xmlns:a="http://schemas.openxmlformats.org/drawingml/2006/main">
            <a:srgbClr val="2E7D8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50A56FE-3DB9-466F-BE72-7918865C85DF}"/>
              </a:ext>
            </a:extLst>
          </p:cNvPr>
          <p:cNvSpPr>
            <a:spLocks xmlns:a="http://schemas.openxmlformats.org/drawingml/2006/main" noGrp="1"/>
          </p:cNvSpPr>
          <p:nvPr/>
        </p:nvSpPr>
        <p:spPr>
          <a:xfrm xmlns:a="http://schemas.openxmlformats.org/drawingml/2006/main">
            <a:off x="742950" y="23622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FFFFFF"/>
                </a:solidFill>
                <a:latin typeface="Aptos"/>
                <a:ea typeface="Aptos"/>
                <a:cs typeface="Aptos"/>
              </a:defRPr>
            </a:pPr>
            <a:r>
              <a:rPr sz="1050" b="1" i="0">
                <a:solidFill>
                  <a:srgbClr val="FFFFFF"/>
                </a:solidFill>
                <a:latin typeface="Aptos"/>
                <a:ea typeface="Aptos"/>
                <a:cs typeface="Aptos"/>
              </a:rPr>
              <a:t>1</a:t>
            </a:r>
          </a:p>
        </p:txBody>
      </p:sp>
      <p:sp>
        <p:nvSpPr>
          <p:cNvPr id="7" name="">
            <a:extLst xmlns:a="http://schemas.openxmlformats.org/drawingml/2006/main">
              <a:ext uri="{FF2B5EF4-FFF2-40B4-BE49-F238E27FC236}">
                <a16:creationId xmlns:a16="http://schemas.microsoft.com/office/drawing/2014/main" id="{04BB3720-C22C-4092-9737-F03EA48ABEB0}"/>
              </a:ext>
            </a:extLst>
          </p:cNvPr>
          <p:cNvSpPr>
            <a:spLocks xmlns:a="http://schemas.openxmlformats.org/drawingml/2006/main" noGrp="1"/>
          </p:cNvSpPr>
          <p:nvPr/>
        </p:nvSpPr>
        <p:spPr>
          <a:xfrm xmlns:a="http://schemas.openxmlformats.org/drawingml/2006/main">
            <a:off x="762000" y="27813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0C3B32"/>
                </a:solidFill>
                <a:latin typeface="Aptos Display"/>
                <a:ea typeface="Aptos Display"/>
                <a:cs typeface="Aptos Display"/>
              </a:defRPr>
            </a:pPr>
            <a:r>
              <a:rPr sz="1500" b="1" i="0">
                <a:solidFill>
                  <a:srgbClr val="0C3B32"/>
                </a:solidFill>
                <a:latin typeface="Aptos Display"/>
                <a:ea typeface="Aptos Display"/>
                <a:cs typeface="Aptos Display"/>
              </a:rPr>
              <a:t>Normal day</a:t>
            </a:r>
          </a:p>
        </p:txBody>
      </p:sp>
      <p:sp>
        <p:nvSpPr>
          <p:cNvPr id="8" name="">
            <a:extLst xmlns:a="http://schemas.openxmlformats.org/drawingml/2006/main">
              <a:ext uri="{FF2B5EF4-FFF2-40B4-BE49-F238E27FC236}">
                <a16:creationId xmlns:a16="http://schemas.microsoft.com/office/drawing/2014/main" id="{DD5C5683-0A70-4E3C-8029-481087A1067C}"/>
              </a:ext>
            </a:extLst>
          </p:cNvPr>
          <p:cNvSpPr>
            <a:spLocks xmlns:a="http://schemas.openxmlformats.org/drawingml/2006/main" noGrp="1"/>
          </p:cNvSpPr>
          <p:nvPr/>
        </p:nvSpPr>
        <p:spPr>
          <a:xfrm xmlns:a="http://schemas.openxmlformats.org/drawingml/2006/main">
            <a:off x="762000" y="3143250"/>
            <a:ext cx="1600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25" b="1" i="0">
                <a:solidFill>
                  <a:srgbClr val="5C6A70"/>
                </a:solidFill>
                <a:latin typeface="Aptos"/>
                <a:ea typeface="Aptos"/>
                <a:cs typeface="Aptos"/>
              </a:defRPr>
            </a:pPr>
            <a:r>
              <a:rPr sz="825" b="1" i="0">
                <a:solidFill>
                  <a:srgbClr val="5C6A70"/>
                </a:solidFill>
                <a:latin typeface="Aptos"/>
                <a:ea typeface="Aptos"/>
                <a:cs typeface="Aptos"/>
              </a:rPr>
              <a:t>BASELINE</a:t>
            </a:r>
          </a:p>
        </p:txBody>
      </p:sp>
      <p:sp>
        <p:nvSpPr>
          <p:cNvPr id="9" name="">
            <a:extLst xmlns:a="http://schemas.openxmlformats.org/drawingml/2006/main">
              <a:ext uri="{FF2B5EF4-FFF2-40B4-BE49-F238E27FC236}">
                <a16:creationId xmlns:a16="http://schemas.microsoft.com/office/drawing/2014/main" id="{89684784-21A7-458B-B745-7C81A16CE022}"/>
              </a:ext>
            </a:extLst>
          </p:cNvPr>
          <p:cNvSpPr>
            <a:spLocks xmlns:a="http://schemas.openxmlformats.org/drawingml/2006/main" noGrp="1"/>
          </p:cNvSpPr>
          <p:nvPr/>
        </p:nvSpPr>
        <p:spPr>
          <a:xfrm xmlns:a="http://schemas.openxmlformats.org/drawingml/2006/main">
            <a:off x="2562225" y="2609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ctr">
              <a:lnSpc>
                <a:spcPct val="100000"/>
              </a:lnSpc>
              <a:buNone/>
              <a:defRPr sz="1800" b="1" i="0">
                <a:solidFill>
                  <a:srgbClr val="D89A2B"/>
                </a:solidFill>
                <a:latin typeface="Aptos"/>
                <a:ea typeface="Aptos"/>
                <a:cs typeface="Aptos"/>
              </a:defRPr>
            </a:pPr>
            <a:r>
              <a:rPr sz="1800" b="1" i="0">
                <a:solidFill>
                  <a:srgbClr val="D89A2B"/>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6654DC12-7129-4C52-8E05-13E9E862AFCD}"/>
              </a:ext>
            </a:extLst>
          </p:cNvPr>
          <p:cNvSpPr>
            <a:spLocks xmlns:a="http://schemas.openxmlformats.org/drawingml/2006/main" noGrp="1"/>
          </p:cNvSpPr>
          <p:nvPr/>
        </p:nvSpPr>
        <p:spPr>
          <a:xfrm xmlns:a="http://schemas.openxmlformats.org/drawingml/2006/main">
            <a:off x="2857500" y="2133600"/>
            <a:ext cx="1943100" cy="1352550"/>
          </a:xfrm>
          <a:prstGeom xmlns:a="http://schemas.openxmlformats.org/drawingml/2006/main" prst="roundRect">
            <a:avLst>
              <a:gd name="adj" fmla="val 8451"/>
            </a:avLst>
          </a:prstGeom>
          <a:solidFill xmlns:a="http://schemas.openxmlformats.org/drawingml/2006/main">
            <a:srgbClr val="FFFD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5B6F818-F4C3-4AF2-A217-1C8899CA732B}"/>
              </a:ext>
            </a:extLst>
          </p:cNvPr>
          <p:cNvSpPr>
            <a:spLocks xmlns:a="http://schemas.openxmlformats.org/drawingml/2006/main" noGrp="1"/>
          </p:cNvSpPr>
          <p:nvPr/>
        </p:nvSpPr>
        <p:spPr>
          <a:xfrm xmlns:a="http://schemas.openxmlformats.org/drawingml/2006/main">
            <a:off x="3009900" y="2286000"/>
            <a:ext cx="342900" cy="342900"/>
          </a:xfrm>
          <a:prstGeom xmlns:a="http://schemas.openxmlformats.org/drawingml/2006/main" prst="ellipse">
            <a:avLst/>
          </a:prstGeom>
          <a:solidFill xmlns:a="http://schemas.openxmlformats.org/drawingml/2006/main">
            <a:srgbClr val="2E7D8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F1A0D86-3E82-4B71-9C6E-7BB85B03361E}"/>
              </a:ext>
            </a:extLst>
          </p:cNvPr>
          <p:cNvSpPr>
            <a:spLocks xmlns:a="http://schemas.openxmlformats.org/drawingml/2006/main" noGrp="1"/>
          </p:cNvSpPr>
          <p:nvPr/>
        </p:nvSpPr>
        <p:spPr>
          <a:xfrm xmlns:a="http://schemas.openxmlformats.org/drawingml/2006/main">
            <a:off x="3009900" y="23622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FFFFFF"/>
                </a:solidFill>
                <a:latin typeface="Aptos"/>
                <a:ea typeface="Aptos"/>
                <a:cs typeface="Aptos"/>
              </a:defRPr>
            </a:pPr>
            <a:r>
              <a:rPr sz="1050" b="1" i="0">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E074E51D-0570-433C-B634-B92EB0AC58F3}"/>
              </a:ext>
            </a:extLst>
          </p:cNvPr>
          <p:cNvSpPr>
            <a:spLocks xmlns:a="http://schemas.openxmlformats.org/drawingml/2006/main" noGrp="1"/>
          </p:cNvSpPr>
          <p:nvPr/>
        </p:nvSpPr>
        <p:spPr>
          <a:xfrm xmlns:a="http://schemas.openxmlformats.org/drawingml/2006/main">
            <a:off x="3028950" y="27813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0C3B32"/>
                </a:solidFill>
                <a:latin typeface="Aptos Display"/>
                <a:ea typeface="Aptos Display"/>
                <a:cs typeface="Aptos Display"/>
              </a:defRPr>
            </a:pPr>
            <a:r>
              <a:rPr sz="1500" b="1" i="0">
                <a:solidFill>
                  <a:srgbClr val="0C3B32"/>
                </a:solidFill>
                <a:latin typeface="Aptos Display"/>
                <a:ea typeface="Aptos Display"/>
                <a:cs typeface="Aptos Display"/>
              </a:rPr>
              <a:t>Meal stress</a:t>
            </a:r>
          </a:p>
        </p:txBody>
      </p:sp>
      <p:sp>
        <p:nvSpPr>
          <p:cNvPr id="14" name="">
            <a:extLst xmlns:a="http://schemas.openxmlformats.org/drawingml/2006/main">
              <a:ext uri="{FF2B5EF4-FFF2-40B4-BE49-F238E27FC236}">
                <a16:creationId xmlns:a16="http://schemas.microsoft.com/office/drawing/2014/main" id="{AA730D56-E038-4680-B31D-5AA9E277774D}"/>
              </a:ext>
            </a:extLst>
          </p:cNvPr>
          <p:cNvSpPr>
            <a:spLocks xmlns:a="http://schemas.openxmlformats.org/drawingml/2006/main" noGrp="1"/>
          </p:cNvSpPr>
          <p:nvPr/>
        </p:nvSpPr>
        <p:spPr>
          <a:xfrm xmlns:a="http://schemas.openxmlformats.org/drawingml/2006/main">
            <a:off x="3028950" y="3143250"/>
            <a:ext cx="1600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25" b="1" i="0">
                <a:solidFill>
                  <a:srgbClr val="5C6A70"/>
                </a:solidFill>
                <a:latin typeface="Aptos"/>
                <a:ea typeface="Aptos"/>
                <a:cs typeface="Aptos"/>
              </a:defRPr>
            </a:pPr>
            <a:r>
              <a:rPr sz="825" b="1" i="0">
                <a:solidFill>
                  <a:srgbClr val="5C6A70"/>
                </a:solidFill>
                <a:latin typeface="Aptos"/>
                <a:ea typeface="Aptos"/>
                <a:cs typeface="Aptos"/>
              </a:rPr>
              <a:t>DISTURBANCE</a:t>
            </a:r>
          </a:p>
        </p:txBody>
      </p:sp>
      <p:sp>
        <p:nvSpPr>
          <p:cNvPr id="15" name="">
            <a:extLst xmlns:a="http://schemas.openxmlformats.org/drawingml/2006/main">
              <a:ext uri="{FF2B5EF4-FFF2-40B4-BE49-F238E27FC236}">
                <a16:creationId xmlns:a16="http://schemas.microsoft.com/office/drawing/2014/main" id="{07BBC2A6-ED2E-4300-86CA-ED868134B24A}"/>
              </a:ext>
            </a:extLst>
          </p:cNvPr>
          <p:cNvSpPr>
            <a:spLocks xmlns:a="http://schemas.openxmlformats.org/drawingml/2006/main" noGrp="1"/>
          </p:cNvSpPr>
          <p:nvPr/>
        </p:nvSpPr>
        <p:spPr>
          <a:xfrm xmlns:a="http://schemas.openxmlformats.org/drawingml/2006/main">
            <a:off x="4829175" y="2609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ctr">
              <a:lnSpc>
                <a:spcPct val="100000"/>
              </a:lnSpc>
              <a:buNone/>
              <a:defRPr sz="1800" b="1" i="0">
                <a:solidFill>
                  <a:srgbClr val="D89A2B"/>
                </a:solidFill>
                <a:latin typeface="Aptos"/>
                <a:ea typeface="Aptos"/>
                <a:cs typeface="Aptos"/>
              </a:defRPr>
            </a:pPr>
            <a:r>
              <a:rPr sz="1800" b="1" i="0">
                <a:solidFill>
                  <a:srgbClr val="D89A2B"/>
                </a:solidFill>
                <a:latin typeface="Aptos"/>
                <a:ea typeface="Aptos"/>
                <a:cs typeface="Aptos"/>
              </a:rPr>
              <a:t>→</a:t>
            </a:r>
          </a:p>
        </p:txBody>
      </p:sp>
      <p:sp>
        <p:nvSpPr>
          <p:cNvPr id="16" name="">
            <a:extLst xmlns:a="http://schemas.openxmlformats.org/drawingml/2006/main">
              <a:ext uri="{FF2B5EF4-FFF2-40B4-BE49-F238E27FC236}">
                <a16:creationId xmlns:a16="http://schemas.microsoft.com/office/drawing/2014/main" id="{90E94D1C-C6AE-479E-BE3A-D575375BA87C}"/>
              </a:ext>
            </a:extLst>
          </p:cNvPr>
          <p:cNvSpPr>
            <a:spLocks xmlns:a="http://schemas.openxmlformats.org/drawingml/2006/main" noGrp="1"/>
          </p:cNvSpPr>
          <p:nvPr/>
        </p:nvSpPr>
        <p:spPr>
          <a:xfrm xmlns:a="http://schemas.openxmlformats.org/drawingml/2006/main">
            <a:off x="5124450" y="2133600"/>
            <a:ext cx="1943100" cy="1352550"/>
          </a:xfrm>
          <a:prstGeom xmlns:a="http://schemas.openxmlformats.org/drawingml/2006/main" prst="roundRect">
            <a:avLst>
              <a:gd name="adj" fmla="val 8451"/>
            </a:avLst>
          </a:prstGeom>
          <a:solidFill xmlns:a="http://schemas.openxmlformats.org/drawingml/2006/main">
            <a:srgbClr val="FFFDF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94573E3-589A-4854-9B55-68E14F2A3919}"/>
              </a:ext>
            </a:extLst>
          </p:cNvPr>
          <p:cNvSpPr>
            <a:spLocks xmlns:a="http://schemas.openxmlformats.org/drawingml/2006/main" noGrp="1"/>
          </p:cNvSpPr>
          <p:nvPr/>
        </p:nvSpPr>
        <p:spPr>
          <a:xfrm xmlns:a="http://schemas.openxmlformats.org/drawingml/2006/main">
            <a:off x="5276850" y="2286000"/>
            <a:ext cx="342900" cy="342900"/>
          </a:xfrm>
          <a:prstGeom xmlns:a="http://schemas.openxmlformats.org/drawingml/2006/main" prst="ellipse">
            <a:avLst/>
          </a:prstGeom>
          <a:solidFill xmlns:a="http://schemas.openxmlformats.org/drawingml/2006/main">
            <a:srgbClr val="2E7D8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3D5A05E-205E-46A7-8180-8BB41C00277C}"/>
              </a:ext>
            </a:extLst>
          </p:cNvPr>
          <p:cNvSpPr>
            <a:spLocks xmlns:a="http://schemas.openxmlformats.org/drawingml/2006/main" noGrp="1"/>
          </p:cNvSpPr>
          <p:nvPr/>
        </p:nvSpPr>
        <p:spPr>
          <a:xfrm xmlns:a="http://schemas.openxmlformats.org/drawingml/2006/main">
            <a:off x="5276850" y="23622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FFFFFF"/>
                </a:solidFill>
                <a:latin typeface="Aptos"/>
                <a:ea typeface="Aptos"/>
                <a:cs typeface="Aptos"/>
              </a:defRPr>
            </a:pPr>
            <a:r>
              <a:rPr sz="1050" b="1" i="0">
                <a:solidFill>
                  <a:srgbClr val="FFFFFF"/>
                </a:solidFill>
                <a:latin typeface="Aptos"/>
                <a:ea typeface="Aptos"/>
                <a:cs typeface="Aptos"/>
              </a:rPr>
              <a:t>3</a:t>
            </a:r>
          </a:p>
        </p:txBody>
      </p:sp>
      <p:sp>
        <p:nvSpPr>
          <p:cNvPr id="19" name="">
            <a:extLst xmlns:a="http://schemas.openxmlformats.org/drawingml/2006/main">
              <a:ext uri="{FF2B5EF4-FFF2-40B4-BE49-F238E27FC236}">
                <a16:creationId xmlns:a16="http://schemas.microsoft.com/office/drawing/2014/main" id="{12471070-8DA9-47BA-9A1D-07548EE0FA74}"/>
              </a:ext>
            </a:extLst>
          </p:cNvPr>
          <p:cNvSpPr>
            <a:spLocks xmlns:a="http://schemas.openxmlformats.org/drawingml/2006/main" noGrp="1"/>
          </p:cNvSpPr>
          <p:nvPr/>
        </p:nvSpPr>
        <p:spPr>
          <a:xfrm xmlns:a="http://schemas.openxmlformats.org/drawingml/2006/main">
            <a:off x="5295900" y="27813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0C3B32"/>
                </a:solidFill>
                <a:latin typeface="Aptos Display"/>
                <a:ea typeface="Aptos Display"/>
                <a:cs typeface="Aptos Display"/>
              </a:defRPr>
            </a:pPr>
            <a:r>
              <a:rPr sz="1500" b="1" i="0">
                <a:solidFill>
                  <a:srgbClr val="0C3B32"/>
                </a:solidFill>
                <a:latin typeface="Aptos Display"/>
                <a:ea typeface="Aptos Display"/>
                <a:cs typeface="Aptos Display"/>
              </a:rPr>
              <a:t>Risk scenario</a:t>
            </a:r>
          </a:p>
        </p:txBody>
      </p:sp>
      <p:sp>
        <p:nvSpPr>
          <p:cNvPr id="20" name="">
            <a:extLst xmlns:a="http://schemas.openxmlformats.org/drawingml/2006/main">
              <a:ext uri="{FF2B5EF4-FFF2-40B4-BE49-F238E27FC236}">
                <a16:creationId xmlns:a16="http://schemas.microsoft.com/office/drawing/2014/main" id="{33F82051-EF7B-4EF0-8982-50E25FAA5E21}"/>
              </a:ext>
            </a:extLst>
          </p:cNvPr>
          <p:cNvSpPr>
            <a:spLocks xmlns:a="http://schemas.openxmlformats.org/drawingml/2006/main" noGrp="1"/>
          </p:cNvSpPr>
          <p:nvPr/>
        </p:nvSpPr>
        <p:spPr>
          <a:xfrm xmlns:a="http://schemas.openxmlformats.org/drawingml/2006/main">
            <a:off x="5295900" y="3143250"/>
            <a:ext cx="1600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25" b="1" i="0">
                <a:solidFill>
                  <a:srgbClr val="5C6A70"/>
                </a:solidFill>
                <a:latin typeface="Aptos"/>
                <a:ea typeface="Aptos"/>
                <a:cs typeface="Aptos"/>
              </a:defRPr>
            </a:pPr>
            <a:r>
              <a:rPr sz="825" b="1" i="0">
                <a:solidFill>
                  <a:srgbClr val="5C6A70"/>
                </a:solidFill>
                <a:latin typeface="Aptos"/>
                <a:ea typeface="Aptos"/>
                <a:cs typeface="Aptos"/>
              </a:rPr>
              <a:t>UNSAFE PROPOSAL</a:t>
            </a:r>
          </a:p>
        </p:txBody>
      </p:sp>
      <p:sp>
        <p:nvSpPr>
          <p:cNvPr id="21" name="">
            <a:extLst xmlns:a="http://schemas.openxmlformats.org/drawingml/2006/main">
              <a:ext uri="{FF2B5EF4-FFF2-40B4-BE49-F238E27FC236}">
                <a16:creationId xmlns:a16="http://schemas.microsoft.com/office/drawing/2014/main" id="{C5605AA8-83EB-4E2E-B007-F6559FF59C70}"/>
              </a:ext>
            </a:extLst>
          </p:cNvPr>
          <p:cNvSpPr>
            <a:spLocks xmlns:a="http://schemas.openxmlformats.org/drawingml/2006/main" noGrp="1"/>
          </p:cNvSpPr>
          <p:nvPr/>
        </p:nvSpPr>
        <p:spPr>
          <a:xfrm xmlns:a="http://schemas.openxmlformats.org/drawingml/2006/main">
            <a:off x="7096125" y="2609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ctr">
              <a:lnSpc>
                <a:spcPct val="100000"/>
              </a:lnSpc>
              <a:buNone/>
              <a:defRPr sz="1800" b="1" i="0">
                <a:solidFill>
                  <a:srgbClr val="D89A2B"/>
                </a:solidFill>
                <a:latin typeface="Aptos"/>
                <a:ea typeface="Aptos"/>
                <a:cs typeface="Aptos"/>
              </a:defRPr>
            </a:pPr>
            <a:r>
              <a:rPr sz="1800" b="1" i="0">
                <a:solidFill>
                  <a:srgbClr val="D89A2B"/>
                </a:solidFill>
                <a:latin typeface="Aptos"/>
                <a:ea typeface="Aptos"/>
                <a:cs typeface="Aptos"/>
              </a:rPr>
              <a:t>→</a:t>
            </a:r>
          </a:p>
        </p:txBody>
      </p:sp>
      <p:sp>
        <p:nvSpPr>
          <p:cNvPr id="22" name="">
            <a:extLst xmlns:a="http://schemas.openxmlformats.org/drawingml/2006/main">
              <a:ext uri="{FF2B5EF4-FFF2-40B4-BE49-F238E27FC236}">
                <a16:creationId xmlns:a16="http://schemas.microsoft.com/office/drawing/2014/main" id="{0294EEEC-A310-4F5B-9AEC-DABE67765440}"/>
              </a:ext>
            </a:extLst>
          </p:cNvPr>
          <p:cNvSpPr>
            <a:spLocks xmlns:a="http://schemas.openxmlformats.org/drawingml/2006/main" noGrp="1"/>
          </p:cNvSpPr>
          <p:nvPr/>
        </p:nvSpPr>
        <p:spPr>
          <a:xfrm xmlns:a="http://schemas.openxmlformats.org/drawingml/2006/main">
            <a:off x="7391400" y="2133600"/>
            <a:ext cx="1943100" cy="1352550"/>
          </a:xfrm>
          <a:prstGeom xmlns:a="http://schemas.openxmlformats.org/drawingml/2006/main" prst="roundRect">
            <a:avLst>
              <a:gd name="adj" fmla="val 8451"/>
            </a:avLst>
          </a:prstGeom>
          <a:solidFill xmlns:a="http://schemas.openxmlformats.org/drawingml/2006/main">
            <a:srgbClr val="C5534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AA7AA96-CF68-491A-979B-9224D8D1A2E9}"/>
              </a:ext>
            </a:extLst>
          </p:cNvPr>
          <p:cNvSpPr>
            <a:spLocks xmlns:a="http://schemas.openxmlformats.org/drawingml/2006/main" noGrp="1"/>
          </p:cNvSpPr>
          <p:nvPr/>
        </p:nvSpPr>
        <p:spPr>
          <a:xfrm xmlns:a="http://schemas.openxmlformats.org/drawingml/2006/main">
            <a:off x="7543800" y="2286000"/>
            <a:ext cx="342900" cy="3429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777BE2F-1EB6-4D5C-9EEA-3FDA54BC303F}"/>
              </a:ext>
            </a:extLst>
          </p:cNvPr>
          <p:cNvSpPr>
            <a:spLocks xmlns:a="http://schemas.openxmlformats.org/drawingml/2006/main" noGrp="1"/>
          </p:cNvSpPr>
          <p:nvPr/>
        </p:nvSpPr>
        <p:spPr>
          <a:xfrm xmlns:a="http://schemas.openxmlformats.org/drawingml/2006/main">
            <a:off x="7543800" y="23622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C5534A"/>
                </a:solidFill>
                <a:latin typeface="Aptos"/>
                <a:ea typeface="Aptos"/>
                <a:cs typeface="Aptos"/>
              </a:defRPr>
            </a:pPr>
            <a:r>
              <a:rPr sz="1050" b="1" i="0">
                <a:solidFill>
                  <a:srgbClr val="C5534A"/>
                </a:solidFill>
                <a:latin typeface="Aptos"/>
                <a:ea typeface="Aptos"/>
                <a:cs typeface="Aptos"/>
              </a:rPr>
              <a:t>4</a:t>
            </a:r>
          </a:p>
        </p:txBody>
      </p:sp>
      <p:sp>
        <p:nvSpPr>
          <p:cNvPr id="25" name="">
            <a:extLst xmlns:a="http://schemas.openxmlformats.org/drawingml/2006/main">
              <a:ext uri="{FF2B5EF4-FFF2-40B4-BE49-F238E27FC236}">
                <a16:creationId xmlns:a16="http://schemas.microsoft.com/office/drawing/2014/main" id="{7F5BB154-CC0A-4C61-9AD7-8C357936ABA6}"/>
              </a:ext>
            </a:extLst>
          </p:cNvPr>
          <p:cNvSpPr>
            <a:spLocks xmlns:a="http://schemas.openxmlformats.org/drawingml/2006/main" noGrp="1"/>
          </p:cNvSpPr>
          <p:nvPr/>
        </p:nvSpPr>
        <p:spPr>
          <a:xfrm xmlns:a="http://schemas.openxmlformats.org/drawingml/2006/main">
            <a:off x="7562850" y="27813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ptos Display"/>
                <a:ea typeface="Aptos Display"/>
                <a:cs typeface="Aptos Display"/>
              </a:defRPr>
            </a:pPr>
            <a:r>
              <a:rPr sz="1500" b="1" i="0">
                <a:solidFill>
                  <a:srgbClr val="FFFFFF"/>
                </a:solidFill>
                <a:latin typeface="Aptos Display"/>
                <a:ea typeface="Aptos Display"/>
                <a:cs typeface="Aptos Display"/>
              </a:rPr>
              <a:t>Safety gate</a:t>
            </a:r>
          </a:p>
        </p:txBody>
      </p:sp>
      <p:sp>
        <p:nvSpPr>
          <p:cNvPr id="26" name="">
            <a:extLst xmlns:a="http://schemas.openxmlformats.org/drawingml/2006/main">
              <a:ext uri="{FF2B5EF4-FFF2-40B4-BE49-F238E27FC236}">
                <a16:creationId xmlns:a16="http://schemas.microsoft.com/office/drawing/2014/main" id="{0707EDF9-B209-4222-9EE6-72FAA7E1793D}"/>
              </a:ext>
            </a:extLst>
          </p:cNvPr>
          <p:cNvSpPr>
            <a:spLocks xmlns:a="http://schemas.openxmlformats.org/drawingml/2006/main" noGrp="1"/>
          </p:cNvSpPr>
          <p:nvPr/>
        </p:nvSpPr>
        <p:spPr>
          <a:xfrm xmlns:a="http://schemas.openxmlformats.org/drawingml/2006/main">
            <a:off x="7562850" y="3143250"/>
            <a:ext cx="1600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25" b="1" i="0">
                <a:solidFill>
                  <a:srgbClr val="F7CBC6"/>
                </a:solidFill>
                <a:latin typeface="Aptos"/>
                <a:ea typeface="Aptos"/>
                <a:cs typeface="Aptos"/>
              </a:defRPr>
            </a:pPr>
            <a:r>
              <a:rPr sz="825" b="1" i="0">
                <a:solidFill>
                  <a:srgbClr val="F7CBC6"/>
                </a:solidFill>
                <a:latin typeface="Aptos"/>
                <a:ea typeface="Aptos"/>
                <a:cs typeface="Aptos"/>
              </a:rPr>
              <a:t>INTERVENTION</a:t>
            </a:r>
          </a:p>
        </p:txBody>
      </p:sp>
      <p:sp>
        <p:nvSpPr>
          <p:cNvPr id="27" name="">
            <a:extLst xmlns:a="http://schemas.openxmlformats.org/drawingml/2006/main">
              <a:ext uri="{FF2B5EF4-FFF2-40B4-BE49-F238E27FC236}">
                <a16:creationId xmlns:a16="http://schemas.microsoft.com/office/drawing/2014/main" id="{30623535-DE29-4719-A896-5FE61E0223B2}"/>
              </a:ext>
            </a:extLst>
          </p:cNvPr>
          <p:cNvSpPr>
            <a:spLocks xmlns:a="http://schemas.openxmlformats.org/drawingml/2006/main" noGrp="1"/>
          </p:cNvSpPr>
          <p:nvPr/>
        </p:nvSpPr>
        <p:spPr>
          <a:xfrm xmlns:a="http://schemas.openxmlformats.org/drawingml/2006/main">
            <a:off x="9363075" y="2609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ctr">
              <a:lnSpc>
                <a:spcPct val="100000"/>
              </a:lnSpc>
              <a:buNone/>
              <a:defRPr sz="1800" b="1" i="0">
                <a:solidFill>
                  <a:srgbClr val="D89A2B"/>
                </a:solidFill>
                <a:latin typeface="Aptos"/>
                <a:ea typeface="Aptos"/>
                <a:cs typeface="Aptos"/>
              </a:defRPr>
            </a:pPr>
            <a:r>
              <a:rPr sz="1800" b="1" i="0">
                <a:solidFill>
                  <a:srgbClr val="D89A2B"/>
                </a:solidFill>
                <a:latin typeface="Aptos"/>
                <a:ea typeface="Aptos"/>
                <a:cs typeface="Aptos"/>
              </a:rPr>
              <a:t>→</a:t>
            </a:r>
          </a:p>
        </p:txBody>
      </p:sp>
      <p:sp>
        <p:nvSpPr>
          <p:cNvPr id="28" name="">
            <a:extLst xmlns:a="http://schemas.openxmlformats.org/drawingml/2006/main">
              <a:ext uri="{FF2B5EF4-FFF2-40B4-BE49-F238E27FC236}">
                <a16:creationId xmlns:a16="http://schemas.microsoft.com/office/drawing/2014/main" id="{06748078-D17F-4662-9FF6-040C273AC9AA}"/>
              </a:ext>
            </a:extLst>
          </p:cNvPr>
          <p:cNvSpPr>
            <a:spLocks xmlns:a="http://schemas.openxmlformats.org/drawingml/2006/main" noGrp="1"/>
          </p:cNvSpPr>
          <p:nvPr/>
        </p:nvSpPr>
        <p:spPr>
          <a:xfrm xmlns:a="http://schemas.openxmlformats.org/drawingml/2006/main">
            <a:off x="9658350" y="2133600"/>
            <a:ext cx="1943100" cy="1352550"/>
          </a:xfrm>
          <a:prstGeom xmlns:a="http://schemas.openxmlformats.org/drawingml/2006/main" prst="roundRect">
            <a:avLst>
              <a:gd name="adj" fmla="val 8451"/>
            </a:avLst>
          </a:prstGeom>
          <a:solidFill xmlns:a="http://schemas.openxmlformats.org/drawingml/2006/main">
            <a:srgbClr val="FFFDF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F676CA7-FC94-4F94-93A4-3B113ABE2484}"/>
              </a:ext>
            </a:extLst>
          </p:cNvPr>
          <p:cNvSpPr>
            <a:spLocks xmlns:a="http://schemas.openxmlformats.org/drawingml/2006/main" noGrp="1"/>
          </p:cNvSpPr>
          <p:nvPr/>
        </p:nvSpPr>
        <p:spPr>
          <a:xfrm xmlns:a="http://schemas.openxmlformats.org/drawingml/2006/main">
            <a:off x="9810750" y="2286000"/>
            <a:ext cx="342900" cy="342900"/>
          </a:xfrm>
          <a:prstGeom xmlns:a="http://schemas.openxmlformats.org/drawingml/2006/main" prst="ellipse">
            <a:avLst/>
          </a:prstGeom>
          <a:solidFill xmlns:a="http://schemas.openxmlformats.org/drawingml/2006/main">
            <a:srgbClr val="2E7D8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359D8F3-DE25-4C1D-B761-AE776C28FBF0}"/>
              </a:ext>
            </a:extLst>
          </p:cNvPr>
          <p:cNvSpPr>
            <a:spLocks xmlns:a="http://schemas.openxmlformats.org/drawingml/2006/main" noGrp="1"/>
          </p:cNvSpPr>
          <p:nvPr/>
        </p:nvSpPr>
        <p:spPr>
          <a:xfrm xmlns:a="http://schemas.openxmlformats.org/drawingml/2006/main">
            <a:off x="9810750" y="23622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FFFFFF"/>
                </a:solidFill>
                <a:latin typeface="Aptos"/>
                <a:ea typeface="Aptos"/>
                <a:cs typeface="Aptos"/>
              </a:defRPr>
            </a:pPr>
            <a:r>
              <a:rPr sz="1050" b="1" i="0">
                <a:solidFill>
                  <a:srgbClr val="FFFFFF"/>
                </a:solidFill>
                <a:latin typeface="Aptos"/>
                <a:ea typeface="Aptos"/>
                <a:cs typeface="Aptos"/>
              </a:rPr>
              <a:t>5</a:t>
            </a:r>
          </a:p>
        </p:txBody>
      </p:sp>
      <p:sp>
        <p:nvSpPr>
          <p:cNvPr id="31" name="">
            <a:extLst xmlns:a="http://schemas.openxmlformats.org/drawingml/2006/main">
              <a:ext uri="{FF2B5EF4-FFF2-40B4-BE49-F238E27FC236}">
                <a16:creationId xmlns:a16="http://schemas.microsoft.com/office/drawing/2014/main" id="{C3F73087-F9DF-40F1-8CF7-256EF220E6D5}"/>
              </a:ext>
            </a:extLst>
          </p:cNvPr>
          <p:cNvSpPr>
            <a:spLocks xmlns:a="http://schemas.openxmlformats.org/drawingml/2006/main" noGrp="1"/>
          </p:cNvSpPr>
          <p:nvPr/>
        </p:nvSpPr>
        <p:spPr>
          <a:xfrm xmlns:a="http://schemas.openxmlformats.org/drawingml/2006/main">
            <a:off x="9829800" y="27813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0C3B32"/>
                </a:solidFill>
                <a:latin typeface="Aptos Display"/>
                <a:ea typeface="Aptos Display"/>
                <a:cs typeface="Aptos Display"/>
              </a:defRPr>
            </a:pPr>
            <a:r>
              <a:rPr sz="1500" b="1" i="0">
                <a:solidFill>
                  <a:srgbClr val="0C3B32"/>
                </a:solidFill>
                <a:latin typeface="Aptos Display"/>
                <a:ea typeface="Aptos Display"/>
                <a:cs typeface="Aptos Display"/>
              </a:rPr>
              <a:t>Evidence</a:t>
            </a:r>
          </a:p>
        </p:txBody>
      </p:sp>
      <p:sp>
        <p:nvSpPr>
          <p:cNvPr id="32" name="">
            <a:extLst xmlns:a="http://schemas.openxmlformats.org/drawingml/2006/main">
              <a:ext uri="{FF2B5EF4-FFF2-40B4-BE49-F238E27FC236}">
                <a16:creationId xmlns:a16="http://schemas.microsoft.com/office/drawing/2014/main" id="{5EB7CFC2-FC2F-49A8-9C6A-8E2927C13F0C}"/>
              </a:ext>
            </a:extLst>
          </p:cNvPr>
          <p:cNvSpPr>
            <a:spLocks xmlns:a="http://schemas.openxmlformats.org/drawingml/2006/main" noGrp="1"/>
          </p:cNvSpPr>
          <p:nvPr/>
        </p:nvSpPr>
        <p:spPr>
          <a:xfrm xmlns:a="http://schemas.openxmlformats.org/drawingml/2006/main">
            <a:off x="9829800" y="3143250"/>
            <a:ext cx="1600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25" b="1" i="0">
                <a:solidFill>
                  <a:srgbClr val="5C6A70"/>
                </a:solidFill>
                <a:latin typeface="Aptos"/>
                <a:ea typeface="Aptos"/>
                <a:cs typeface="Aptos"/>
              </a:defRPr>
            </a:pPr>
            <a:r>
              <a:rPr sz="825" b="1" i="0">
                <a:solidFill>
                  <a:srgbClr val="5C6A70"/>
                </a:solidFill>
                <a:latin typeface="Aptos"/>
                <a:ea typeface="Aptos"/>
                <a:cs typeface="Aptos"/>
              </a:rPr>
              <a:t>REPORT + TRACE</a:t>
            </a:r>
          </a:p>
        </p:txBody>
      </p:sp>
      <p:sp>
        <p:nvSpPr>
          <p:cNvPr id="33" name="">
            <a:extLst xmlns:a="http://schemas.openxmlformats.org/drawingml/2006/main">
              <a:ext uri="{FF2B5EF4-FFF2-40B4-BE49-F238E27FC236}">
                <a16:creationId xmlns:a16="http://schemas.microsoft.com/office/drawing/2014/main" id="{49CB8F9A-23C4-4654-B443-62765FF3D93C}"/>
              </a:ext>
            </a:extLst>
          </p:cNvPr>
          <p:cNvSpPr>
            <a:spLocks xmlns:a="http://schemas.openxmlformats.org/drawingml/2006/main" noGrp="1"/>
          </p:cNvSpPr>
          <p:nvPr/>
        </p:nvSpPr>
        <p:spPr>
          <a:xfrm xmlns:a="http://schemas.openxmlformats.org/drawingml/2006/main">
            <a:off x="723900" y="3905250"/>
            <a:ext cx="2286000" cy="304800"/>
          </a:xfrm>
          <a:prstGeom xmlns:a="http://schemas.openxmlformats.org/drawingml/2006/main" prst="roundRect">
            <a:avLst>
              <a:gd name="adj" fmla="val 37500"/>
            </a:avLst>
          </a:prstGeom>
          <a:solidFill xmlns:a="http://schemas.openxmlformats.org/drawingml/2006/main">
            <a:srgbClr val="D89A2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BE3E3F1F-4272-4CD1-8208-723CBC1A0A96}"/>
              </a:ext>
            </a:extLst>
          </p:cNvPr>
          <p:cNvSpPr>
            <a:spLocks xmlns:a="http://schemas.openxmlformats.org/drawingml/2006/main" noGrp="1"/>
          </p:cNvSpPr>
          <p:nvPr/>
        </p:nvSpPr>
        <p:spPr>
          <a:xfrm xmlns:a="http://schemas.openxmlformats.org/drawingml/2006/main">
            <a:off x="819150" y="39433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0C3B32"/>
                </a:solidFill>
                <a:latin typeface="Aptos"/>
                <a:ea typeface="Aptos"/>
                <a:cs typeface="Aptos"/>
              </a:defRPr>
            </a:pPr>
            <a:r>
              <a:rPr sz="1050" b="1" i="0">
                <a:solidFill>
                  <a:srgbClr val="0C3B32"/>
                </a:solidFill>
                <a:latin typeface="Aptos"/>
                <a:ea typeface="Aptos"/>
                <a:cs typeface="Aptos"/>
              </a:rPr>
              <a:t>iints demo eucys</a:t>
            </a:r>
          </a:p>
        </p:txBody>
      </p:sp>
      <p:sp>
        <p:nvSpPr>
          <p:cNvPr id="35" name="">
            <a:extLst xmlns:a="http://schemas.openxmlformats.org/drawingml/2006/main">
              <a:ext uri="{FF2B5EF4-FFF2-40B4-BE49-F238E27FC236}">
                <a16:creationId xmlns:a16="http://schemas.microsoft.com/office/drawing/2014/main" id="{845026C5-1D7D-4448-962C-C86F37F7D676}"/>
              </a:ext>
            </a:extLst>
          </p:cNvPr>
          <p:cNvSpPr>
            <a:spLocks xmlns:a="http://schemas.openxmlformats.org/drawingml/2006/main" noGrp="1"/>
          </p:cNvSpPr>
          <p:nvPr/>
        </p:nvSpPr>
        <p:spPr>
          <a:xfrm xmlns:a="http://schemas.openxmlformats.org/drawingml/2006/main">
            <a:off x="3200400" y="3905250"/>
            <a:ext cx="2286000" cy="304800"/>
          </a:xfrm>
          <a:prstGeom xmlns:a="http://schemas.openxmlformats.org/drawingml/2006/main" prst="roundRect">
            <a:avLst>
              <a:gd name="adj" fmla="val 37500"/>
            </a:avLst>
          </a:prstGeom>
          <a:solidFill xmlns:a="http://schemas.openxmlformats.org/drawingml/2006/main">
            <a:srgbClr val="DCEAE4"/>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2868117-D876-4B6E-9482-4C1E28FD4D15}"/>
              </a:ext>
            </a:extLst>
          </p:cNvPr>
          <p:cNvSpPr>
            <a:spLocks xmlns:a="http://schemas.openxmlformats.org/drawingml/2006/main" noGrp="1"/>
          </p:cNvSpPr>
          <p:nvPr/>
        </p:nvSpPr>
        <p:spPr>
          <a:xfrm xmlns:a="http://schemas.openxmlformats.org/drawingml/2006/main">
            <a:off x="3295650" y="39433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0C3B32"/>
                </a:solidFill>
                <a:latin typeface="Aptos"/>
                <a:ea typeface="Aptos"/>
                <a:cs typeface="Aptos"/>
              </a:defRPr>
            </a:pPr>
            <a:r>
              <a:rPr sz="1050" b="1" i="0">
                <a:solidFill>
                  <a:srgbClr val="0C3B32"/>
                </a:solidFill>
                <a:latin typeface="Aptos"/>
                <a:ea typeface="Aptos"/>
                <a:cs typeface="Aptos"/>
              </a:rPr>
              <a:t>iints demo doctor</a:t>
            </a:r>
          </a:p>
        </p:txBody>
      </p:sp>
      <p:sp>
        <p:nvSpPr>
          <p:cNvPr id="37" name="">
            <a:extLst xmlns:a="http://schemas.openxmlformats.org/drawingml/2006/main">
              <a:ext uri="{FF2B5EF4-FFF2-40B4-BE49-F238E27FC236}">
                <a16:creationId xmlns:a16="http://schemas.microsoft.com/office/drawing/2014/main" id="{CECACC93-3068-44D8-B265-35DE708DD81B}"/>
              </a:ext>
            </a:extLst>
          </p:cNvPr>
          <p:cNvSpPr>
            <a:spLocks xmlns:a="http://schemas.openxmlformats.org/drawingml/2006/main" noGrp="1"/>
          </p:cNvSpPr>
          <p:nvPr/>
        </p:nvSpPr>
        <p:spPr>
          <a:xfrm xmlns:a="http://schemas.openxmlformats.org/drawingml/2006/main">
            <a:off x="5676900" y="3905250"/>
            <a:ext cx="2286000" cy="304800"/>
          </a:xfrm>
          <a:prstGeom xmlns:a="http://schemas.openxmlformats.org/drawingml/2006/main" prst="roundRect">
            <a:avLst>
              <a:gd name="adj" fmla="val 37500"/>
            </a:avLst>
          </a:prstGeom>
          <a:solidFill xmlns:a="http://schemas.openxmlformats.org/drawingml/2006/main">
            <a:srgbClr val="DCEAE4"/>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13F41B4C-0BB4-421F-9D2D-C3088FF791C1}"/>
              </a:ext>
            </a:extLst>
          </p:cNvPr>
          <p:cNvSpPr>
            <a:spLocks xmlns:a="http://schemas.openxmlformats.org/drawingml/2006/main" noGrp="1"/>
          </p:cNvSpPr>
          <p:nvPr/>
        </p:nvSpPr>
        <p:spPr>
          <a:xfrm xmlns:a="http://schemas.openxmlformats.org/drawingml/2006/main">
            <a:off x="5772150" y="39433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0C3B32"/>
                </a:solidFill>
                <a:latin typeface="Aptos"/>
                <a:ea typeface="Aptos"/>
                <a:cs typeface="Aptos"/>
              </a:defRPr>
            </a:pPr>
            <a:r>
              <a:rPr sz="1050" b="1" i="0">
                <a:solidFill>
                  <a:srgbClr val="0C3B32"/>
                </a:solidFill>
                <a:latin typeface="Aptos"/>
                <a:ea typeface="Aptos"/>
                <a:cs typeface="Aptos"/>
              </a:rPr>
              <a:t>iints demo booth</a:t>
            </a:r>
          </a:p>
        </p:txBody>
      </p:sp>
      <p:sp>
        <p:nvSpPr>
          <p:cNvPr id="39" name="">
            <a:extLst xmlns:a="http://schemas.openxmlformats.org/drawingml/2006/main">
              <a:ext uri="{FF2B5EF4-FFF2-40B4-BE49-F238E27FC236}">
                <a16:creationId xmlns:a16="http://schemas.microsoft.com/office/drawing/2014/main" id="{CF4EAFEF-57A8-44EA-85AE-F8A0B4734FD1}"/>
              </a:ext>
            </a:extLst>
          </p:cNvPr>
          <p:cNvSpPr>
            <a:spLocks xmlns:a="http://schemas.openxmlformats.org/drawingml/2006/main" noGrp="1"/>
          </p:cNvSpPr>
          <p:nvPr/>
        </p:nvSpPr>
        <p:spPr>
          <a:xfrm xmlns:a="http://schemas.openxmlformats.org/drawingml/2006/main">
            <a:off x="8153400" y="3905250"/>
            <a:ext cx="3200400" cy="304800"/>
          </a:xfrm>
          <a:prstGeom xmlns:a="http://schemas.openxmlformats.org/drawingml/2006/main" prst="roundRect">
            <a:avLst>
              <a:gd name="adj" fmla="val 37500"/>
            </a:avLst>
          </a:prstGeom>
          <a:solidFill xmlns:a="http://schemas.openxmlformats.org/drawingml/2006/main">
            <a:srgbClr val="DCEAE4"/>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EFA2C541-A8D9-4E4A-BA5D-1295D8AD42F0}"/>
              </a:ext>
            </a:extLst>
          </p:cNvPr>
          <p:cNvSpPr>
            <a:spLocks xmlns:a="http://schemas.openxmlformats.org/drawingml/2006/main" noGrp="1"/>
          </p:cNvSpPr>
          <p:nvPr/>
        </p:nvSpPr>
        <p:spPr>
          <a:xfrm xmlns:a="http://schemas.openxmlformats.org/drawingml/2006/main">
            <a:off x="8248650" y="39433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0C3B32"/>
                </a:solidFill>
                <a:latin typeface="Aptos"/>
                <a:ea typeface="Aptos"/>
                <a:cs typeface="Aptos"/>
              </a:defRPr>
            </a:pPr>
            <a:r>
              <a:rPr sz="1050" b="1" i="0">
                <a:solidFill>
                  <a:srgbClr val="0C3B32"/>
                </a:solidFill>
                <a:latin typeface="Aptos"/>
                <a:ea typeface="Aptos"/>
                <a:cs typeface="Aptos"/>
              </a:rPr>
              <a:t>iints report --style standard</a:t>
            </a:r>
          </a:p>
        </p:txBody>
      </p:sp>
      <p:sp>
        <p:nvSpPr>
          <p:cNvPr id="41" name="">
            <a:extLst xmlns:a="http://schemas.openxmlformats.org/drawingml/2006/main">
              <a:ext uri="{FF2B5EF4-FFF2-40B4-BE49-F238E27FC236}">
                <a16:creationId xmlns:a16="http://schemas.microsoft.com/office/drawing/2014/main" id="{952225B3-7D31-43E2-B75F-CB26B14BEB68}"/>
              </a:ext>
            </a:extLst>
          </p:cNvPr>
          <p:cNvSpPr>
            <a:spLocks xmlns:a="http://schemas.openxmlformats.org/drawingml/2006/main" noGrp="1"/>
          </p:cNvSpPr>
          <p:nvPr/>
        </p:nvSpPr>
        <p:spPr>
          <a:xfrm xmlns:a="http://schemas.openxmlformats.org/drawingml/2006/main">
            <a:off x="723900" y="4552950"/>
            <a:ext cx="8191500" cy="1276350"/>
          </a:xfrm>
          <a:prstGeom xmlns:a="http://schemas.openxmlformats.org/drawingml/2006/main" prst="roundRect">
            <a:avLst>
              <a:gd name="adj" fmla="val 8955"/>
            </a:avLst>
          </a:prstGeom>
          <a:solidFill xmlns:a="http://schemas.openxmlformats.org/drawingml/2006/main">
            <a:srgbClr val="174B40"/>
          </a:solidFill>
          <a:ln xmlns:a="http://schemas.openxmlformats.org/drawingml/2006/main" w="9525">
            <a:solidFill>
              <a:srgbClr val="2A6759"/>
            </a:solidFill>
            <a:prstDash val="solid"/>
          </a:ln>
        </p:spPr>
      </p:sp>
      <p:sp>
        <p:nvSpPr>
          <p:cNvPr id="42" name="">
            <a:extLst xmlns:a="http://schemas.openxmlformats.org/drawingml/2006/main">
              <a:ext uri="{FF2B5EF4-FFF2-40B4-BE49-F238E27FC236}">
                <a16:creationId xmlns:a16="http://schemas.microsoft.com/office/drawing/2014/main" id="{CA8EF2C2-20FD-433D-81EA-34E1517ACA22}"/>
              </a:ext>
            </a:extLst>
          </p:cNvPr>
          <p:cNvSpPr>
            <a:spLocks xmlns:a="http://schemas.openxmlformats.org/drawingml/2006/main" noGrp="1"/>
          </p:cNvSpPr>
          <p:nvPr/>
        </p:nvSpPr>
        <p:spPr>
          <a:xfrm xmlns:a="http://schemas.openxmlformats.org/drawingml/2006/main">
            <a:off x="952500" y="474345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D89A2B"/>
                </a:solidFill>
                <a:latin typeface="Aptos"/>
                <a:ea typeface="Aptos"/>
                <a:cs typeface="Aptos"/>
              </a:defRPr>
            </a:pPr>
            <a:r>
              <a:rPr sz="975" b="1" i="0">
                <a:solidFill>
                  <a:srgbClr val="D89A2B"/>
                </a:solidFill>
                <a:latin typeface="Aptos"/>
                <a:ea typeface="Aptos"/>
                <a:cs typeface="Aptos"/>
              </a:rPr>
              <a:t>QUESTIONS FOR COLLABORATION</a:t>
            </a:r>
          </a:p>
        </p:txBody>
      </p:sp>
      <p:sp>
        <p:nvSpPr>
          <p:cNvPr id="43" name="">
            <a:extLst xmlns:a="http://schemas.openxmlformats.org/drawingml/2006/main">
              <a:ext uri="{FF2B5EF4-FFF2-40B4-BE49-F238E27FC236}">
                <a16:creationId xmlns:a16="http://schemas.microsoft.com/office/drawing/2014/main" id="{EBE1F2B9-9BC2-42F9-9115-44E63F5644E3}"/>
              </a:ext>
            </a:extLst>
          </p:cNvPr>
          <p:cNvSpPr>
            <a:spLocks xmlns:a="http://schemas.openxmlformats.org/drawingml/2006/main" noGrp="1"/>
          </p:cNvSpPr>
          <p:nvPr/>
        </p:nvSpPr>
        <p:spPr>
          <a:xfrm xmlns:a="http://schemas.openxmlformats.org/drawingml/2006/main">
            <a:off x="952500" y="5067300"/>
            <a:ext cx="7600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567"/>
          </a:bodyPr>
          <a:lstStyle xmlns:a="http://schemas.openxmlformats.org/drawingml/2006/main"/>
          <a:p xmlns:a="http://schemas.openxmlformats.org/drawingml/2006/main">
            <a:pPr algn="l">
              <a:lnSpc>
                <a:spcPct val="115000"/>
              </a:lnSpc>
              <a:buNone/>
              <a:defRPr sz="1350" b="0" i="0">
                <a:solidFill>
                  <a:srgbClr val="FFFFFF"/>
                </a:solidFill>
                <a:latin typeface="Aptos"/>
                <a:ea typeface="Aptos"/>
                <a:cs typeface="Aptos"/>
              </a:defRPr>
            </a:pPr>
            <a:r>
              <a:rPr sz="1350" b="0" i="0">
                <a:solidFill>
                  <a:srgbClr val="FFFFFF"/>
                </a:solidFill>
                <a:latin typeface="Aptos"/>
                <a:ea typeface="Aptos"/>
                <a:cs typeface="Aptos"/>
              </a:rPr>
              <a:t>• Which physiology parameters should be calibrated first?</a:t>
            </a:r>
          </a:p>
          <a:p xmlns:a="http://schemas.openxmlformats.org/drawingml/2006/main">
            <a:pPr algn="l">
              <a:lnSpc>
                <a:spcPct val="115000"/>
              </a:lnSpc>
              <a:buNone/>
              <a:defRPr sz="1350" b="0" i="0">
                <a:solidFill>
                  <a:srgbClr val="FFFFFF"/>
                </a:solidFill>
                <a:latin typeface="Aptos"/>
                <a:ea typeface="Aptos"/>
                <a:cs typeface="Aptos"/>
              </a:defRPr>
            </a:pPr>
            <a:r>
              <a:rPr sz="1350" b="0" i="0">
                <a:solidFill>
                  <a:srgbClr val="FFFFFF"/>
                </a:solidFill>
                <a:latin typeface="Aptos"/>
                <a:ea typeface="Aptos"/>
                <a:cs typeface="Aptos"/>
              </a:rPr>
              <a:t>• Which external validation design would be most defensible?</a:t>
            </a:r>
          </a:p>
          <a:p xmlns:a="http://schemas.openxmlformats.org/drawingml/2006/main">
            <a:pPr algn="l">
              <a:lnSpc>
                <a:spcPct val="115000"/>
              </a:lnSpc>
              <a:buNone/>
              <a:defRPr sz="1350" b="0" i="0">
                <a:solidFill>
                  <a:srgbClr val="FFFFFF"/>
                </a:solidFill>
                <a:latin typeface="Aptos"/>
                <a:ea typeface="Aptos"/>
                <a:cs typeface="Aptos"/>
              </a:defRPr>
            </a:pPr>
            <a:r>
              <a:rPr sz="1350" b="0" i="0">
                <a:solidFill>
                  <a:srgbClr val="FFFFFF"/>
                </a:solidFill>
                <a:latin typeface="Aptos"/>
                <a:ea typeface="Aptos"/>
                <a:cs typeface="Aptos"/>
              </a:rPr>
              <a:t>• How should prediction uncertainty enter safety evaluation?</a:t>
            </a:r>
          </a:p>
        </p:txBody>
      </p:sp>
      <p:pic>
        <p:nvPicPr>
          <p:cNvPr id="90" name=""/>
          <p:cNvPicPr>
            <a:picLocks xmlns:a="http://schemas.openxmlformats.org/drawingml/2006/main" noChangeAspect="1"/>
          </p:cNvPicPr>
          <p:nvPr/>
        </p:nvPicPr>
        <p:blipFill>
          <a:blip xmlns:r="http://schemas.openxmlformats.org/officeDocument/2006/relationships" xmlns:a="http://schemas.openxmlformats.org/drawingml/2006/main" r:embed="R52b263872f5d4262"/>
          <a:stretch xmlns:a="http://schemas.openxmlformats.org/drawingml/2006/main"/>
        </p:blipFill>
        <p:spPr>
          <a:xfrm xmlns:a="http://schemas.openxmlformats.org/drawingml/2006/main">
            <a:off x="9615583" y="4514850"/>
            <a:ext cx="1552383" cy="1314450"/>
          </a:xfrm>
          <a:prstGeom xmlns:a="http://schemas.openxmlformats.org/drawingml/2006/main" prst="rect">
            <a:avLst/>
          </a:prstGeom>
        </p:spPr>
      </p:pic>
      <p:sp>
        <p:nvSpPr>
          <p:cNvPr id="45" name="">
            <a:extLst xmlns:a="http://schemas.openxmlformats.org/drawingml/2006/main">
              <a:ext uri="{FF2B5EF4-FFF2-40B4-BE49-F238E27FC236}">
                <a16:creationId xmlns:a16="http://schemas.microsoft.com/office/drawing/2014/main" id="{3C745299-7666-43F2-B545-64CA06A6D708}"/>
              </a:ext>
            </a:extLst>
          </p:cNvPr>
          <p:cNvSpPr>
            <a:spLocks xmlns:a="http://schemas.openxmlformats.org/drawingml/2006/main" noGrp="1"/>
          </p:cNvSpPr>
          <p:nvPr/>
        </p:nvSpPr>
        <p:spPr>
          <a:xfrm xmlns:a="http://schemas.openxmlformats.org/drawingml/2006/main">
            <a:off x="647700" y="632460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C8DCD4"/>
                </a:solidFill>
                <a:latin typeface="Aptos"/>
                <a:ea typeface="Aptos"/>
                <a:cs typeface="Aptos"/>
              </a:defRPr>
            </a:pPr>
            <a:r>
              <a:rPr sz="975" b="1" i="0">
                <a:solidFill>
                  <a:srgbClr val="C8DCD4"/>
                </a:solidFill>
                <a:latin typeface="Aptos"/>
                <a:ea typeface="Aptos"/>
                <a:cs typeface="Aptos"/>
              </a:rPr>
              <a:t>github.com/python35/IINTS-SDK</a:t>
            </a:r>
          </a:p>
        </p:txBody>
      </p:sp>
      <p:sp>
        <p:nvSpPr>
          <p:cNvPr id="46" name="">
            <a:extLst xmlns:a="http://schemas.openxmlformats.org/drawingml/2006/main">
              <a:ext uri="{FF2B5EF4-FFF2-40B4-BE49-F238E27FC236}">
                <a16:creationId xmlns:a16="http://schemas.microsoft.com/office/drawing/2014/main" id="{B7D5871E-EF74-44FC-9E32-1D6E3D3A3E09}"/>
              </a:ext>
            </a:extLst>
          </p:cNvPr>
          <p:cNvSpPr>
            <a:spLocks xmlns:a="http://schemas.openxmlformats.org/drawingml/2006/main" noGrp="1"/>
          </p:cNvSpPr>
          <p:nvPr/>
        </p:nvSpPr>
        <p:spPr>
          <a:xfrm xmlns:a="http://schemas.openxmlformats.org/drawingml/2006/main">
            <a:off x="9810750" y="61722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2100" b="1" i="0">
                <a:solidFill>
                  <a:srgbClr val="D89A2B"/>
                </a:solidFill>
                <a:latin typeface="Aptos Display"/>
                <a:ea typeface="Aptos Display"/>
                <a:cs typeface="Aptos Display"/>
              </a:defRPr>
            </a:pPr>
            <a:r>
              <a:rPr sz="2100" b="1" i="0">
                <a:solidFill>
                  <a:srgbClr val="D89A2B"/>
                </a:solidFill>
                <a:latin typeface="Aptos Display"/>
                <a:ea typeface="Aptos Display"/>
                <a:cs typeface="Aptos Display"/>
              </a:rPr>
              <a:t>Thank you</a:t>
            </a:r>
          </a:p>
        </p:txBody>
      </p:sp>
    </p:spTree>
    <p:extLst>
      <p:ext uri="{BB962C8B-B14F-4D97-AF65-F5344CB8AC3E}">
        <p14:creationId xmlns:p14="http://schemas.microsoft.com/office/powerpoint/2010/main" val="1040448831"/>
      </p:ext>
    </p:extLst>
  </p:cSld>
</p:sld>
</file>

<file path=ppt/slides/slide1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62275BF-E11E-4813-970F-59D232EF779B}"/>
              </a:ext>
            </a:extLst>
          </p:cNvPr>
          <p:cNvSpPr>
            <a:spLocks xmlns:a="http://schemas.openxmlformats.org/drawingml/2006/main" noGrp="1"/>
          </p:cNvSpPr>
          <p:nvPr/>
        </p:nvSpPr>
        <p:spPr>
          <a:xfrm xmlns:a="http://schemas.openxmlformats.org/drawingml/2006/main">
            <a:off x="647700" y="3429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E7D8A"/>
                </a:solidFill>
                <a:latin typeface="Aptos"/>
                <a:ea typeface="Aptos"/>
                <a:cs typeface="Aptos"/>
              </a:defRPr>
            </a:pPr>
            <a:r>
              <a:rPr sz="900" b="1" i="0">
                <a:solidFill>
                  <a:srgbClr val="2E7D8A"/>
                </a:solidFill>
                <a:latin typeface="Aptos"/>
                <a:ea typeface="Aptos"/>
                <a:cs typeface="Aptos"/>
              </a:rPr>
              <a:t>APPENDIX</a:t>
            </a:r>
          </a:p>
        </p:txBody>
      </p:sp>
      <p:sp>
        <p:nvSpPr>
          <p:cNvPr id="2" name="">
            <a:extLst xmlns:a="http://schemas.openxmlformats.org/drawingml/2006/main">
              <a:ext uri="{FF2B5EF4-FFF2-40B4-BE49-F238E27FC236}">
                <a16:creationId xmlns:a16="http://schemas.microsoft.com/office/drawing/2014/main" id="{7EA8EBE2-CCC4-4249-B090-E9BC1535332C}"/>
              </a:ext>
            </a:extLst>
          </p:cNvPr>
          <p:cNvSpPr>
            <a:spLocks xmlns:a="http://schemas.openxmlformats.org/drawingml/2006/main" noGrp="1"/>
          </p:cNvSpPr>
          <p:nvPr/>
        </p:nvSpPr>
        <p:spPr>
          <a:xfrm xmlns:a="http://schemas.openxmlformats.org/drawingml/2006/main">
            <a:off x="6477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00" b="1" i="0">
                <a:solidFill>
                  <a:srgbClr val="0C3B32"/>
                </a:solidFill>
                <a:latin typeface="Aptos Display"/>
                <a:ea typeface="Aptos Display"/>
                <a:cs typeface="Aptos Display"/>
              </a:defRPr>
            </a:pPr>
            <a:r>
              <a:rPr sz="3000" b="1" i="0">
                <a:solidFill>
                  <a:srgbClr val="0C3B32"/>
                </a:solidFill>
                <a:latin typeface="Aptos Display"/>
                <a:ea typeface="Aptos Display"/>
                <a:cs typeface="Aptos Display"/>
              </a:rPr>
              <a:t>Selected scientific foundations</a:t>
            </a:r>
          </a:p>
        </p:txBody>
      </p:sp>
      <p:sp>
        <p:nvSpPr>
          <p:cNvPr id="3" name="">
            <a:extLst xmlns:a="http://schemas.openxmlformats.org/drawingml/2006/main">
              <a:ext uri="{FF2B5EF4-FFF2-40B4-BE49-F238E27FC236}">
                <a16:creationId xmlns:a16="http://schemas.microsoft.com/office/drawing/2014/main" id="{536A5FFC-547E-44F6-A725-F898693E9E44}"/>
              </a:ext>
            </a:extLst>
          </p:cNvPr>
          <p:cNvSpPr>
            <a:spLocks xmlns:a="http://schemas.openxmlformats.org/drawingml/2006/main" noGrp="1"/>
          </p:cNvSpPr>
          <p:nvPr/>
        </p:nvSpPr>
        <p:spPr>
          <a:xfrm xmlns:a="http://schemas.openxmlformats.org/drawingml/2006/main">
            <a:off x="647700" y="11811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5C6A70"/>
                </a:solidFill>
                <a:latin typeface="Aptos"/>
                <a:ea typeface="Aptos"/>
                <a:cs typeface="Aptos"/>
              </a:defRPr>
            </a:pPr>
            <a:r>
              <a:rPr sz="1275" b="0" i="0">
                <a:solidFill>
                  <a:srgbClr val="5C6A70"/>
                </a:solidFill>
                <a:latin typeface="Aptos"/>
                <a:ea typeface="Aptos"/>
                <a:cs typeface="Aptos"/>
              </a:rPr>
              <a:t>The equations in the SDK are documented as research abstractions linked to primary literature.</a:t>
            </a:r>
          </a:p>
        </p:txBody>
      </p:sp>
      <p:sp>
        <p:nvSpPr>
          <p:cNvPr id="4" name="">
            <a:extLst xmlns:a="http://schemas.openxmlformats.org/drawingml/2006/main">
              <a:ext uri="{FF2B5EF4-FFF2-40B4-BE49-F238E27FC236}">
                <a16:creationId xmlns:a16="http://schemas.microsoft.com/office/drawing/2014/main" id="{C1246FE5-DC43-435D-BC13-F7BBD6973A65}"/>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40F70D4-2762-4E72-8B22-190BC7A326D8}"/>
              </a:ext>
            </a:extLst>
          </p:cNvPr>
          <p:cNvSpPr>
            <a:spLocks xmlns:a="http://schemas.openxmlformats.org/drawingml/2006/main" noGrp="1"/>
          </p:cNvSpPr>
          <p:nvPr/>
        </p:nvSpPr>
        <p:spPr>
          <a:xfrm xmlns:a="http://schemas.openxmlformats.org/drawingml/2006/main">
            <a:off x="647700" y="1905000"/>
            <a:ext cx="5067300" cy="838200"/>
          </a:xfrm>
          <a:prstGeom xmlns:a="http://schemas.openxmlformats.org/drawingml/2006/main" prst="roundRect">
            <a:avLst>
              <a:gd name="adj" fmla="val 13636"/>
            </a:avLst>
          </a:prstGeom>
          <a:solidFill xmlns:a="http://schemas.openxmlformats.org/drawingml/2006/main">
            <a:srgbClr val="FFFDF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B32D29B-52FC-4E6F-A006-9EC574845754}"/>
              </a:ext>
            </a:extLst>
          </p:cNvPr>
          <p:cNvSpPr>
            <a:spLocks xmlns:a="http://schemas.openxmlformats.org/drawingml/2006/main" noGrp="1"/>
          </p:cNvSpPr>
          <p:nvPr/>
        </p:nvSpPr>
        <p:spPr>
          <a:xfrm xmlns:a="http://schemas.openxmlformats.org/drawingml/2006/main">
            <a:off x="819150" y="2038350"/>
            <a:ext cx="4724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C3B32"/>
                </a:solidFill>
                <a:latin typeface="Aptos Display"/>
                <a:ea typeface="Aptos Display"/>
                <a:cs typeface="Aptos Display"/>
              </a:defRPr>
            </a:pPr>
            <a:r>
              <a:rPr sz="1275" b="1" i="0">
                <a:solidFill>
                  <a:srgbClr val="0C3B32"/>
                </a:solidFill>
                <a:latin typeface="Aptos Display"/>
                <a:ea typeface="Aptos Display"/>
                <a:cs typeface="Aptos Display"/>
              </a:rPr>
              <a:t>Bergman et al. (1979)</a:t>
            </a:r>
          </a:p>
        </p:txBody>
      </p:sp>
      <p:sp>
        <p:nvSpPr>
          <p:cNvPr id="7" name="">
            <a:extLst xmlns:a="http://schemas.openxmlformats.org/drawingml/2006/main">
              <a:ext uri="{FF2B5EF4-FFF2-40B4-BE49-F238E27FC236}">
                <a16:creationId xmlns:a16="http://schemas.microsoft.com/office/drawing/2014/main" id="{6244B628-555F-4588-841E-BC3B15B32128}"/>
              </a:ext>
            </a:extLst>
          </p:cNvPr>
          <p:cNvSpPr>
            <a:spLocks xmlns:a="http://schemas.openxmlformats.org/drawingml/2006/main" noGrp="1"/>
          </p:cNvSpPr>
          <p:nvPr/>
        </p:nvSpPr>
        <p:spPr>
          <a:xfrm xmlns:a="http://schemas.openxmlformats.org/drawingml/2006/main">
            <a:off x="819150" y="2305050"/>
            <a:ext cx="4724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5C6A70"/>
                </a:solidFill>
                <a:latin typeface="Aptos"/>
                <a:ea typeface="Aptos"/>
                <a:cs typeface="Aptos"/>
              </a:defRPr>
            </a:pPr>
            <a:r>
              <a:rPr sz="975" b="0" i="0">
                <a:solidFill>
                  <a:srgbClr val="5C6A70"/>
                </a:solidFill>
                <a:latin typeface="Aptos"/>
                <a:ea typeface="Aptos"/>
                <a:cs typeface="Aptos"/>
              </a:rPr>
              <a:t>Quantitative estimation of insulin sensitivity.</a:t>
            </a:r>
          </a:p>
          <a:p xmlns:a="http://schemas.openxmlformats.org/drawingml/2006/main">
            <a:pPr algn="l">
              <a:lnSpc>
                <a:spcPct val="105000"/>
              </a:lnSpc>
              <a:buNone/>
              <a:defRPr sz="975" b="0" i="0">
                <a:solidFill>
                  <a:srgbClr val="5C6A70"/>
                </a:solidFill>
                <a:latin typeface="Aptos"/>
                <a:ea typeface="Aptos"/>
                <a:cs typeface="Aptos"/>
              </a:defRPr>
            </a:pPr>
            <a:r>
              <a:rPr sz="975" b="0" i="0">
                <a:solidFill>
                  <a:srgbClr val="5C6A70"/>
                </a:solidFill>
                <a:latin typeface="Aptos"/>
                <a:ea typeface="Aptos"/>
                <a:cs typeface="Aptos"/>
              </a:rPr>
              <a:t>DOI 10.1152/ajpendo.1979.236.6.E667</a:t>
            </a:r>
          </a:p>
        </p:txBody>
      </p:sp>
      <p:sp>
        <p:nvSpPr>
          <p:cNvPr id="8" name="">
            <a:extLst xmlns:a="http://schemas.openxmlformats.org/drawingml/2006/main">
              <a:ext uri="{FF2B5EF4-FFF2-40B4-BE49-F238E27FC236}">
                <a16:creationId xmlns:a16="http://schemas.microsoft.com/office/drawing/2014/main" id="{A6E2D25B-76B7-48F6-B0C6-E0CE327ABC24}"/>
              </a:ext>
            </a:extLst>
          </p:cNvPr>
          <p:cNvSpPr>
            <a:spLocks xmlns:a="http://schemas.openxmlformats.org/drawingml/2006/main" noGrp="1"/>
          </p:cNvSpPr>
          <p:nvPr/>
        </p:nvSpPr>
        <p:spPr>
          <a:xfrm xmlns:a="http://schemas.openxmlformats.org/drawingml/2006/main">
            <a:off x="647700" y="2895600"/>
            <a:ext cx="5067300" cy="838200"/>
          </a:xfrm>
          <a:prstGeom xmlns:a="http://schemas.openxmlformats.org/drawingml/2006/main" prst="roundRect">
            <a:avLst>
              <a:gd name="adj" fmla="val 13636"/>
            </a:avLst>
          </a:prstGeom>
          <a:solidFill xmlns:a="http://schemas.openxmlformats.org/drawingml/2006/main">
            <a:srgbClr val="E7F0F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DA6E261-1685-4BE4-9DD2-9DECA0875206}"/>
              </a:ext>
            </a:extLst>
          </p:cNvPr>
          <p:cNvSpPr>
            <a:spLocks xmlns:a="http://schemas.openxmlformats.org/drawingml/2006/main" noGrp="1"/>
          </p:cNvSpPr>
          <p:nvPr/>
        </p:nvSpPr>
        <p:spPr>
          <a:xfrm xmlns:a="http://schemas.openxmlformats.org/drawingml/2006/main">
            <a:off x="819150" y="3028950"/>
            <a:ext cx="4724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C3B32"/>
                </a:solidFill>
                <a:latin typeface="Aptos Display"/>
                <a:ea typeface="Aptos Display"/>
                <a:cs typeface="Aptos Display"/>
              </a:defRPr>
            </a:pPr>
            <a:r>
              <a:rPr sz="1275" b="1" i="0">
                <a:solidFill>
                  <a:srgbClr val="0C3B32"/>
                </a:solidFill>
                <a:latin typeface="Aptos Display"/>
                <a:ea typeface="Aptos Display"/>
                <a:cs typeface="Aptos Display"/>
              </a:rPr>
              <a:t>Hovorka et al. (2004)</a:t>
            </a:r>
          </a:p>
        </p:txBody>
      </p:sp>
      <p:sp>
        <p:nvSpPr>
          <p:cNvPr id="10" name="">
            <a:extLst xmlns:a="http://schemas.openxmlformats.org/drawingml/2006/main">
              <a:ext uri="{FF2B5EF4-FFF2-40B4-BE49-F238E27FC236}">
                <a16:creationId xmlns:a16="http://schemas.microsoft.com/office/drawing/2014/main" id="{921FA462-5424-4B5C-9FBE-D4673F731F57}"/>
              </a:ext>
            </a:extLst>
          </p:cNvPr>
          <p:cNvSpPr>
            <a:spLocks xmlns:a="http://schemas.openxmlformats.org/drawingml/2006/main" noGrp="1"/>
          </p:cNvSpPr>
          <p:nvPr/>
        </p:nvSpPr>
        <p:spPr>
          <a:xfrm xmlns:a="http://schemas.openxmlformats.org/drawingml/2006/main">
            <a:off x="819150" y="3295650"/>
            <a:ext cx="4724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5C6A70"/>
                </a:solidFill>
                <a:latin typeface="Aptos"/>
                <a:ea typeface="Aptos"/>
                <a:cs typeface="Aptos"/>
              </a:defRPr>
            </a:pPr>
            <a:r>
              <a:rPr sz="975" b="0" i="0">
                <a:solidFill>
                  <a:srgbClr val="5C6A70"/>
                </a:solidFill>
                <a:latin typeface="Aptos"/>
                <a:ea typeface="Aptos"/>
                <a:cs typeface="Aptos"/>
              </a:rPr>
              <a:t>Nonlinear MPC of glucose in type 1 diabetes.</a:t>
            </a:r>
          </a:p>
          <a:p xmlns:a="http://schemas.openxmlformats.org/drawingml/2006/main">
            <a:pPr algn="l">
              <a:lnSpc>
                <a:spcPct val="105000"/>
              </a:lnSpc>
              <a:buNone/>
              <a:defRPr sz="975" b="0" i="0">
                <a:solidFill>
                  <a:srgbClr val="5C6A70"/>
                </a:solidFill>
                <a:latin typeface="Aptos"/>
                <a:ea typeface="Aptos"/>
                <a:cs typeface="Aptos"/>
              </a:defRPr>
            </a:pPr>
            <a:r>
              <a:rPr sz="975" b="0" i="0">
                <a:solidFill>
                  <a:srgbClr val="5C6A70"/>
                </a:solidFill>
                <a:latin typeface="Aptos"/>
                <a:ea typeface="Aptos"/>
                <a:cs typeface="Aptos"/>
              </a:rPr>
              <a:t>DOI 10.1088/0967-3334/25/4/010</a:t>
            </a:r>
          </a:p>
        </p:txBody>
      </p:sp>
      <p:sp>
        <p:nvSpPr>
          <p:cNvPr id="11" name="">
            <a:extLst xmlns:a="http://schemas.openxmlformats.org/drawingml/2006/main">
              <a:ext uri="{FF2B5EF4-FFF2-40B4-BE49-F238E27FC236}">
                <a16:creationId xmlns:a16="http://schemas.microsoft.com/office/drawing/2014/main" id="{B0D0532F-A53D-4233-B78C-0889B478CFB3}"/>
              </a:ext>
            </a:extLst>
          </p:cNvPr>
          <p:cNvSpPr>
            <a:spLocks xmlns:a="http://schemas.openxmlformats.org/drawingml/2006/main" noGrp="1"/>
          </p:cNvSpPr>
          <p:nvPr/>
        </p:nvSpPr>
        <p:spPr>
          <a:xfrm xmlns:a="http://schemas.openxmlformats.org/drawingml/2006/main">
            <a:off x="647700" y="3886200"/>
            <a:ext cx="5067300" cy="838200"/>
          </a:xfrm>
          <a:prstGeom xmlns:a="http://schemas.openxmlformats.org/drawingml/2006/main" prst="roundRect">
            <a:avLst>
              <a:gd name="adj" fmla="val 13636"/>
            </a:avLst>
          </a:prstGeom>
          <a:solidFill xmlns:a="http://schemas.openxmlformats.org/drawingml/2006/main">
            <a:srgbClr val="FFFDF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3C0A5FB-2234-4376-BAE8-CC0BE59E9904}"/>
              </a:ext>
            </a:extLst>
          </p:cNvPr>
          <p:cNvSpPr>
            <a:spLocks xmlns:a="http://schemas.openxmlformats.org/drawingml/2006/main" noGrp="1"/>
          </p:cNvSpPr>
          <p:nvPr/>
        </p:nvSpPr>
        <p:spPr>
          <a:xfrm xmlns:a="http://schemas.openxmlformats.org/drawingml/2006/main">
            <a:off x="819150" y="4019550"/>
            <a:ext cx="4724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C3B32"/>
                </a:solidFill>
                <a:latin typeface="Aptos Display"/>
                <a:ea typeface="Aptos Display"/>
                <a:cs typeface="Aptos Display"/>
              </a:defRPr>
            </a:pPr>
            <a:r>
              <a:rPr sz="1275" b="1" i="0">
                <a:solidFill>
                  <a:srgbClr val="0C3B32"/>
                </a:solidFill>
                <a:latin typeface="Aptos Display"/>
                <a:ea typeface="Aptos Display"/>
                <a:cs typeface="Aptos Display"/>
              </a:rPr>
              <a:t>Dalla Man et al. (2007)</a:t>
            </a:r>
          </a:p>
        </p:txBody>
      </p:sp>
      <p:sp>
        <p:nvSpPr>
          <p:cNvPr id="13" name="">
            <a:extLst xmlns:a="http://schemas.openxmlformats.org/drawingml/2006/main">
              <a:ext uri="{FF2B5EF4-FFF2-40B4-BE49-F238E27FC236}">
                <a16:creationId xmlns:a16="http://schemas.microsoft.com/office/drawing/2014/main" id="{6166D84C-D131-470A-B363-E230E6882AFE}"/>
              </a:ext>
            </a:extLst>
          </p:cNvPr>
          <p:cNvSpPr>
            <a:spLocks xmlns:a="http://schemas.openxmlformats.org/drawingml/2006/main" noGrp="1"/>
          </p:cNvSpPr>
          <p:nvPr/>
        </p:nvSpPr>
        <p:spPr>
          <a:xfrm xmlns:a="http://schemas.openxmlformats.org/drawingml/2006/main">
            <a:off x="819150" y="4286250"/>
            <a:ext cx="4724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5C6A70"/>
                </a:solidFill>
                <a:latin typeface="Aptos"/>
                <a:ea typeface="Aptos"/>
                <a:cs typeface="Aptos"/>
              </a:defRPr>
            </a:pPr>
            <a:r>
              <a:rPr sz="975" b="0" i="0">
                <a:solidFill>
                  <a:srgbClr val="5C6A70"/>
                </a:solidFill>
                <a:latin typeface="Aptos"/>
                <a:ea typeface="Aptos"/>
                <a:cs typeface="Aptos"/>
              </a:rPr>
              <a:t>Meal simulation model of the glucose–insulin system.</a:t>
            </a:r>
          </a:p>
          <a:p xmlns:a="http://schemas.openxmlformats.org/drawingml/2006/main">
            <a:pPr algn="l">
              <a:lnSpc>
                <a:spcPct val="105000"/>
              </a:lnSpc>
              <a:buNone/>
              <a:defRPr sz="975" b="0" i="0">
                <a:solidFill>
                  <a:srgbClr val="5C6A70"/>
                </a:solidFill>
                <a:latin typeface="Aptos"/>
                <a:ea typeface="Aptos"/>
                <a:cs typeface="Aptos"/>
              </a:defRPr>
            </a:pPr>
            <a:r>
              <a:rPr sz="975" b="0" i="0">
                <a:solidFill>
                  <a:srgbClr val="5C6A70"/>
                </a:solidFill>
                <a:latin typeface="Aptos"/>
                <a:ea typeface="Aptos"/>
                <a:cs typeface="Aptos"/>
              </a:rPr>
              <a:t>DOI 10.1109/TBME.2007.893506</a:t>
            </a:r>
          </a:p>
        </p:txBody>
      </p:sp>
      <p:sp>
        <p:nvSpPr>
          <p:cNvPr id="14" name="">
            <a:extLst xmlns:a="http://schemas.openxmlformats.org/drawingml/2006/main">
              <a:ext uri="{FF2B5EF4-FFF2-40B4-BE49-F238E27FC236}">
                <a16:creationId xmlns:a16="http://schemas.microsoft.com/office/drawing/2014/main" id="{49D4EAE6-91E6-4B3D-AD09-148ACBB28E4B}"/>
              </a:ext>
            </a:extLst>
          </p:cNvPr>
          <p:cNvSpPr>
            <a:spLocks xmlns:a="http://schemas.openxmlformats.org/drawingml/2006/main" noGrp="1"/>
          </p:cNvSpPr>
          <p:nvPr/>
        </p:nvSpPr>
        <p:spPr>
          <a:xfrm xmlns:a="http://schemas.openxmlformats.org/drawingml/2006/main">
            <a:off x="647700" y="4876800"/>
            <a:ext cx="5067300" cy="838200"/>
          </a:xfrm>
          <a:prstGeom xmlns:a="http://schemas.openxmlformats.org/drawingml/2006/main" prst="roundRect">
            <a:avLst>
              <a:gd name="adj" fmla="val 13636"/>
            </a:avLst>
          </a:prstGeom>
          <a:solidFill xmlns:a="http://schemas.openxmlformats.org/drawingml/2006/main">
            <a:srgbClr val="E7F0F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5BE5556-F9FA-4744-B0FB-7DFC8383FB22}"/>
              </a:ext>
            </a:extLst>
          </p:cNvPr>
          <p:cNvSpPr>
            <a:spLocks xmlns:a="http://schemas.openxmlformats.org/drawingml/2006/main" noGrp="1"/>
          </p:cNvSpPr>
          <p:nvPr/>
        </p:nvSpPr>
        <p:spPr>
          <a:xfrm xmlns:a="http://schemas.openxmlformats.org/drawingml/2006/main">
            <a:off x="819150" y="5010150"/>
            <a:ext cx="4724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C3B32"/>
                </a:solidFill>
                <a:latin typeface="Aptos Display"/>
                <a:ea typeface="Aptos Display"/>
                <a:cs typeface="Aptos Display"/>
              </a:defRPr>
            </a:pPr>
            <a:r>
              <a:rPr sz="1275" b="1" i="0">
                <a:solidFill>
                  <a:srgbClr val="0C3B32"/>
                </a:solidFill>
                <a:latin typeface="Aptos Display"/>
                <a:ea typeface="Aptos Display"/>
                <a:cs typeface="Aptos Display"/>
              </a:rPr>
              <a:t>Wentholt et al. (2004)</a:t>
            </a:r>
          </a:p>
        </p:txBody>
      </p:sp>
      <p:sp>
        <p:nvSpPr>
          <p:cNvPr id="16" name="">
            <a:extLst xmlns:a="http://schemas.openxmlformats.org/drawingml/2006/main">
              <a:ext uri="{FF2B5EF4-FFF2-40B4-BE49-F238E27FC236}">
                <a16:creationId xmlns:a16="http://schemas.microsoft.com/office/drawing/2014/main" id="{CF87E222-9EA9-47C5-B749-33BCF12D00B3}"/>
              </a:ext>
            </a:extLst>
          </p:cNvPr>
          <p:cNvSpPr>
            <a:spLocks xmlns:a="http://schemas.openxmlformats.org/drawingml/2006/main" noGrp="1"/>
          </p:cNvSpPr>
          <p:nvPr/>
        </p:nvSpPr>
        <p:spPr>
          <a:xfrm xmlns:a="http://schemas.openxmlformats.org/drawingml/2006/main">
            <a:off x="819150" y="5276850"/>
            <a:ext cx="4724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5C6A70"/>
                </a:solidFill>
                <a:latin typeface="Aptos"/>
                <a:ea typeface="Aptos"/>
                <a:cs typeface="Aptos"/>
              </a:defRPr>
            </a:pPr>
            <a:r>
              <a:rPr sz="975" b="0" i="0">
                <a:solidFill>
                  <a:srgbClr val="5C6A70"/>
                </a:solidFill>
                <a:latin typeface="Aptos"/>
                <a:ea typeface="Aptos"/>
                <a:cs typeface="Aptos"/>
              </a:rPr>
              <a:t>CGM measurement and glucose-sensor context.</a:t>
            </a:r>
          </a:p>
          <a:p xmlns:a="http://schemas.openxmlformats.org/drawingml/2006/main">
            <a:pPr algn="l">
              <a:lnSpc>
                <a:spcPct val="105000"/>
              </a:lnSpc>
              <a:buNone/>
              <a:defRPr sz="975" b="0" i="0">
                <a:solidFill>
                  <a:srgbClr val="5C6A70"/>
                </a:solidFill>
                <a:latin typeface="Aptos"/>
                <a:ea typeface="Aptos"/>
                <a:cs typeface="Aptos"/>
              </a:defRPr>
            </a:pPr>
            <a:r>
              <a:rPr sz="975" b="0" i="0">
                <a:solidFill>
                  <a:srgbClr val="5C6A70"/>
                </a:solidFill>
                <a:latin typeface="Aptos"/>
                <a:ea typeface="Aptos"/>
                <a:cs typeface="Aptos"/>
              </a:rPr>
              <a:t>DOI 10.1089/dia.2004.6.615</a:t>
            </a:r>
          </a:p>
        </p:txBody>
      </p:sp>
      <p:sp>
        <p:nvSpPr>
          <p:cNvPr id="17" name="">
            <a:extLst xmlns:a="http://schemas.openxmlformats.org/drawingml/2006/main">
              <a:ext uri="{FF2B5EF4-FFF2-40B4-BE49-F238E27FC236}">
                <a16:creationId xmlns:a16="http://schemas.microsoft.com/office/drawing/2014/main" id="{DF15BE40-1867-4EE4-B16C-7DD40EC135BD}"/>
              </a:ext>
            </a:extLst>
          </p:cNvPr>
          <p:cNvSpPr>
            <a:spLocks xmlns:a="http://schemas.openxmlformats.org/drawingml/2006/main" noGrp="1"/>
          </p:cNvSpPr>
          <p:nvPr/>
        </p:nvSpPr>
        <p:spPr>
          <a:xfrm xmlns:a="http://schemas.openxmlformats.org/drawingml/2006/main">
            <a:off x="6477000" y="1905000"/>
            <a:ext cx="5067300" cy="838200"/>
          </a:xfrm>
          <a:prstGeom xmlns:a="http://schemas.openxmlformats.org/drawingml/2006/main" prst="roundRect">
            <a:avLst>
              <a:gd name="adj" fmla="val 13636"/>
            </a:avLst>
          </a:prstGeom>
          <a:solidFill xmlns:a="http://schemas.openxmlformats.org/drawingml/2006/main">
            <a:srgbClr val="FFFDF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F0A405F-4297-4190-B543-9406F4766359}"/>
              </a:ext>
            </a:extLst>
          </p:cNvPr>
          <p:cNvSpPr>
            <a:spLocks xmlns:a="http://schemas.openxmlformats.org/drawingml/2006/main" noGrp="1"/>
          </p:cNvSpPr>
          <p:nvPr/>
        </p:nvSpPr>
        <p:spPr>
          <a:xfrm xmlns:a="http://schemas.openxmlformats.org/drawingml/2006/main">
            <a:off x="6648450" y="2038350"/>
            <a:ext cx="4724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C3B32"/>
                </a:solidFill>
                <a:latin typeface="Aptos Display"/>
                <a:ea typeface="Aptos Display"/>
                <a:cs typeface="Aptos Display"/>
              </a:defRPr>
            </a:pPr>
            <a:r>
              <a:rPr sz="1275" b="1" i="0">
                <a:solidFill>
                  <a:srgbClr val="0C3B32"/>
                </a:solidFill>
                <a:latin typeface="Aptos Display"/>
                <a:ea typeface="Aptos Display"/>
                <a:cs typeface="Aptos Display"/>
              </a:rPr>
              <a:t>Gerich et al. (1979)</a:t>
            </a:r>
          </a:p>
        </p:txBody>
      </p:sp>
      <p:sp>
        <p:nvSpPr>
          <p:cNvPr id="19" name="">
            <a:extLst xmlns:a="http://schemas.openxmlformats.org/drawingml/2006/main">
              <a:ext uri="{FF2B5EF4-FFF2-40B4-BE49-F238E27FC236}">
                <a16:creationId xmlns:a16="http://schemas.microsoft.com/office/drawing/2014/main" id="{9CB12F7D-C484-49F5-BA5A-D23880429DA1}"/>
              </a:ext>
            </a:extLst>
          </p:cNvPr>
          <p:cNvSpPr>
            <a:spLocks xmlns:a="http://schemas.openxmlformats.org/drawingml/2006/main" noGrp="1"/>
          </p:cNvSpPr>
          <p:nvPr/>
        </p:nvSpPr>
        <p:spPr>
          <a:xfrm xmlns:a="http://schemas.openxmlformats.org/drawingml/2006/main">
            <a:off x="6648450" y="2305050"/>
            <a:ext cx="4724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5C6A70"/>
                </a:solidFill>
                <a:latin typeface="Aptos"/>
                <a:ea typeface="Aptos"/>
                <a:cs typeface="Aptos"/>
              </a:defRPr>
            </a:pPr>
            <a:r>
              <a:rPr sz="975" b="0" i="0">
                <a:solidFill>
                  <a:srgbClr val="5C6A70"/>
                </a:solidFill>
                <a:latin typeface="Aptos"/>
                <a:ea typeface="Aptos"/>
                <a:cs typeface="Aptos"/>
              </a:rPr>
              <a:t>Hormonal recovery from insulin-induced hypoglycaemia.</a:t>
            </a:r>
          </a:p>
          <a:p xmlns:a="http://schemas.openxmlformats.org/drawingml/2006/main">
            <a:pPr algn="l">
              <a:lnSpc>
                <a:spcPct val="105000"/>
              </a:lnSpc>
              <a:buNone/>
              <a:defRPr sz="975" b="0" i="0">
                <a:solidFill>
                  <a:srgbClr val="5C6A70"/>
                </a:solidFill>
                <a:latin typeface="Aptos"/>
                <a:ea typeface="Aptos"/>
                <a:cs typeface="Aptos"/>
              </a:defRPr>
            </a:pPr>
            <a:r>
              <a:rPr sz="975" b="0" i="0">
                <a:solidFill>
                  <a:srgbClr val="5C6A70"/>
                </a:solidFill>
                <a:latin typeface="Aptos"/>
                <a:ea typeface="Aptos"/>
                <a:cs typeface="Aptos"/>
              </a:rPr>
              <a:t>DOI 10.1152/ajpendo.1979.236.4.E380</a:t>
            </a:r>
          </a:p>
        </p:txBody>
      </p:sp>
      <p:sp>
        <p:nvSpPr>
          <p:cNvPr id="20" name="">
            <a:extLst xmlns:a="http://schemas.openxmlformats.org/drawingml/2006/main">
              <a:ext uri="{FF2B5EF4-FFF2-40B4-BE49-F238E27FC236}">
                <a16:creationId xmlns:a16="http://schemas.microsoft.com/office/drawing/2014/main" id="{5C415D8C-AD90-45CE-BCB7-A4F5C31F07E9}"/>
              </a:ext>
            </a:extLst>
          </p:cNvPr>
          <p:cNvSpPr>
            <a:spLocks xmlns:a="http://schemas.openxmlformats.org/drawingml/2006/main" noGrp="1"/>
          </p:cNvSpPr>
          <p:nvPr/>
        </p:nvSpPr>
        <p:spPr>
          <a:xfrm xmlns:a="http://schemas.openxmlformats.org/drawingml/2006/main">
            <a:off x="6477000" y="2895600"/>
            <a:ext cx="5067300" cy="838200"/>
          </a:xfrm>
          <a:prstGeom xmlns:a="http://schemas.openxmlformats.org/drawingml/2006/main" prst="roundRect">
            <a:avLst>
              <a:gd name="adj" fmla="val 13636"/>
            </a:avLst>
          </a:prstGeom>
          <a:solidFill xmlns:a="http://schemas.openxmlformats.org/drawingml/2006/main">
            <a:srgbClr val="E7F0F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8E8DADF-DCBA-4D94-9197-3ABC58EC83F5}"/>
              </a:ext>
            </a:extLst>
          </p:cNvPr>
          <p:cNvSpPr>
            <a:spLocks xmlns:a="http://schemas.openxmlformats.org/drawingml/2006/main" noGrp="1"/>
          </p:cNvSpPr>
          <p:nvPr/>
        </p:nvSpPr>
        <p:spPr>
          <a:xfrm xmlns:a="http://schemas.openxmlformats.org/drawingml/2006/main">
            <a:off x="6648450" y="3028950"/>
            <a:ext cx="4724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C3B32"/>
                </a:solidFill>
                <a:latin typeface="Aptos Display"/>
                <a:ea typeface="Aptos Display"/>
                <a:cs typeface="Aptos Display"/>
              </a:defRPr>
            </a:pPr>
            <a:r>
              <a:rPr sz="1275" b="1" i="0">
                <a:solidFill>
                  <a:srgbClr val="0C3B32"/>
                </a:solidFill>
                <a:latin typeface="Aptos Display"/>
                <a:ea typeface="Aptos Display"/>
                <a:cs typeface="Aptos Display"/>
              </a:rPr>
              <a:t>Cryer (2013)</a:t>
            </a:r>
          </a:p>
        </p:txBody>
      </p:sp>
      <p:sp>
        <p:nvSpPr>
          <p:cNvPr id="22" name="">
            <a:extLst xmlns:a="http://schemas.openxmlformats.org/drawingml/2006/main">
              <a:ext uri="{FF2B5EF4-FFF2-40B4-BE49-F238E27FC236}">
                <a16:creationId xmlns:a16="http://schemas.microsoft.com/office/drawing/2014/main" id="{50F64F69-3A3E-4BC9-919B-43401FF53627}"/>
              </a:ext>
            </a:extLst>
          </p:cNvPr>
          <p:cNvSpPr>
            <a:spLocks xmlns:a="http://schemas.openxmlformats.org/drawingml/2006/main" noGrp="1"/>
          </p:cNvSpPr>
          <p:nvPr/>
        </p:nvSpPr>
        <p:spPr>
          <a:xfrm xmlns:a="http://schemas.openxmlformats.org/drawingml/2006/main">
            <a:off x="6648450" y="3295650"/>
            <a:ext cx="4724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5C6A70"/>
                </a:solidFill>
                <a:latin typeface="Aptos"/>
                <a:ea typeface="Aptos"/>
                <a:cs typeface="Aptos"/>
              </a:defRPr>
            </a:pPr>
            <a:r>
              <a:rPr sz="975" b="0" i="0">
                <a:solidFill>
                  <a:srgbClr val="5C6A70"/>
                </a:solidFill>
                <a:latin typeface="Aptos"/>
                <a:ea typeface="Aptos"/>
                <a:cs typeface="Aptos"/>
              </a:rPr>
              <a:t>Mechanisms of hypoglycaemia-associated autonomic failure.</a:t>
            </a:r>
          </a:p>
          <a:p xmlns:a="http://schemas.openxmlformats.org/drawingml/2006/main">
            <a:pPr algn="l">
              <a:lnSpc>
                <a:spcPct val="105000"/>
              </a:lnSpc>
              <a:buNone/>
              <a:defRPr sz="975" b="0" i="0">
                <a:solidFill>
                  <a:srgbClr val="5C6A70"/>
                </a:solidFill>
                <a:latin typeface="Aptos"/>
                <a:ea typeface="Aptos"/>
                <a:cs typeface="Aptos"/>
              </a:defRPr>
            </a:pPr>
            <a:r>
              <a:rPr sz="975" b="0" i="0">
                <a:solidFill>
                  <a:srgbClr val="5C6A70"/>
                </a:solidFill>
                <a:latin typeface="Aptos"/>
                <a:ea typeface="Aptos"/>
                <a:cs typeface="Aptos"/>
              </a:rPr>
              <a:t>DOI 10.1056/NEJMra1215228</a:t>
            </a:r>
          </a:p>
        </p:txBody>
      </p:sp>
      <p:sp>
        <p:nvSpPr>
          <p:cNvPr id="23" name="">
            <a:extLst xmlns:a="http://schemas.openxmlformats.org/drawingml/2006/main">
              <a:ext uri="{FF2B5EF4-FFF2-40B4-BE49-F238E27FC236}">
                <a16:creationId xmlns:a16="http://schemas.microsoft.com/office/drawing/2014/main" id="{5B1442B4-F4E5-4929-8FF1-3A3EFCE02D3E}"/>
              </a:ext>
            </a:extLst>
          </p:cNvPr>
          <p:cNvSpPr>
            <a:spLocks xmlns:a="http://schemas.openxmlformats.org/drawingml/2006/main" noGrp="1"/>
          </p:cNvSpPr>
          <p:nvPr/>
        </p:nvSpPr>
        <p:spPr>
          <a:xfrm xmlns:a="http://schemas.openxmlformats.org/drawingml/2006/main">
            <a:off x="6477000" y="3886200"/>
            <a:ext cx="5067300" cy="838200"/>
          </a:xfrm>
          <a:prstGeom xmlns:a="http://schemas.openxmlformats.org/drawingml/2006/main" prst="roundRect">
            <a:avLst>
              <a:gd name="adj" fmla="val 13636"/>
            </a:avLst>
          </a:prstGeom>
          <a:solidFill xmlns:a="http://schemas.openxmlformats.org/drawingml/2006/main">
            <a:srgbClr val="FFFDF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76413B7-F967-4420-BCCA-0A8E25A474C9}"/>
              </a:ext>
            </a:extLst>
          </p:cNvPr>
          <p:cNvSpPr>
            <a:spLocks xmlns:a="http://schemas.openxmlformats.org/drawingml/2006/main" noGrp="1"/>
          </p:cNvSpPr>
          <p:nvPr/>
        </p:nvSpPr>
        <p:spPr>
          <a:xfrm xmlns:a="http://schemas.openxmlformats.org/drawingml/2006/main">
            <a:off x="6648450" y="4019550"/>
            <a:ext cx="4724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C3B32"/>
                </a:solidFill>
                <a:latin typeface="Aptos Display"/>
                <a:ea typeface="Aptos Display"/>
                <a:cs typeface="Aptos Display"/>
              </a:defRPr>
            </a:pPr>
            <a:r>
              <a:rPr sz="1275" b="1" i="0">
                <a:solidFill>
                  <a:srgbClr val="0C3B32"/>
                </a:solidFill>
                <a:latin typeface="Aptos Display"/>
                <a:ea typeface="Aptos Display"/>
                <a:cs typeface="Aptos Display"/>
              </a:rPr>
              <a:t>Lv, Breton &amp; Farhy (2013)</a:t>
            </a:r>
          </a:p>
        </p:txBody>
      </p:sp>
      <p:sp>
        <p:nvSpPr>
          <p:cNvPr id="25" name="">
            <a:extLst xmlns:a="http://schemas.openxmlformats.org/drawingml/2006/main">
              <a:ext uri="{FF2B5EF4-FFF2-40B4-BE49-F238E27FC236}">
                <a16:creationId xmlns:a16="http://schemas.microsoft.com/office/drawing/2014/main" id="{434902E6-4663-4F3D-8E9A-196495EA1119}"/>
              </a:ext>
            </a:extLst>
          </p:cNvPr>
          <p:cNvSpPr>
            <a:spLocks xmlns:a="http://schemas.openxmlformats.org/drawingml/2006/main" noGrp="1"/>
          </p:cNvSpPr>
          <p:nvPr/>
        </p:nvSpPr>
        <p:spPr>
          <a:xfrm xmlns:a="http://schemas.openxmlformats.org/drawingml/2006/main">
            <a:off x="6648450" y="4286250"/>
            <a:ext cx="4724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5C6A70"/>
                </a:solidFill>
                <a:latin typeface="Aptos"/>
                <a:ea typeface="Aptos"/>
                <a:cs typeface="Aptos"/>
              </a:defRPr>
            </a:pPr>
            <a:r>
              <a:rPr sz="975" b="0" i="0">
                <a:solidFill>
                  <a:srgbClr val="5C6A70"/>
                </a:solidFill>
                <a:latin typeface="Aptos"/>
                <a:ea typeface="Aptos"/>
                <a:cs typeface="Aptos"/>
              </a:rPr>
              <a:t>Exogenous glucagon pharmacokinetics in T1D.</a:t>
            </a:r>
          </a:p>
          <a:p xmlns:a="http://schemas.openxmlformats.org/drawingml/2006/main">
            <a:pPr algn="l">
              <a:lnSpc>
                <a:spcPct val="105000"/>
              </a:lnSpc>
              <a:buNone/>
              <a:defRPr sz="975" b="0" i="0">
                <a:solidFill>
                  <a:srgbClr val="5C6A70"/>
                </a:solidFill>
                <a:latin typeface="Aptos"/>
                <a:ea typeface="Aptos"/>
                <a:cs typeface="Aptos"/>
              </a:defRPr>
            </a:pPr>
            <a:r>
              <a:rPr sz="975" b="0" i="0">
                <a:solidFill>
                  <a:srgbClr val="5C6A70"/>
                </a:solidFill>
                <a:latin typeface="Aptos"/>
                <a:ea typeface="Aptos"/>
                <a:cs typeface="Aptos"/>
              </a:rPr>
              <a:t>DOI 10.1089/dia.2013.0150</a:t>
            </a:r>
          </a:p>
        </p:txBody>
      </p:sp>
      <p:sp>
        <p:nvSpPr>
          <p:cNvPr id="26" name="">
            <a:extLst xmlns:a="http://schemas.openxmlformats.org/drawingml/2006/main">
              <a:ext uri="{FF2B5EF4-FFF2-40B4-BE49-F238E27FC236}">
                <a16:creationId xmlns:a16="http://schemas.microsoft.com/office/drawing/2014/main" id="{6C219FF8-39C3-4A15-9E09-1BB4DC6A6912}"/>
              </a:ext>
            </a:extLst>
          </p:cNvPr>
          <p:cNvSpPr>
            <a:spLocks xmlns:a="http://schemas.openxmlformats.org/drawingml/2006/main" noGrp="1"/>
          </p:cNvSpPr>
          <p:nvPr/>
        </p:nvSpPr>
        <p:spPr>
          <a:xfrm xmlns:a="http://schemas.openxmlformats.org/drawingml/2006/main">
            <a:off x="6477000" y="4876800"/>
            <a:ext cx="5067300" cy="838200"/>
          </a:xfrm>
          <a:prstGeom xmlns:a="http://schemas.openxmlformats.org/drawingml/2006/main" prst="roundRect">
            <a:avLst>
              <a:gd name="adj" fmla="val 13636"/>
            </a:avLst>
          </a:prstGeom>
          <a:solidFill xmlns:a="http://schemas.openxmlformats.org/drawingml/2006/main">
            <a:srgbClr val="E7F0F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7699942-14A3-4489-A84C-CD7F11FC9EEF}"/>
              </a:ext>
            </a:extLst>
          </p:cNvPr>
          <p:cNvSpPr>
            <a:spLocks xmlns:a="http://schemas.openxmlformats.org/drawingml/2006/main" noGrp="1"/>
          </p:cNvSpPr>
          <p:nvPr/>
        </p:nvSpPr>
        <p:spPr>
          <a:xfrm xmlns:a="http://schemas.openxmlformats.org/drawingml/2006/main">
            <a:off x="6648450" y="5010150"/>
            <a:ext cx="4724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C3B32"/>
                </a:solidFill>
                <a:latin typeface="Aptos Display"/>
                <a:ea typeface="Aptos Display"/>
                <a:cs typeface="Aptos Display"/>
              </a:defRPr>
            </a:pPr>
            <a:r>
              <a:rPr sz="1275" b="1" i="0">
                <a:solidFill>
                  <a:srgbClr val="0C3B32"/>
                </a:solidFill>
                <a:latin typeface="Aptos Display"/>
                <a:ea typeface="Aptos Display"/>
                <a:cs typeface="Aptos Display"/>
              </a:rPr>
              <a:t>Marling &amp; Bunescu (2020)</a:t>
            </a:r>
          </a:p>
        </p:txBody>
      </p:sp>
      <p:sp>
        <p:nvSpPr>
          <p:cNvPr id="28" name="">
            <a:extLst xmlns:a="http://schemas.openxmlformats.org/drawingml/2006/main">
              <a:ext uri="{FF2B5EF4-FFF2-40B4-BE49-F238E27FC236}">
                <a16:creationId xmlns:a16="http://schemas.microsoft.com/office/drawing/2014/main" id="{7E210315-5905-44CC-9D43-4C47F4D8509C}"/>
              </a:ext>
            </a:extLst>
          </p:cNvPr>
          <p:cNvSpPr>
            <a:spLocks xmlns:a="http://schemas.openxmlformats.org/drawingml/2006/main" noGrp="1"/>
          </p:cNvSpPr>
          <p:nvPr/>
        </p:nvSpPr>
        <p:spPr>
          <a:xfrm xmlns:a="http://schemas.openxmlformats.org/drawingml/2006/main">
            <a:off x="6648450" y="5276850"/>
            <a:ext cx="4724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5C6A70"/>
                </a:solidFill>
                <a:latin typeface="Aptos"/>
                <a:ea typeface="Aptos"/>
                <a:cs typeface="Aptos"/>
              </a:defRPr>
            </a:pPr>
            <a:r>
              <a:rPr sz="975" b="0" i="0">
                <a:solidFill>
                  <a:srgbClr val="5C6A70"/>
                </a:solidFill>
                <a:latin typeface="Aptos"/>
                <a:ea typeface="Aptos"/>
                <a:cs typeface="Aptos"/>
              </a:rPr>
              <a:t>OhioT1DM dataset update 2020.</a:t>
            </a:r>
          </a:p>
          <a:p xmlns:a="http://schemas.openxmlformats.org/drawingml/2006/main">
            <a:pPr algn="l">
              <a:lnSpc>
                <a:spcPct val="105000"/>
              </a:lnSpc>
              <a:buNone/>
              <a:defRPr sz="975" b="0" i="0">
                <a:solidFill>
                  <a:srgbClr val="5C6A70"/>
                </a:solidFill>
                <a:latin typeface="Aptos"/>
                <a:ea typeface="Aptos"/>
                <a:cs typeface="Aptos"/>
              </a:defRPr>
            </a:pPr>
            <a:r>
              <a:rPr sz="975" b="0" i="0">
                <a:solidFill>
                  <a:srgbClr val="5C6A70"/>
                </a:solidFill>
                <a:latin typeface="Aptos"/>
                <a:ea typeface="Aptos"/>
                <a:cs typeface="Aptos"/>
              </a:rPr>
              <a:t>CEUR Workshop Proceedings, Vol. 2675</a:t>
            </a:r>
          </a:p>
        </p:txBody>
      </p:sp>
      <p:sp>
        <p:nvSpPr>
          <p:cNvPr id="29" name="">
            <a:extLst xmlns:a="http://schemas.openxmlformats.org/drawingml/2006/main">
              <a:ext uri="{FF2B5EF4-FFF2-40B4-BE49-F238E27FC236}">
                <a16:creationId xmlns:a16="http://schemas.microsoft.com/office/drawing/2014/main" id="{A76267C6-B963-432F-8490-23B9FD5226F5}"/>
              </a:ext>
            </a:extLst>
          </p:cNvPr>
          <p:cNvSpPr>
            <a:spLocks xmlns:a="http://schemas.openxmlformats.org/drawingml/2006/main" noGrp="1"/>
          </p:cNvSpPr>
          <p:nvPr/>
        </p:nvSpPr>
        <p:spPr>
          <a:xfrm xmlns:a="http://schemas.openxmlformats.org/drawingml/2006/main">
            <a:off x="3143250" y="5905500"/>
            <a:ext cx="5905500" cy="304800"/>
          </a:xfrm>
          <a:prstGeom xmlns:a="http://schemas.openxmlformats.org/drawingml/2006/main" prst="roundRect">
            <a:avLst>
              <a:gd name="adj" fmla="val 37500"/>
            </a:avLst>
          </a:prstGeom>
          <a:solidFill xmlns:a="http://schemas.openxmlformats.org/drawingml/2006/main">
            <a:srgbClr val="0C3B3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B7ACB4C3-8920-4D4F-B5BE-4192D9DC51BA}"/>
              </a:ext>
            </a:extLst>
          </p:cNvPr>
          <p:cNvSpPr>
            <a:spLocks xmlns:a="http://schemas.openxmlformats.org/drawingml/2006/main" noGrp="1"/>
          </p:cNvSpPr>
          <p:nvPr/>
        </p:nvSpPr>
        <p:spPr>
          <a:xfrm xmlns:a="http://schemas.openxmlformats.org/drawingml/2006/main">
            <a:off x="3238500" y="59436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FFFFFF"/>
                </a:solidFill>
                <a:latin typeface="Aptos"/>
                <a:ea typeface="Aptos"/>
                <a:cs typeface="Aptos"/>
              </a:defRPr>
            </a:pPr>
            <a:r>
              <a:rPr sz="1050" b="1" i="0">
                <a:solidFill>
                  <a:srgbClr val="FFFFFF"/>
                </a:solidFill>
                <a:latin typeface="Aptos"/>
                <a:ea typeface="Aptos"/>
                <a:cs typeface="Aptos"/>
              </a:rPr>
              <a:t>FULL SOURCE TRAIL: docs/EVIDENCE_BASE.md + docs/SOURCE_LIBRARY.md</a:t>
            </a:r>
          </a:p>
        </p:txBody>
      </p:sp>
      <p:sp>
        <p:nvSpPr>
          <p:cNvPr id="31" name="">
            <a:extLst xmlns:a="http://schemas.openxmlformats.org/drawingml/2006/main">
              <a:ext uri="{FF2B5EF4-FFF2-40B4-BE49-F238E27FC236}">
                <a16:creationId xmlns:a16="http://schemas.microsoft.com/office/drawing/2014/main" id="{AAA22B58-EDEA-4AAF-BB0F-BD258D5A21AE}"/>
              </a:ext>
            </a:extLst>
          </p:cNvPr>
          <p:cNvSpPr>
            <a:spLocks xmlns:a="http://schemas.openxmlformats.org/drawingml/2006/main" noGrp="1"/>
          </p:cNvSpPr>
          <p:nvPr/>
        </p:nvSpPr>
        <p:spPr>
          <a:xfrm xmlns:a="http://schemas.openxmlformats.org/drawingml/2006/main">
            <a:off x="647700" y="621030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0" i="0">
                <a:solidFill>
                  <a:srgbClr val="5C6A70"/>
                </a:solidFill>
                <a:latin typeface="Aptos"/>
                <a:ea typeface="Aptos"/>
                <a:cs typeface="Aptos"/>
              </a:defRPr>
            </a:pPr>
            <a:r>
              <a:rPr sz="750" b="0" i="0">
                <a:solidFill>
                  <a:srgbClr val="5C6A70"/>
                </a:solidFill>
                <a:latin typeface="Aptos"/>
                <a:ea typeface="Aptos"/>
                <a:cs typeface="Aptos"/>
              </a:rPr>
              <a:t>Repository snapshot: IINTS-AF SDK v1.5.15 plus current research worktree, June 2026.</a:t>
            </a:r>
          </a:p>
        </p:txBody>
      </p:sp>
      <p:sp>
        <p:nvSpPr>
          <p:cNvPr id="32" name="">
            <a:extLst xmlns:a="http://schemas.openxmlformats.org/drawingml/2006/main">
              <a:ext uri="{FF2B5EF4-FFF2-40B4-BE49-F238E27FC236}">
                <a16:creationId xmlns:a16="http://schemas.microsoft.com/office/drawing/2014/main" id="{FAFB470B-6F9F-469A-AF7A-D82890F57435}"/>
              </a:ext>
            </a:extLst>
          </p:cNvPr>
          <p:cNvSpPr>
            <a:spLocks xmlns:a="http://schemas.openxmlformats.org/drawingml/2006/main" noGrp="1"/>
          </p:cNvSpPr>
          <p:nvPr/>
        </p:nvSpPr>
        <p:spPr>
          <a:xfrm xmlns:a="http://schemas.openxmlformats.org/drawingml/2006/main">
            <a:off x="647700" y="6467475"/>
            <a:ext cx="10896600" cy="9525"/>
          </a:xfrm>
          <a:prstGeom xmlns:a="http://schemas.openxmlformats.org/drawingml/2006/main" prst="rect">
            <a:avLst/>
          </a:prstGeom>
          <a:solidFill xmlns:a="http://schemas.openxmlformats.org/drawingml/2006/main">
            <a:srgbClr val="C9D1CC"/>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CCDC810-10FB-47D5-B22C-47E1D434041E}"/>
              </a:ext>
            </a:extLst>
          </p:cNvPr>
          <p:cNvSpPr>
            <a:spLocks xmlns:a="http://schemas.openxmlformats.org/drawingml/2006/main" noGrp="1"/>
          </p:cNvSpPr>
          <p:nvPr/>
        </p:nvSpPr>
        <p:spPr>
          <a:xfrm xmlns:a="http://schemas.openxmlformats.org/drawingml/2006/main">
            <a:off x="647700" y="6553200"/>
            <a:ext cx="495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C6A70"/>
                </a:solidFill>
                <a:latin typeface="Aptos"/>
                <a:ea typeface="Aptos"/>
                <a:cs typeface="Aptos"/>
              </a:defRPr>
            </a:pPr>
            <a:r>
              <a:rPr sz="750" b="1" i="0">
                <a:solidFill>
                  <a:srgbClr val="5C6A70"/>
                </a:solidFill>
                <a:latin typeface="Aptos"/>
                <a:ea typeface="Aptos"/>
                <a:cs typeface="Aptos"/>
              </a:rPr>
              <a:t>RESEARCH &amp; EDUCATION ONLY · NOT A MEDICAL DEVICE</a:t>
            </a:r>
          </a:p>
        </p:txBody>
      </p:sp>
      <p:sp>
        <p:nvSpPr>
          <p:cNvPr id="34" name="">
            <a:extLst xmlns:a="http://schemas.openxmlformats.org/drawingml/2006/main">
              <a:ext uri="{FF2B5EF4-FFF2-40B4-BE49-F238E27FC236}">
                <a16:creationId xmlns:a16="http://schemas.microsoft.com/office/drawing/2014/main" id="{BC7E7B62-7171-4A7C-ABD9-132E92A3FF13}"/>
              </a:ext>
            </a:extLst>
          </p:cNvPr>
          <p:cNvSpPr>
            <a:spLocks xmlns:a="http://schemas.openxmlformats.org/drawingml/2006/main" noGrp="1"/>
          </p:cNvSpPr>
          <p:nvPr/>
        </p:nvSpPr>
        <p:spPr>
          <a:xfrm xmlns:a="http://schemas.openxmlformats.org/drawingml/2006/main">
            <a:off x="11096625" y="6534150"/>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1" i="0">
                <a:solidFill>
                  <a:srgbClr val="0C3B32"/>
                </a:solidFill>
                <a:latin typeface="Aptos"/>
                <a:ea typeface="Aptos"/>
                <a:cs typeface="Aptos"/>
              </a:defRPr>
            </a:pPr>
            <a:r>
              <a:rPr sz="900" b="1" i="0">
                <a:solidFill>
                  <a:srgbClr val="0C3B32"/>
                </a:solidFill>
                <a:latin typeface="Aptos"/>
                <a:ea typeface="Aptos"/>
                <a:cs typeface="Aptos"/>
              </a:rPr>
              <a:t>16</a:t>
            </a:r>
          </a:p>
        </p:txBody>
      </p:sp>
    </p:spTree>
    <p:extLst>
      <p:ext uri="{BB962C8B-B14F-4D97-AF65-F5344CB8AC3E}">
        <p14:creationId xmlns:p14="http://schemas.microsoft.com/office/powerpoint/2010/main" val="7615696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2026-06-18T14:37:09.4270000Z</dcterms:created>
  <dcterms:modified xsi:type="dcterms:W3CDTF">2026-06-18T14:37:09.4270000Z</dcterms:modified>
</coreProperties>
</file>