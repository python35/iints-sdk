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5534cba1e942a0" /><Relationship Type="http://schemas.openxmlformats.org/officeDocument/2006/relationships/extended-properties" Target="/docProps/app.xml" Id="Re8a7397a9cfd454f" /><Relationship Type="http://schemas.openxmlformats.org/officeDocument/2006/relationships/officeDocument" Target="/ppt/presentation.xml" Id="R31350ce90696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979e86e17f43de"/>
  </p:sldMasterIdLst>
  <p:notesMasterIdLst>
    <p:notesMasterId xmlns:r="http://schemas.openxmlformats.org/officeDocument/2006/relationships" r:id="R69e6245a76d74fc8"/>
  </p:notesMasterIdLst>
  <p:sldIdLst>
    <p:sldId xmlns:r="http://schemas.openxmlformats.org/officeDocument/2006/relationships" id="256" r:id="Rea349bda16f04ef1"/>
    <p:sldId xmlns:r="http://schemas.openxmlformats.org/officeDocument/2006/relationships" id="257" r:id="R2b421c1039104411"/>
    <p:sldId xmlns:r="http://schemas.openxmlformats.org/officeDocument/2006/relationships" id="258" r:id="Rb6c3239a33974e29"/>
    <p:sldId xmlns:r="http://schemas.openxmlformats.org/officeDocument/2006/relationships" id="259" r:id="Rd3fdcb7ee09e4192"/>
    <p:sldId xmlns:r="http://schemas.openxmlformats.org/officeDocument/2006/relationships" id="260" r:id="Reecfa801b6094a9f"/>
    <p:sldId xmlns:r="http://schemas.openxmlformats.org/officeDocument/2006/relationships" id="261" r:id="Rc8cc1176046e48f9"/>
    <p:sldId xmlns:r="http://schemas.openxmlformats.org/officeDocument/2006/relationships" id="262" r:id="R702e315aa1be4940"/>
    <p:sldId xmlns:r="http://schemas.openxmlformats.org/officeDocument/2006/relationships" id="263" r:id="R22b704cf4cac4de3"/>
    <p:sldId xmlns:r="http://schemas.openxmlformats.org/officeDocument/2006/relationships" id="264" r:id="Rdc675ad92f1942bd"/>
    <p:sldId xmlns:r="http://schemas.openxmlformats.org/officeDocument/2006/relationships" id="265" r:id="R1cbe71a660744f48"/>
    <p:sldId xmlns:r="http://schemas.openxmlformats.org/officeDocument/2006/relationships" id="266" r:id="R5e55454ee0874a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6533875de4d56" /><Relationship Type="http://schemas.openxmlformats.org/officeDocument/2006/relationships/slideMaster" Target="/ppt/slideMasters/slideMaster1.xml" Id="R58979e86e17f43de" /><Relationship Type="http://schemas.openxmlformats.org/officeDocument/2006/relationships/notesMaster" Target="/ppt/notesMasters/notesMaster1.xml" Id="R69e6245a76d74fc8" /><Relationship Type="http://schemas.openxmlformats.org/officeDocument/2006/relationships/presProps" Target="/ppt/presProps.xml" Id="Rbcdc8efb55de4245" /><Relationship Type="http://schemas.openxmlformats.org/officeDocument/2006/relationships/tableStyles" Target="/ppt/tableStyles.xml" Id="R637ab5818995449b" /><Relationship Type="http://schemas.openxmlformats.org/officeDocument/2006/relationships/slide" Target="/ppt/slides/slide1.xml" Id="Rea349bda16f04ef1" /><Relationship Type="http://schemas.openxmlformats.org/officeDocument/2006/relationships/slide" Target="/ppt/slides/slide2.xml" Id="R2b421c1039104411" /><Relationship Type="http://schemas.openxmlformats.org/officeDocument/2006/relationships/slide" Target="/ppt/slides/slide3.xml" Id="Rb6c3239a33974e29" /><Relationship Type="http://schemas.openxmlformats.org/officeDocument/2006/relationships/slide" Target="/ppt/slides/slide4.xml" Id="Rd3fdcb7ee09e4192" /><Relationship Type="http://schemas.openxmlformats.org/officeDocument/2006/relationships/slide" Target="/ppt/slides/slide5.xml" Id="Reecfa801b6094a9f" /><Relationship Type="http://schemas.openxmlformats.org/officeDocument/2006/relationships/slide" Target="/ppt/slides/slide6.xml" Id="Rc8cc1176046e48f9" /><Relationship Type="http://schemas.openxmlformats.org/officeDocument/2006/relationships/slide" Target="/ppt/slides/slide7.xml" Id="R702e315aa1be4940" /><Relationship Type="http://schemas.openxmlformats.org/officeDocument/2006/relationships/slide" Target="/ppt/slides/slide8.xml" Id="R22b704cf4cac4de3" /><Relationship Type="http://schemas.openxmlformats.org/officeDocument/2006/relationships/slide" Target="/ppt/slides/slide9.xml" Id="Rdc675ad92f1942bd" /><Relationship Type="http://schemas.openxmlformats.org/officeDocument/2006/relationships/slide" Target="/ppt/slides/slide10.xml" Id="R1cbe71a660744f48" /><Relationship Type="http://schemas.openxmlformats.org/officeDocument/2006/relationships/slide" Target="/ppt/slides/slide11.xml" Id="R5e55454ee0874a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f1db9c640f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3002f09b334356" /><Relationship Type="http://schemas.openxmlformats.org/officeDocument/2006/relationships/notesMaster" Target="/ppt/notesMasters/notesMaster1.xml" Id="Rc4e620b8d79040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cc6439ec1342e4" /><Relationship Type="http://schemas.openxmlformats.org/officeDocument/2006/relationships/notesMaster" Target="/ppt/notesMasters/notesMaster1.xml" Id="Reac09046063b4e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4a804e07d54286" /><Relationship Type="http://schemas.openxmlformats.org/officeDocument/2006/relationships/notesMaster" Target="/ppt/notesMasters/notesMaster1.xml" Id="R06a8872ebb6f42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c0684fa82b421e" /><Relationship Type="http://schemas.openxmlformats.org/officeDocument/2006/relationships/notesMaster" Target="/ppt/notesMasters/notesMaster1.xml" Id="Rb7b63f7da7bd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cc9128725b4a5a" /><Relationship Type="http://schemas.openxmlformats.org/officeDocument/2006/relationships/notesMaster" Target="/ppt/notesMasters/notesMaster1.xml" Id="Ra448e70c8a8747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54b90ea0f456f" /><Relationship Type="http://schemas.openxmlformats.org/officeDocument/2006/relationships/notesMaster" Target="/ppt/notesMasters/notesMaster1.xml" Id="R6862ede81acf4c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15ca7825be4057" /><Relationship Type="http://schemas.openxmlformats.org/officeDocument/2006/relationships/notesMaster" Target="/ppt/notesMasters/notesMaster1.xml" Id="Rdbdcf83f5ffa40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b9a39302fe4f62" /><Relationship Type="http://schemas.openxmlformats.org/officeDocument/2006/relationships/notesMaster" Target="/ppt/notesMasters/notesMaster1.xml" Id="R9af0a9b9fb2348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3339a33b534582" /><Relationship Type="http://schemas.openxmlformats.org/officeDocument/2006/relationships/notesMaster" Target="/ppt/notesMasters/notesMaster1.xml" Id="R13737d64cb0c40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0b42ccb0954122" /><Relationship Type="http://schemas.openxmlformats.org/officeDocument/2006/relationships/notesMaster" Target="/ppt/notesMasters/notesMaster1.xml" Id="Rc448d96453b941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9fcaee0cfa4fb8" /><Relationship Type="http://schemas.openxmlformats.org/officeDocument/2006/relationships/notesMaster" Target="/ppt/notesMasters/notesMaster1.xml" Id="Ra8b34a814d99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 very much for taking the time to meet with me. I am Rune Bobbaers, a recently graduated high school student from Belgium. I have type 1 diabetes myself, and that personal experience made me interested in how diabetes technology works behind the scenes. The main project is the IINTS-SDK: an open-source educational test environment for a diabetes digital twin, CGM-like data, AI experiments, safety checks and evidence reports. The physical board is only an optional bench demonstrator. The SDK is not a clinical medical device. I was selected for EUCYS, and I would especially value your feedback on the digital twin, time-series AI, validation, and scientific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personal section short. I depend on diabetes technology myself, but for a long time I did not understand what was happening inside these systems. IINTS-AF began with a transparency question: how can pumps, sensors, physiology and algorithms become understandable without claiming to replace clinical systems?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architecture. The SDK is the software brain of the project. It starts with a controlled diabetes scenario, updates a virtual patient, generates a CGM-like signal, tests an algorithm, checks safety and produces reviewable evidence. The hardware board is only one optional way to display those states; it is not required to run the SDK.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SDK is the software core of the project. It lets me create diabetes scenarios, simulate a virtual patient, generate realistic CGM-like data, test AI or algorithms, apply safety checks and generate understandable reports. The physical device is only a demonstrator; the SDK can run without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one equation, not every equation. The simulator separates meal appearance, endogenous production, insulin-mediated uptake and losses. It also models delayed insulin action and imperfect CGM measurement. At this stage it remains educational and experimental; improving realism and validation is one reason I am seeking expert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main interest is not just prediction accuracy. I want to know whether an algorithm behaves transparently under difficult scenarios. The SDK separates explanation, forecasting, experimental control and deterministic safety so that each role has a clear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figure as evidence that the SDK makes behaviour inspectable. The grey line is latent simulator truth, the teal line is the CGM-rendered signal, yellow markers are meals and red markers are supervisor interventions. The purpose is to notice delayed, aggressive or unsafe responses—not to claim clinical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the core project and it is not a real insulin pump. The IINTS-SDK runs fully without this board. The board is only an optional embedded demonstrator that makes software states and a pump-like interface tangible. It has no real insulin delivery, is not connected to a person, and is used only for education and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project to trustworthy AI and digital health. Simulation creates a safe place to inspect failure modes. Open-source evidence and explicit limits help other people challenge the work. Education is not secondary: it is part of making medical AI understandable.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direct. I know the project is not clinically validated. I need stronger calibration, comparison with established models, uncertainty analysis and clearer safety metrics. That is why this conversation matters before EUCYS.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be very grateful for advice on where the project is scientifically strongest and what I should improve before EUCYS. I am especially interested in digital twin calibration, time-series evaluation, trustworthy-AI evidence and clear scientific framing. Then stop presenting and invite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a0f7d9ebe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d9b77cd7174853" /><Relationship Type="http://schemas.openxmlformats.org/officeDocument/2006/relationships/slideLayout" Target="/ppt/slideLayouts/slideLayout1.xml" Id="Re644588ad9ad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4588ad9ad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70f60034e46b6" /><Relationship Type="http://schemas.openxmlformats.org/officeDocument/2006/relationships/image" Target="/ppt/media/image.png" Id="Rd0c6179c74be432f" /><Relationship Type="http://schemas.openxmlformats.org/officeDocument/2006/relationships/notesSlide" Target="/ppt/notesSlides/notesSlide1.xml" Id="R165539358752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58ada90c24a64" /><Relationship Type="http://schemas.openxmlformats.org/officeDocument/2006/relationships/notesSlide" Target="/ppt/notesSlides/notesSlide2.xml" Id="R0f5fd6dbc24a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5c7a690f14928" /><Relationship Type="http://schemas.openxmlformats.org/officeDocument/2006/relationships/notesSlide" Target="/ppt/notesSlides/notesSlide3.xml" Id="Ra25a153f22a9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a140cc51e4ab0" /><Relationship Type="http://schemas.openxmlformats.org/officeDocument/2006/relationships/notesSlide" Target="/ppt/notesSlides/notesSlide4.xml" Id="Rccaeb4bc1804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6c44d18224868" /><Relationship Type="http://schemas.openxmlformats.org/officeDocument/2006/relationships/notesSlide" Target="/ppt/notesSlides/notesSlide5.xml" Id="R75e7436a8d4046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56a48f78841eb" /><Relationship Type="http://schemas.openxmlformats.org/officeDocument/2006/relationships/notesSlide" Target="/ppt/notesSlides/notesSlide6.xml" Id="R48009d3ee43643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75df061404e8e" /><Relationship Type="http://schemas.openxmlformats.org/officeDocument/2006/relationships/image" Target="/ppt/media/image2.png" Id="R481cf05f1eb5458b" /><Relationship Type="http://schemas.openxmlformats.org/officeDocument/2006/relationships/notesSlide" Target="/ppt/notesSlides/notesSlide7.xml" Id="R4895053e73964e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c814c70e0421c" /><Relationship Type="http://schemas.openxmlformats.org/officeDocument/2006/relationships/image" Target="/ppt/media/image3.png" Id="R09d4364d1fd349e2" /><Relationship Type="http://schemas.openxmlformats.org/officeDocument/2006/relationships/notesSlide" Target="/ppt/notesSlides/notesSlide8.xml" Id="Ra4c78267fa1b44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752429a4947d8" /><Relationship Type="http://schemas.openxmlformats.org/officeDocument/2006/relationships/notesSlide" Target="/ppt/notesSlides/notesSlide9.xml" Id="Re4beb88e114447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4e52534714d10" /><Relationship Type="http://schemas.openxmlformats.org/officeDocument/2006/relationships/notesSlide" Target="/ppt/notesSlides/notesSlide10.xml" Id="Rfc8fe76e6cf2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4206d661b4f5f" /><Relationship Type="http://schemas.openxmlformats.org/officeDocument/2006/relationships/notesSlide" Target="/ppt/notesSlides/notesSlide11.xml" Id="Rb3ff6b493f2645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3CD99-E95D-4F3E-83CD-9F8D6B4B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7F98E-79F8-4F26-94F0-07C1D7B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OXFORD RESEARCH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1CC38-A9CF-4DFD-A153-859288FE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IINTS-AF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61CD5-8590-4CFF-AF82-8AD0BDB2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 open-source educational platform for transparent AI and diabetes digital twins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3E65A-F5E6-40D2-8F30-D4BBA323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CEAE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CEAE4"/>
                </a:solidFill>
                <a:latin typeface="Aptos"/>
                <a:ea typeface="Aptos"/>
                <a:cs typeface="Aptos"/>
              </a:rPr>
              <a:t>Rune Bobbaers · Belgium · EUCYS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6B1B3-2F7D-457D-8208-27948DD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00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BBC4-7FCF-410A-80F3-84470CC2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A MEDICAL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CB2C9-D168-44C1-9CAF-0780C76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C6DAD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6DAD2"/>
                </a:solidFill>
                <a:latin typeface="Aptos"/>
                <a:ea typeface="Aptos"/>
                <a:cs typeface="Aptos"/>
              </a:rPr>
              <a:t>iints.org  ·  github.com/python35/IINTS-SDK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9E8B9-3C2B-4DF4-AC94-A92C3A6D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85800"/>
            <a:ext cx="3333750" cy="5410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74B40"/>
          </a:solidFill>
          <a:ln xmlns:a="http://schemas.openxmlformats.org/drawingml/2006/main" w="9525">
            <a:solidFill>
              <a:srgbClr val="2B675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6179c74be432f"/>
          <a:stretch xmlns:a="http://schemas.openxmlformats.org/drawingml/2006/main"/>
        </p:blipFill>
        <p:spPr>
          <a:xfrm xmlns:a="http://schemas.openxmlformats.org/drawingml/2006/main">
            <a:off x="8515350" y="1211187"/>
            <a:ext cx="2381250" cy="201627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184B4-0BA7-4D5B-BDC8-068566F2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SAFE EDUCATIONAL SANDBOX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496FC-0F34-4743-80BF-5B3B2F03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57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SDK software core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 patient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experiments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checks</a:t>
            </a:r>
          </a:p>
        </p:txBody>
      </p:sp>
    </p:spTree>
    <p:extLst>
      <p:ext uri="{BB962C8B-B14F-4D97-AF65-F5344CB8AC3E}">
        <p14:creationId xmlns:p14="http://schemas.microsoft.com/office/powerpoint/2010/main" val="1777398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95618-B447-4B96-BA53-1814DDBF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PERSONAL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21764-FD5E-4A21-9D1D-AA29FD83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Why I started building IINTS-AF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03313-6C07-44DA-8A17-8AD91E4D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E187A-532A-4888-83B6-FF734C1B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7124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“I depended on diabetes technology long before I understood what was happening inside it.”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46205-D923-4C2C-8942-914301A5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5D197-AA9F-42F3-9ECE-03A8E6C7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4DC9B-7C21-470C-8502-51910E0E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Lived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8B3B4-BCA5-4057-B4AD-60CB27FD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Type 1 diabetes made pumps, sensors and algorithms part of everyday life.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63EC1-B291-4526-9033-8D671AF5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8604-99AA-4F82-9024-3CBC6E7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BFED-EB88-448A-ABDB-73181EB3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 transparency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CE6E3-ADD8-4484-B3F2-156C42D1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Powerful systems are often closed, complex and difficult for students or patients to inspect.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2C42B-0532-4DEC-BF52-C6FE0ED9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16C58-795D-40A5-A54F-075E88F1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2A6DB-B6C3-4155-8F04-3141A171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 maker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D7322-1C20-40A0-8D9A-3C0BA561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Could a safe open platform explain the concepts and stress-test algorithms without involving a real patient?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CA0C0-C896-49EB-A70F-53E66912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57850"/>
            <a:ext cx="6210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7592F-2C3A-499E-829B-749273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95950"/>
            <a:ext cx="601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PERSONAL EXPERIENCE → SCIENTIFIC CURIOSITY → OPEN EDUCATIONAL 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5C331-3093-4720-924A-B64EDBC3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D6E8F-2375-432C-985B-91757A63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52411-97B1-44B7-9C41-D1BDEDF7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9202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429AF-D72C-4195-B6A3-AE23379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3FA12-3BB1-4B8A-BE30-5F651EA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SDK is the brain of IINTS-AF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AB012-FF99-44F0-9DE0-7153DEE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It connects scenarios, a virtual patient, CGM-like data, algorithm tests, safety checks and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48C44-5AAF-4B43-9675-2206B09A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FBA37-7203-4A96-A737-0CE219B6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53610-1BA3-4029-9474-61FDDF39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2594A-E21A-4F38-823E-3C1C5A3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303F5-3B0B-4E87-BFAC-26D66E6C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163A5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63A52"/>
                </a:solidFill>
                <a:latin typeface="Aptos Display"/>
                <a:ea typeface="Aptos Display"/>
                <a:cs typeface="Aptos Display"/>
              </a:rPr>
              <a:t>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81DC1-4334-42BD-8678-4B58408D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8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meals · insulin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exercise · sensor issues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28EDA-7666-46D5-8CFC-6178F47F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2E866-6D92-4DC5-AC70-AC2B15EB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DAC7E-263B-40BC-A5C4-5F088EF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EB4F4-517A-4E27-8876-FB19FE3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EA2F2-3A88-4A49-AB3A-0E4E6231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DIGITAL PATIENT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9A84E-F25C-4434-A61F-FA4E55A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glucose-insulin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behaviour over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62CDB-C96A-49AF-8FD6-DC7C8027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22BB8-999B-4AA6-8191-214ABDDB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D2FAC-5BE1-42AA-B6A3-A605103E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DC924-0A3F-4654-BE53-2833A832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39000-7204-4057-A541-C243B941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A4C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7A4C00"/>
                </a:solidFill>
                <a:latin typeface="Aptos Display"/>
                <a:ea typeface="Aptos Display"/>
                <a:cs typeface="Aptos Display"/>
              </a:rPr>
              <a:t>CGM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E75B0-DF6C-4D81-99A6-818F5899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4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delay · noise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imperfect measurements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5A82D-BEE1-4166-9C29-119306C2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AF40C-EC4E-4ED9-BE95-A61F9EF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2833D-54DB-47CF-85FD-4706C050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9E900-E875-4408-8247-06DADB01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10658-5267-41E5-BE9D-DBCEF70C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5534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C5534A"/>
                </a:solidFill>
                <a:latin typeface="Aptos Display"/>
                <a:ea typeface="Aptos Display"/>
                <a:cs typeface="Aptos Display"/>
              </a:rPr>
              <a:t>ALGORITHMS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E987F-B25F-4864-9356-6AB3C8CE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forecast · detect risk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test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9B504-1D36-4BAA-9452-D9C17F5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EFA0B-4941-4DBB-B12A-D3A4DB6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22860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515AED-A4AF-435E-83D7-CC35934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72B1A4-AA18-46E5-BF40-D7C098F4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39D6F-0F97-4A50-96E8-C000C41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E7D8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E7D8A"/>
                </a:solidFill>
                <a:latin typeface="Aptos Display"/>
                <a:ea typeface="Aptos Display"/>
                <a:cs typeface="Aptos Display"/>
              </a:rPr>
              <a:t>SAFETY +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37F0BA-41F3-43FA-9C8E-F96CBB3B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block · explain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plot · report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47BCF-5AE2-4936-B39D-78DDB70F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8839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1917C8-7BF7-4BCD-9B1C-6A71B251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826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SDK runs this complete workflow; the hardware board is only an optional demonstrator.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112B27-8183-4D74-9FD2-DCE7E9B1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Core workflow: scenario → digital patient → CGM signal → algorithm → safety check → report.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FE9743-A191-4C5E-879C-1F5AF1D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EED8FC-B37A-44E9-BCB5-FE3FE2C8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C2D538-EBC1-48A2-8D91-FF4B5838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4826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94B57-A749-4A59-B3B4-C6770807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SOFTWARE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80CDD-9587-4EBA-8E03-7F9663D2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What the IINTS-SDK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643A0-9816-41CE-9678-1FDF5D97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 complete research workflow that can run on a laptop—without the hardware demonstrator.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54642-3BCD-40A6-9A80-F16C1CF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24785-33B0-4E0B-B347-C9EE50CC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63A8F-43EB-4B7A-9A85-5559895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A1DE4-8F96-4BA8-BC62-3B7665D0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4738E-BA41-4342-8A86-9FFD5991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669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AD24C-C747-4A39-A9F0-C5583A7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Build scenarios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7A89C-7A59-4F0E-BD7E-2162717F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Meals, insulin, exercise and sensor issues.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7F194-4D9D-41DD-856E-5A51BC4A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52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64110-14AF-47F4-8D08-7EF15220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6FD8A-05EA-4DFE-8F80-9F43B6D7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07B96-4A78-4BDA-9426-DBB54D14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323A1-96EF-43CE-9677-EBB47A5B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669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E2B89-1AC1-49AE-B4F5-1103FE61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Simulate a digital patient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70479-2ADE-46F4-A2FD-8ADAC161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Glucose–insulin behaviour changes over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F4CC0-3C1F-44C3-BBA7-F1EB2E8E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7344D-BFB6-46BA-94B4-53B750C8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D4651-6FCA-4772-87AD-F8867E1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46FB6-9977-4EE4-B6DE-39605960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BBB7A-84A0-4838-9269-804F37EA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669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B29C4-6210-494F-B456-7744C29F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Generate CGM-like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8684D-0B2F-4EA9-BFA6-29579EF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67150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Add delay, noise and imperfect measurements.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8A671-76EA-4645-8C0F-222DAC33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6CC31-AD4C-4CF7-8D82-1E7481B0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C9656-F0C9-48C9-8930-16AA6681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12DAE-BDC6-4737-A218-31DD53B4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2F3150-561F-4403-82E9-B4DF229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669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40024-C144-46C9-AAD3-F1E45574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Test algorithms safely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4E7B2-EE0B-4091-AD0B-3DED0FAF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Forecast glucose, detect risk and test decisions.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C2A21-EB2A-468D-A799-E0BB0F2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B8CBF8-33F5-4DA5-B037-F95BC45D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3881C6-5E1F-471B-9A22-3E5A8917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4AADC7-D187-4A14-A25F-83135052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97B89-AF6F-4950-8CE9-396CED5B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669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B40E8-F2FD-4A61-9E4B-48A393D3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Review the behaviour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46EDE3-7125-41F7-8DAF-F6C32301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67150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Inspect plots, reports, safety events and explanations.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C21C4B-9769-40C9-B6E1-C84CAEA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91150"/>
            <a:ext cx="7543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B41AD0-296C-4F7D-A51E-FED00409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29250"/>
            <a:ext cx="735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PURPOSE: EDUCATION · TRANSPARENCY · SAFE EXPERIMENTATION — NOT CLINICAL USE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EDADB5-0BFB-49DB-A44A-27BC12F6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The SDK is the main research and simulation component of IINTS-AF.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E33BCF-769B-4899-A4F4-BE7EA438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88DB86-198E-492B-83F8-11C042A7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372084-BC5A-460E-B628-504B6104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509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8A2B1-DC3A-442E-BC47-BB4A5697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SCIENTIFIC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E6798-1BB2-4101-AADD-6BC5CCFC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digital patient: useful because it is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B4B77-3035-4765-B761-50DA1F21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 simple model shows how food, insulin, activity and sensor delay can change glucose 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79937-D99C-44C6-8ACA-D2B47E21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F53F4-B7EA-4006-89EC-829FC16C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3911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31482-D169-4370-AA73-B0CE7874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SIMPLIFIED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CB5A9-23DD-4735-B4AA-61CA7ABA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591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Simplified view: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glucose changes because of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food, insulin, body needs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and sensor delay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F43F0-35D1-4E2A-8528-5D93D11D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C9DCE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9DCE4"/>
                </a:solidFill>
                <a:latin typeface="Aptos"/>
                <a:ea typeface="Aptos"/>
                <a:cs typeface="Aptos"/>
              </a:rPr>
              <a:t>Ideas adapted from known glucose–insulin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D9C93-2863-4093-B66F-0B9ADF9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0F801-05C1-4830-BBB4-E241EA9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Meals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6E498-8B81-4E2E-934C-05E40B6D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food is absorbed over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FF196-1133-4668-910B-7E2D82E7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8620A-7027-4BF0-801E-03D2E542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Insulin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88123-70B7-404E-A2CA-BCD3A011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insulin acts with a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82442-6F8D-4120-81D0-CDD5AF9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42FF0-85C0-4757-8D4E-78515336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4AD1A-AD33-4215-B19B-A363D08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activity · stress · time of 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7010E-48AE-442F-BFD1-AA18DFE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0DF3C-934B-4F5E-970F-99DD10B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CGM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7EEDC-D308-40E6-A3C7-57494234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sensor delay · noise · missing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50962-4855-4449-B8B9-FF9FCA2F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76900"/>
            <a:ext cx="6591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568DC-E4A7-4D3C-90DD-B10A6DE2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150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EDUCATIONAL MODEL · BASED ON KNOWN IDEAS · NOT CLINICALLY VALIDATED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C546E-35C1-43C2-A370-AB5C7910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 use ideas from known glucose–insulin models; the simulator is still educational and not clinically validated.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78D9E-6498-4F9D-B833-34F78E9D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F149B-45A1-4316-B098-326F22A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5ADA3D-5081-476D-94D1-0C961D6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5017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DF0001-CA86-4F00-9701-4D004AB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SAFETY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8CB18-28CA-4CD5-BB5A-B310502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Testing AI behaviour under stress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2A6D1-591C-48AF-A639-390C90BF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Accuracy matters, but so do explanations, failure cases and clear safety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69993-52AE-4131-8B9E-04023D2F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B2AEE-9F4D-4406-889F-638DD12D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76457-3A99-4174-8983-D0420DF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AAD83-73A5-408C-8957-340FF360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CF113-E17D-4052-ACF3-2D3077C6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Explain what happened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08BD5-8BD5-45EF-A4EC-0FE07791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Summarises a run and explains unusual events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1323A-B4DE-422C-806C-903DF2B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D9841-4C02-4E6A-B67F-6E590219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93D8C-E9A9-48DC-8AC7-3CF3A5D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A2B33-8E26-4854-AA64-B6114DCD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76234-3563-45C7-B2EC-43F7F003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Predict glucose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73B46-2B21-4522-A374-473D57E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Predicts future glucose and checks how often the model is wrong or misses low glucose.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DDA7-5A44-4F32-80C8-F2C02F89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EB683-6890-4947-AED3-A062EDD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C71D9-7761-416E-9D00-A6EAE063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E69E6-0C31-4DD4-A048-AFE0E5F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DD9CC-CC54-46F3-9F57-AB097932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Test algorithm ideas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BD6D3-4467-4C1A-A15D-E7A336E6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Different algorithm ideas can be tested on the virtual patient.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E25E8-B64E-4B05-8393-3199E55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58249-7BD2-4DFC-B5FE-DEFF6BC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C63DC-2326-469E-AB04-04FC2832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DDF12-AE65-4B73-8F1E-7386BDF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EE242-5A0D-4915-8DCB-3BC051C5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Safety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921E6-BE8D-4F8D-8E71-5AEF1FBA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Fixed rules can block or reduce unsafe actions and record why.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56502-463A-40A0-B0F3-282C4F2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91150"/>
            <a:ext cx="781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98A395-8E16-407C-AB8F-6A434C4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435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 day · sport · bad carb count · delayed meal · night hypo risk · sensor failure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592D3-4256-4F85-BC49-862A015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Safety idea: AI can suggest, but fixed safety rules can block unsafe behaviour.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4B4F9-B5EC-4E9F-8FBC-6799D674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8B7A0-3E0C-42D6-93A9-B41E7318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89946-1536-4DD8-982A-5E8BF312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6351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4D15D-7FB6-4BC6-A0A7-EAF5C63A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EXAMPLE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D3A37-9E73-4FC8-B8EA-DEE0A78D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One view reveals physiology, sensor realism and safety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1B46E-1A23-4F00-92AA-4C179E7A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This graph helps me see glucose changes, sensor delay, meals and safety checks across three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C6A76-1021-4A92-878C-4C8C87E4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C3BA6-09AF-4084-992B-381D5AF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cf05f1eb5458b"/>
          <a:stretch xmlns:a="http://schemas.openxmlformats.org/drawingml/2006/main"/>
        </p:blipFill>
        <p:spPr>
          <a:xfrm xmlns:a="http://schemas.openxmlformats.org/drawingml/2006/main">
            <a:off x="1475815" y="1847850"/>
            <a:ext cx="9240371" cy="413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B6E88-CD7E-4391-90AC-A329271B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645BE-7EA3-4589-B805-33F872AB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SENSOR DELAY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B3C1D-0DBE-4F3C-979D-B6E460E2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3405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06751-F2C0-4891-A747-DEE9D5FD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72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MEALS + TARGET 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0A26-C603-4DF8-AF70-B7272FA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734050"/>
            <a:ext cx="20764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56698-B7E1-4E1F-BF4F-4398BB3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72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SAFETY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E971E-FC07-476B-B234-393D2755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340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0573F-65B3-4DF9-ABF2-31C02E96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72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THREE TEST SCENARIOS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97EFE-4376-4BE7-A488-3499431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Actual SDK output. Research/education only; this chart supports inspection, not clinical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3806E-5A2E-4665-AED4-27FCA53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7C494-E752-47AB-B32E-3BF69372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4439A-040D-4132-8C5F-25856EB9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79547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C046B-1FB6-47D0-A57D-A79C880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B158D-5216-4F7A-8159-F160E25E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OPTIONAL HARDWARE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4059E-0556-4A08-9574-34EE4966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SDK works without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this hardware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C3BCB-BB1E-4F4D-B9BA-38570F4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C6D5D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C6D5D0"/>
                </a:solidFill>
                <a:latin typeface="Aptos"/>
                <a:ea typeface="Aptos"/>
                <a:cs typeface="Aptos"/>
              </a:rPr>
              <a:t>A bench-only interface that makes software states visible and easier to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B075B-AD20-45ED-BEB4-EE76EE6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1A17"/>
          </a:solidFill>
          <a:ln xmlns:a="http://schemas.openxmlformats.org/drawingml/2006/main" w="9525">
            <a:solidFill>
              <a:srgbClr val="2448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1E5B7-CEF1-49A7-84F6-D872C05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2291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educational companion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SDK runs fully without this board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Shows interface and system states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real insulin delivery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connected to a person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27C82-F232-4E55-9226-552891DF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333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8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47DEF-737B-41C3-ABE7-69DA3D1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BENCH-ONLY · OPTIONAL · NO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45CEF-BF92-458A-9A81-FF95CFD4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"/>
            <a:ext cx="5429250" cy="561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23332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4364d1fd349e2"/>
          <a:stretch xmlns:a="http://schemas.openxmlformats.org/drawingml/2006/main"/>
        </p:blipFill>
        <p:spPr>
          <a:xfrm xmlns:a="http://schemas.openxmlformats.org/drawingml/2006/main">
            <a:off x="6541634" y="514350"/>
            <a:ext cx="4576082" cy="542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885CB-1EA4-4FB9-BE00-9A407FB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34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USER-PROVIDED BENCH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9677E-15FC-48D3-BEF8-B528812A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BENCH-ONLY · ZERO DELIVERY · NOT FOR THERAPY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D5050-3053-46A7-8E7D-F7BDE256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1443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7C407-C8B6-4AB6-BCA2-0CC51250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DIGITAL HEALTH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1C79F-5A4A-489C-984F-28A0EAB3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Why transparency matters in medical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641C6-8042-455D-AF81-35FBEC72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3E0EE-64F7-463E-B6D7-6AD14EA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9FD9A-77F4-4B6B-AD3A-B884EBD4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9F479-69EC-421A-9C53-2C76232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8E264-A963-47F8-9CDA-E760EC3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A0BFB-1F41-41DC-A617-1F0F427F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Show how physiology, sensors and algorithms interact.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B4A90-A7B4-4D7E-AF74-E15ABDF5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99022-15A9-4D0C-866C-CB2BEC41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83095-ADF1-41CE-9B63-F741AF68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A08C1-4C89-4D3B-A6E4-BB87B5D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STRESS-TEST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84F8F-AED6-40D4-AE95-B540962C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Explore failure cases before real-world deployment is discussed.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A0D9B-D06E-4878-A428-D7EE103A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28543-79F3-42B2-AEDB-D5156465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7B91A-E376-43F3-BAD1-2EAD688F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6BF87-F012-4295-813F-2FAE59DA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95B50-CD34-4DBB-A8C8-43F60E7D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Keep decisions and results reviewable.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8C1A6-BF3B-4A97-8DD0-844613D7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1E6AA-C615-4C02-AB35-2B0D1A3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0FF37-3CC1-4DB1-8F63-4C6E89CB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76135-7B42-4BF6-9B40-657358E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TEACH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EF48C-1548-4D68-9D14-7EEBABB8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Make complex technology accessible to students, patients and makers.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E2D17-680E-4BF0-9360-868ABAEA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challenge is not only building models. It is making their behaviour understandable, testable and trusted.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262F6-47CC-40FB-A927-264B2BBA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96A04-302B-4FEA-88BF-9287A268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6E41D-614E-46B5-81A0-FE33B025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5866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1E6EE-7D5E-43DE-A612-18A35A1C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SCIENTIFIC HONESTY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894B2-4675-47C7-B800-14D730D8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Current limitations and open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5B5BB-8E0B-46FD-8C60-D0332FB5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Knowing what is missing is part of the research contribution.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F01F0-35FC-46CB-B42F-F96CC3C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790EC-C0C9-4E34-A637-D4E2E99D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010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2A74D-EAE2-495D-A6F0-1477F054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WHAT EXISTS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31636-4064-4FF6-945C-0C4032FC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243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Open-source SDK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Virtual patient simulation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Scenario testing and AI experiments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Safety checks and visual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6FCB4-2A7B-4E13-8B84-AE299AEF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81200"/>
            <a:ext cx="5619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0374A-3511-49AD-B374-1925E1D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WHAT I WANT TO 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3D531-3B34-4A9D-8591-AEC0CC06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More realistic physiology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Better validation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Better uncertainty and safety explanation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Better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454B4-B03C-4F24-A154-4E78274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065AD-7B10-4BB7-9BC3-0F3E0117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1  REALISM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46603-BCB1-4B30-AB22-A6E4B071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36151-1BD4-4E6D-A278-272D9179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2 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D8B4A-72B1-495C-A2C6-DC56586B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C694C-7CCB-42EC-9B7D-4C3C87F0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3 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B87DE-C88C-4443-BD93-FBE6CF5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DE873-7787-4F56-9A29-E5B8B29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 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6BC44-C064-42D0-9F6B-00FD58A4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The simulator is not clinically validated. I am looking for expert feedback before EUCYS.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2DD49-0DAE-44FF-862E-AC915F05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6ABB0-FD63-4C02-80F7-38F36CF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04EC1-3B6E-4442-8808-9DDD1590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8196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76338-8EED-406A-9BF5-A45FC638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THE PURPOSE OF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02BE6-B201-46CE-A842-0661861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I would value your feedback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B0276-3367-4F0F-A899-1465B63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2F33B-C39F-48A4-BAA5-E2140D6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B0DCB-8B3F-4C52-A34B-791F53A7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A87F9-ED88-4343-8A34-75C95C5E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669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Digital twin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DAD72-5CED-45AB-BEF0-2B0A9734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What should I improve first in the patient model?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AB96F-1D20-46C6-B74F-7E747113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0C486-FD75-44FE-BE33-DDD487E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1A4BA-3B68-4EBC-895E-C7041976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00E4C-C272-4F60-BAAD-4E18769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AI / time-series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7D8B1-C0AE-432E-A287-9829749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How should I test glucose predictions properly?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B4875-52F2-433B-AB50-111C93D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06CE7-E20A-4F6D-BDE8-489BEDA5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30E8F-4E96-4E76-952E-82498B43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758F9-0BFD-4782-98F1-D7DB7AEC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A549C-0A33-4CCB-89D5-4A04B8DA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How can I show uncertainty and failure cases clearly?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71032-D1F3-4199-82EF-D7EA0E21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4B40"/>
          </a:solidFill>
          <a:ln xmlns:a="http://schemas.openxmlformats.org/drawingml/2006/main" w="9525">
            <a:solidFill>
              <a:srgbClr val="2D6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88430-625A-4508-A426-51994490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8D611-5B9C-4955-B655-DCE66EEB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A21C3-904F-4D32-830C-054AA730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EUCYS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F5074-8DCC-42E0-9F00-ED337073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D5E5D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5E5DF"/>
                </a:solidFill>
                <a:latin typeface="Aptos"/>
                <a:ea typeface="Aptos"/>
                <a:cs typeface="Aptos"/>
              </a:rPr>
              <a:t>What should I emphasise to make the project scientifically strong?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ECED4-C6D8-4672-9732-80A4F575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19700"/>
            <a:ext cx="9601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CEFA6-9372-41C0-A554-7B7D5D9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62575"/>
            <a:ext cx="902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IINTS-AF is an open-source educational sandbox to simulate diabetes technology, test simple AI ideas safely, and make algorithm behaviour understandable.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BAB02-3732-445C-81AD-1BFD9155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C8DCD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DCD4"/>
                </a:solidFill>
                <a:latin typeface="Aptos"/>
                <a:ea typeface="Aptos"/>
                <a:cs typeface="Aptos"/>
              </a:rPr>
              <a:t>iints.org  ·  github.com/python35/IINTS-SDK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A41A7-BEEE-4A6E-9E79-1BB51E8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950" b="1" i="0">
                <a:solidFill>
                  <a:srgbClr val="D89A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D89A2B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1745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2026-06-18T20:21:12.6220000Z</dcterms:created>
  <dcterms:modified xsi:type="dcterms:W3CDTF">2026-06-18T20:21:12.6220000Z</dcterms:modified>
</coreProperties>
</file>