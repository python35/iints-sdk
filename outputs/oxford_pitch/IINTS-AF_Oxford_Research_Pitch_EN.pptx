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5e0565d4cb4de7" /><Relationship Type="http://schemas.openxmlformats.org/officeDocument/2006/relationships/extended-properties" Target="/docProps/app.xml" Id="R1f4d8d667311413e" /><Relationship Type="http://schemas.openxmlformats.org/officeDocument/2006/relationships/officeDocument" Target="/ppt/presentation.xml" Id="R134358a236fd45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3db1227b904f57"/>
  </p:sldMasterIdLst>
  <p:notesMasterIdLst>
    <p:notesMasterId xmlns:r="http://schemas.openxmlformats.org/officeDocument/2006/relationships" r:id="Ra47fa9217cc24068"/>
  </p:notesMasterIdLst>
  <p:sldIdLst>
    <p:sldId xmlns:r="http://schemas.openxmlformats.org/officeDocument/2006/relationships" id="256" r:id="Rf50f2f2379114f3f"/>
    <p:sldId xmlns:r="http://schemas.openxmlformats.org/officeDocument/2006/relationships" id="257" r:id="Rf0661e5ab4eb4cd2"/>
    <p:sldId xmlns:r="http://schemas.openxmlformats.org/officeDocument/2006/relationships" id="258" r:id="Rdb808b93da714031"/>
    <p:sldId xmlns:r="http://schemas.openxmlformats.org/officeDocument/2006/relationships" id="259" r:id="R1c733a1ee9134031"/>
    <p:sldId xmlns:r="http://schemas.openxmlformats.org/officeDocument/2006/relationships" id="260" r:id="R1eca0c64772340e4"/>
    <p:sldId xmlns:r="http://schemas.openxmlformats.org/officeDocument/2006/relationships" id="261" r:id="R916912d62ff0473c"/>
    <p:sldId xmlns:r="http://schemas.openxmlformats.org/officeDocument/2006/relationships" id="262" r:id="Raa1c91c1075b4d2e"/>
    <p:sldId xmlns:r="http://schemas.openxmlformats.org/officeDocument/2006/relationships" id="263" r:id="Ra6ec294245104188"/>
    <p:sldId xmlns:r="http://schemas.openxmlformats.org/officeDocument/2006/relationships" id="264" r:id="R952d9b14fab84e11"/>
    <p:sldId xmlns:r="http://schemas.openxmlformats.org/officeDocument/2006/relationships" id="265" r:id="Rf0127882f9f8437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0be67bedba48af" /><Relationship Type="http://schemas.openxmlformats.org/officeDocument/2006/relationships/slideMaster" Target="/ppt/slideMasters/slideMaster1.xml" Id="R593db1227b904f57" /><Relationship Type="http://schemas.openxmlformats.org/officeDocument/2006/relationships/notesMaster" Target="/ppt/notesMasters/notesMaster1.xml" Id="Ra47fa9217cc24068" /><Relationship Type="http://schemas.openxmlformats.org/officeDocument/2006/relationships/presProps" Target="/ppt/presProps.xml" Id="R490b19e6b5044739" /><Relationship Type="http://schemas.openxmlformats.org/officeDocument/2006/relationships/tableStyles" Target="/ppt/tableStyles.xml" Id="Rd7bc3de50ffd4c8d" /><Relationship Type="http://schemas.openxmlformats.org/officeDocument/2006/relationships/slide" Target="/ppt/slides/slide1.xml" Id="Rf50f2f2379114f3f" /><Relationship Type="http://schemas.openxmlformats.org/officeDocument/2006/relationships/slide" Target="/ppt/slides/slide2.xml" Id="Rf0661e5ab4eb4cd2" /><Relationship Type="http://schemas.openxmlformats.org/officeDocument/2006/relationships/slide" Target="/ppt/slides/slide3.xml" Id="Rdb808b93da714031" /><Relationship Type="http://schemas.openxmlformats.org/officeDocument/2006/relationships/slide" Target="/ppt/slides/slide4.xml" Id="R1c733a1ee9134031" /><Relationship Type="http://schemas.openxmlformats.org/officeDocument/2006/relationships/slide" Target="/ppt/slides/slide5.xml" Id="R1eca0c64772340e4" /><Relationship Type="http://schemas.openxmlformats.org/officeDocument/2006/relationships/slide" Target="/ppt/slides/slide6.xml" Id="R916912d62ff0473c" /><Relationship Type="http://schemas.openxmlformats.org/officeDocument/2006/relationships/slide" Target="/ppt/slides/slide7.xml" Id="Raa1c91c1075b4d2e" /><Relationship Type="http://schemas.openxmlformats.org/officeDocument/2006/relationships/slide" Target="/ppt/slides/slide8.xml" Id="Ra6ec294245104188" /><Relationship Type="http://schemas.openxmlformats.org/officeDocument/2006/relationships/slide" Target="/ppt/slides/slide9.xml" Id="R952d9b14fab84e11" /><Relationship Type="http://schemas.openxmlformats.org/officeDocument/2006/relationships/slide" Target="/ppt/slides/slide10.xml" Id="Rf0127882f9f843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5b1550d8a4044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23887377d44cba" /><Relationship Type="http://schemas.openxmlformats.org/officeDocument/2006/relationships/notesMaster" Target="/ppt/notesMasters/notesMaster1.xml" Id="Ra8241505ffd741e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02e783804c14e99" /><Relationship Type="http://schemas.openxmlformats.org/officeDocument/2006/relationships/notesMaster" Target="/ppt/notesMasters/notesMaster1.xml" Id="R0fe8a795787d4e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f1bd2f552d429a" /><Relationship Type="http://schemas.openxmlformats.org/officeDocument/2006/relationships/notesMaster" Target="/ppt/notesMasters/notesMaster1.xml" Id="R7db3f6b1361d484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ec0d2b37cb44cfa" /><Relationship Type="http://schemas.openxmlformats.org/officeDocument/2006/relationships/notesMaster" Target="/ppt/notesMasters/notesMaster1.xml" Id="Re259d9cc26c24a7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6cb9f5eefeb4440" /><Relationship Type="http://schemas.openxmlformats.org/officeDocument/2006/relationships/notesMaster" Target="/ppt/notesMasters/notesMaster1.xml" Id="R4416a6278b4f42e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9a484504f7e4aa2" /><Relationship Type="http://schemas.openxmlformats.org/officeDocument/2006/relationships/notesMaster" Target="/ppt/notesMasters/notesMaster1.xml" Id="Ra457607a79fe4eb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76a5bdbcf844b77" /><Relationship Type="http://schemas.openxmlformats.org/officeDocument/2006/relationships/notesMaster" Target="/ppt/notesMasters/notesMaster1.xml" Id="R6e30d3c45301400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f3f7c0be9b54811" /><Relationship Type="http://schemas.openxmlformats.org/officeDocument/2006/relationships/notesMaster" Target="/ppt/notesMasters/notesMaster1.xml" Id="R01e9cf27851c4bf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20fa2f0506c4c03" /><Relationship Type="http://schemas.openxmlformats.org/officeDocument/2006/relationships/notesMaster" Target="/ppt/notesMasters/notesMaster1.xml" Id="R91c898ff534d452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938347268684538" /><Relationship Type="http://schemas.openxmlformats.org/officeDocument/2006/relationships/notesMaster" Target="/ppt/notesMasters/notesMaster1.xml" Id="R5e8b1a985e4940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Thank you very much for taking the time to meet with me. I am Rune Bobbaers, a recently graduated high school student from Belgium. I have type 1 diabetes myself, and that personal experience made me interested in how diabetes technology works behind the scenes. My project, IINTS-AF, is an open-source educational platform that combines a diabetes digital twin, glucose-insulin simulation, AI decision-support experiments, and an embedded bench demonstrator. It is not intended as a clinical medical device. I was selected for EUCYS, and I would especially value your feedback on the digital twin, time-series AI, validation, and scientific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personal section short. I depend on diabetes technology myself, but for a long time I did not understand what was happening inside these systems. IINTS-AF began with a transparency question: how can pumps, sensors, physiology and algorithms become understandable without claiming to replace clinical systems?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most important slide. The platform starts with controlled events, updates a digital patient, runs AI or algorithm experiments, checks the proposed action through deterministic safety logic, and produces understandable outputs. The physical board is only one output interface; it is not the core project.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one equation, not every equation. The simulator separates meal appearance, endogenous production, insulin-mediated uptake and losses. It also models delayed insulin action and imperfect CGM measurement. At this stage it remains educational and experimental; improving realism and validation is one reason I am seeking expert feedback.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My main interest is not just prediction accuracy. I want to know whether an algorithm behaves transparently under difficult scenarios. The SDK separates explanation, forecasting, experimental control and deterministic safety so that each role has a clear boundary.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figure as evidence that the SDK makes behaviour inspectable. The grey line is latent simulator truth, the teal line is the CGM-rendered signal, yellow markers are meals and red markers are supervisor interventions. The purpose is to notice delayed, aggressive or unsafe responses—not to claim clinical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call this a real insulin pump. It is an embedded demonstrator that makes a pump-like architecture tangible. The current SDK firmware is deliberately locked: it has no motor pins, hardware actuation is disabled and dose commands are rejected. That safety boundary is part of the engineering story.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the project to trustworthy AI and digital health. Simulation creates a safe place to inspect failure modes. Open-source evidence and explicit limits help other people challenge the work. Education is not secondary: it is part of making medical AI understandable.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deliberately direct. I know the project is not clinically validated. I need stronger calibration, comparison with established models, uncertainty analysis and clearer safety metrics. That is why this conversation matters before EUCYS.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would be very grateful for advice on where the project is scientifically strongest and what I should improve before EUCYS. I am especially interested in digital twin calibration, time-series evaluation, trustworthy-AI evidence and clear scientific framing. Then stop presenting and invite discussion.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d8be32ecfe4c8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1e81b5d430940c9" /><Relationship Type="http://schemas.openxmlformats.org/officeDocument/2006/relationships/slideLayout" Target="/ppt/slideLayouts/slideLayout1.xml" Id="R1701348887ff4f6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701348887ff4f6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548b409f0442ca" /><Relationship Type="http://schemas.openxmlformats.org/officeDocument/2006/relationships/image" Target="/ppt/media/image.png" Id="R758ffbcdfa194769" /><Relationship Type="http://schemas.openxmlformats.org/officeDocument/2006/relationships/notesSlide" Target="/ppt/notesSlides/notesSlide1.xml" Id="R5ca3f9fd6dc748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64af66b36a442b" /><Relationship Type="http://schemas.openxmlformats.org/officeDocument/2006/relationships/notesSlide" Target="/ppt/notesSlides/notesSlide2.xml" Id="R64c877687e8e4f5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f34b480ec04a76" /><Relationship Type="http://schemas.openxmlformats.org/officeDocument/2006/relationships/notesSlide" Target="/ppt/notesSlides/notesSlide3.xml" Id="Ra8f9c1d24de24d8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dc9ae827b9411d" /><Relationship Type="http://schemas.openxmlformats.org/officeDocument/2006/relationships/notesSlide" Target="/ppt/notesSlides/notesSlide4.xml" Id="Rc624b631fc3c49b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5c795154ef4036" /><Relationship Type="http://schemas.openxmlformats.org/officeDocument/2006/relationships/notesSlide" Target="/ppt/notesSlides/notesSlide5.xml" Id="R9e93fd496eb24b9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faeba1dc4449a4" /><Relationship Type="http://schemas.openxmlformats.org/officeDocument/2006/relationships/image" Target="/ppt/media/image2.png" Id="R64c0960b40634ed6" /><Relationship Type="http://schemas.openxmlformats.org/officeDocument/2006/relationships/notesSlide" Target="/ppt/notesSlides/notesSlide6.xml" Id="R9a4db5eb4416461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ad13a797a849b4" /><Relationship Type="http://schemas.openxmlformats.org/officeDocument/2006/relationships/image" Target="/ppt/media/image3.png" Id="R7081090a0476427c" /><Relationship Type="http://schemas.openxmlformats.org/officeDocument/2006/relationships/notesSlide" Target="/ppt/notesSlides/notesSlide7.xml" Id="Rb3df87f64085459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dafbe7ec694f13" /><Relationship Type="http://schemas.openxmlformats.org/officeDocument/2006/relationships/notesSlide" Target="/ppt/notesSlides/notesSlide8.xml" Id="R87ab577dcd30411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12a4a78e3a4a36" /><Relationship Type="http://schemas.openxmlformats.org/officeDocument/2006/relationships/notesSlide" Target="/ppt/notesSlides/notesSlide9.xml" Id="R21bb6b76ffea476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75a1f962324286" /><Relationship Type="http://schemas.openxmlformats.org/officeDocument/2006/relationships/notesSlide" Target="/ppt/notesSlides/notesSlide10.xml" Id="R3467827d25d8488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C3B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0650A2-7FC7-4574-8127-CAAFF551F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873808-1DF2-489A-97DC-AFE51B80E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D89A2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D89A2B"/>
                </a:solidFill>
                <a:latin typeface="Aptos"/>
                <a:ea typeface="Aptos"/>
                <a:cs typeface="Aptos"/>
              </a:rPr>
              <a:t>OXFORD RESEARCH DISCUSSION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D101B3-624B-4BAD-92C7-FF87646B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523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95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3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IINTS-AF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57C684-6A95-4055-9151-B136C629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6667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8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An open-source educational platform for transparent AI and diabetes digital twins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0AEDE0-7802-4F9D-997F-268E1EE22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DCEAE4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DCEAE4"/>
                </a:solidFill>
                <a:latin typeface="Aptos"/>
                <a:ea typeface="Aptos"/>
                <a:cs typeface="Aptos"/>
              </a:rPr>
              <a:t>Rune Bobbaers · Belgium · EUCYS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1C166D-0813-4880-8F77-E1BF2E49D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20002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C55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260CD2-5ED9-432E-89A1-9E5482997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196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NOT A MEDICAL DEVICE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2F3E42-92A5-46F5-BE92-274A1B8C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C6DAD2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C6DAD2"/>
                </a:solidFill>
                <a:latin typeface="Aptos"/>
                <a:ea typeface="Aptos"/>
                <a:cs typeface="Aptos"/>
              </a:rPr>
              <a:t>iints.org  ·  github.com/python35/IINTS-SDK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5F4E4D-BC90-4462-8CD7-753592474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685800"/>
            <a:ext cx="3333750" cy="54102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174B40"/>
          </a:solidFill>
          <a:ln xmlns:a="http://schemas.openxmlformats.org/drawingml/2006/main" w="9525">
            <a:solidFill>
              <a:srgbClr val="2B6759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8ffbcdfa194769"/>
          <a:stretch xmlns:a="http://schemas.openxmlformats.org/drawingml/2006/main"/>
        </p:blipFill>
        <p:spPr>
          <a:xfrm xmlns:a="http://schemas.openxmlformats.org/drawingml/2006/main">
            <a:off x="8515350" y="1211187"/>
            <a:ext cx="2381250" cy="2016276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54751F-0C7E-4825-AF91-E327B4F7C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9095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D89A2B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D89A2B"/>
                </a:solidFill>
                <a:latin typeface="Aptos"/>
                <a:ea typeface="Aptos"/>
                <a:cs typeface="Aptos"/>
              </a:rPr>
              <a:t>SAFE EDUCATIONAL SANDBOX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5AAAE8-B144-4240-851F-0B817C1A0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171950"/>
            <a:ext cx="2571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Digital twin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5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AI experiments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5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Deterministic safety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5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Bench demonstrator</a:t>
            </a:r>
          </a:p>
        </p:txBody>
      </p:sp>
    </p:spTree>
    <p:extLst>
      <p:ext uri="{BB962C8B-B14F-4D97-AF65-F5344CB8AC3E}">
        <p14:creationId xmlns:p14="http://schemas.microsoft.com/office/powerpoint/2010/main" val="19749544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B727DE-B280-46F7-8051-A3777A449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2E7D8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2E7D8A"/>
                </a:solidFill>
                <a:latin typeface="Aptos"/>
                <a:ea typeface="Aptos"/>
                <a:cs typeface="Aptos"/>
              </a:rPr>
              <a:t>PERSONAL MOTIVATION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346D9C-B871-45BC-AE90-B5840163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0839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0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rPr>
              <a:t>Why I started building IINTS-AF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0EC7C4-FC60-4C30-B69F-BC081E97F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2F44A3-0280-4B44-BF23-E67653710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05000"/>
            <a:ext cx="71247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8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85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rPr>
              <a:t>“I depended on diabetes technology long before I understood what was happening inside it.”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0AAD87-93F3-4A1E-A50C-21C3E4CC3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1850"/>
            <a:ext cx="320040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E4E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28DF28-AE2B-4CB4-9AD9-D2622D7A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62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C3B32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C3B3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0C557B-EB64-487D-BD8B-61EAFFF1F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2430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rPr>
              <a:t>Lived experience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026E6D-C785-4A06-9E8A-E8A5413E2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81500"/>
            <a:ext cx="2819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Type 1 diabetes made pumps, sensors and algorithms part of everyday life.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4217B7-889D-44EB-9E61-06C0F5EC3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371850"/>
            <a:ext cx="320040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E7F0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2C4B98-C343-4177-8B33-F86A0FB85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62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163A52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63A5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08A0F3-9115-425E-B7F7-98A2DE26C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92430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rPr>
              <a:t>A transparency gap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591910-522D-4B52-9EB2-F91CA0728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381500"/>
            <a:ext cx="2819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Powerful systems are often closed, complex and difficult for students or patients to inspect.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92B297-C0AC-4098-9962-4DBE1EED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371850"/>
            <a:ext cx="320040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6E9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313B13-EA9A-4ACF-9D94-F2DD382E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62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7A4C00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7A4C0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0433F9-6D3A-44E5-98BB-F9C9E7BDE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2430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rPr>
              <a:t>A maker question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4AF502-2626-4202-904E-CA964D4C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381500"/>
            <a:ext cx="2819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Could a safe open platform explain the concepts and stress-test algorithms without involving a real patient?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755988-55D3-4536-8D4F-637B88F4F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657850"/>
            <a:ext cx="62103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0C3B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404D48-BE4A-43A4-B180-A552DF1F1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695950"/>
            <a:ext cx="601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PERSONAL EXPERIENCE → SCIENTIFIC CURIOSITY → OPEN EDUCATIONAL TOOL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331D68-2254-4F70-924B-2C6BE557C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4AF31E-F0C0-4229-BB5C-BB745719B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EDUCATIONAL / RESEARCH ONLY · NOT A MEDICAL DEVICE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D706F6-352B-434F-A678-F8CA0F0CE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0C3B32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C3B3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562392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BD1C73-D735-4B2F-89D3-99BB91E75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2E7D8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2E7D8A"/>
                </a:solidFill>
                <a:latin typeface="Aptos"/>
                <a:ea typeface="Aptos"/>
                <a:cs typeface="Aptos"/>
              </a:rPr>
              <a:t>PLATFORM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AD90A4-2D85-4E4F-A8BC-9F60BA70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0839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0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rPr>
              <a:t>What is IINTS-AF?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27928C-B691-4080-A556-52D92D67F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811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A connected research workflow, not a single pump algorithm.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87AFBE-64B7-4B36-A462-00D6A3EBB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8BD338-DB52-4392-A140-BBC93C083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05050"/>
            <a:ext cx="1847850" cy="21526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E7F0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FE6CF6-F7C0-4C5D-9566-505AC880B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146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827839-601E-42F4-B078-00A56B489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28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1A7B3F-51C3-4D29-8B3F-3FF1778FF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163A52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 i="0">
                <a:solidFill>
                  <a:srgbClr val="163A52"/>
                </a:solidFill>
                <a:latin typeface="Aptos Display"/>
                <a:ea typeface="Aptos Display"/>
                <a:cs typeface="Aptos Display"/>
              </a:rPr>
              <a:t>EVENTS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236216-F0C0-4514-84C5-B9DBA6DE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0"/>
            <a:ext cx="1581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meals · insulin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2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activity · stress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9BDC4A-0729-443A-BDAF-43A12C10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1813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2E7D8A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2E7D8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0A60B3-9C45-43FD-BDB9-342907175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305050"/>
            <a:ext cx="1847850" cy="21526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E4E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2A4E5E-362A-4D0E-AAD5-787A81F92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146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3B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A67078-134A-432F-92F2-99117091B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628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48F4D5-8E84-4113-8B25-99274BF24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3850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rPr>
              <a:t>DIGITAL PATIENT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D0DD4C-8A74-4D29-9A02-204A2D968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14750"/>
            <a:ext cx="1581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glucose-insulin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2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dynamics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38344A-83AB-447F-926F-1A764B037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813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2E7D8A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2E7D8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FA2170-3258-43FF-9C46-D6FB138A6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05050"/>
            <a:ext cx="1847850" cy="21526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6E9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205E28-C37A-4CC1-914E-3A205AC58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5146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4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45B5B4-04E4-4C25-B15A-A023CDFCB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628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551C8F-6B08-4A7B-8FBB-EFC086E71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23850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7A4C00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 i="0">
                <a:solidFill>
                  <a:srgbClr val="7A4C00"/>
                </a:solidFill>
                <a:latin typeface="Aptos Display"/>
                <a:ea typeface="Aptos Display"/>
                <a:cs typeface="Aptos Display"/>
              </a:rPr>
              <a:t>AI + ALGORITHMS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095C62-5366-403C-BA65-B92EFAF0D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714750"/>
            <a:ext cx="1581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forecast · explain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2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stress-test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45B97B-8F4C-43D9-92A3-D87C710F6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1813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2E7D8A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2E7D8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28BF62-0252-489C-B2A8-2AD8E15DA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05050"/>
            <a:ext cx="1847850" cy="21526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5E4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5E1BF8-E512-431A-A1F3-9F060DCE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146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5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2DDDAB-468E-47B2-A39C-043A9052A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628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5E4E4C-8BE2-47F4-BC5D-E66502AC6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23850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C5534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 i="0">
                <a:solidFill>
                  <a:srgbClr val="C5534A"/>
                </a:solidFill>
                <a:latin typeface="Aptos Display"/>
                <a:ea typeface="Aptos Display"/>
                <a:cs typeface="Aptos Display"/>
              </a:rPr>
              <a:t>SAFETY GATE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252DF8-8C7F-4DE2-8AB5-E38532C86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714750"/>
            <a:ext cx="1581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verify · limit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2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record reasons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64AFF6-6D3C-47C8-BD6D-19DAFE79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813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2E7D8A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2E7D8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A382D9-13DB-4D09-A8F0-DF41F4EA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305050"/>
            <a:ext cx="2286000" cy="2152650"/>
          </a:xfrm>
          <a:prstGeom xmlns:a="http://schemas.openxmlformats.org/drawingml/2006/main" prst="roundRect">
            <a:avLst>
              <a:gd name="adj" fmla="val 531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22F37E-8E35-4CE5-95D2-805781A05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25146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856328-C2BF-4465-B368-D0AAA57E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2628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F99C6A-19B3-4DFB-BE9C-34436CB55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238500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2E7D8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 i="0">
                <a:solidFill>
                  <a:srgbClr val="2E7D8A"/>
                </a:solidFill>
                <a:latin typeface="Aptos Display"/>
                <a:ea typeface="Aptos Display"/>
                <a:cs typeface="Aptos Display"/>
              </a:rPr>
              <a:t>OUTPUTS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02B2893-AF57-4B30-B1B6-9870DDC2E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714750"/>
            <a:ext cx="2019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dashboard · reports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2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bench demonstrator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4F84E35-A59F-4E09-A4B9-5D1E0994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95850"/>
            <a:ext cx="8191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0C3B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6A48C90-D64B-4374-AA7C-F23138AE7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067300"/>
            <a:ext cx="762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12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Goal: make diabetes technology visible, testable and discussable before anyone talks about clinical use.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B63AC2C-112D-43E7-B2BF-336EE42A0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10300"/>
            <a:ext cx="990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Architecture: scenarios → simulator → candidate logic → deterministic safety → evidence.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0694D7A-C667-46C6-84E7-814F905D4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915C905-D463-4E42-8D19-CE6BC96B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EDUCATIONAL / RESEARCH ONLY · NOT A MEDICAL DEVICE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50A390C-B883-4C6C-8F5D-9DC8911F7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0C3B32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C3B3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315089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7A1F00-E0ED-4104-9484-E8E7DB3D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2E7D8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2E7D8A"/>
                </a:solidFill>
                <a:latin typeface="Aptos"/>
                <a:ea typeface="Aptos"/>
                <a:cs typeface="Aptos"/>
              </a:rPr>
              <a:t>SCIENTIFIC CORE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6F6C7D-58A7-4B2A-A9D0-F019AD11E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0839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0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rPr>
              <a:t>The digital patient: useful because it is explicit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22630E-CFB3-4FEB-9B33-F05194AB5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811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The model makes delayed physiology visible—while keeping its limitations visible too.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6B7C49-41BF-4424-A381-F527A295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D189F9-594D-401B-B0BC-7DECC00D4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5391150" cy="33147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16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CF175C-334B-41C4-91EE-3FBABA073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D89A2B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D89A2B"/>
                </a:solidFill>
                <a:latin typeface="Aptos"/>
                <a:ea typeface="Aptos"/>
                <a:cs typeface="Aptos"/>
              </a:rPr>
              <a:t>A SIMPLE RESEARCH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69D2F2-8F0F-4BF3-B0BD-BB8A186F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24150"/>
            <a:ext cx="45910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76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025" b="1" i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1" i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dG/dt = meal appearance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2025" b="1" i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1" i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+ endogenous production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2025" b="1" i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1" i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− insulin-mediated uptake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2025" b="1" i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1" i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− basal utilisation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2025" b="1" i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1" i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− renal loss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EFF94E-37D9-470D-B913-DEF9456F5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62500"/>
            <a:ext cx="4895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 i="0">
                <a:solidFill>
                  <a:srgbClr val="C9DCE4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9DCE4"/>
                </a:solidFill>
                <a:latin typeface="Aptos"/>
                <a:ea typeface="Aptos"/>
                <a:cs typeface="Aptos"/>
              </a:rPr>
              <a:t>Mechanistic ODEs inspired by Bergman- and Hovorka-style models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470C6A-8F04-44E7-A230-328F925CE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00250"/>
            <a:ext cx="23241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E9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170DAB-1C3D-46FD-B8E6-CE4FD377D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907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rPr>
              <a:t>Meals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8F30C7-8CC0-4731-939A-7FB46402C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628900"/>
            <a:ext cx="1981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multi-compartment absorption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C2D880-4DAB-4447-9F31-1021617E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00250"/>
            <a:ext cx="23241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4E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D4B404-738A-43FB-9286-6584BEECD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907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rPr>
              <a:t>Insulin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946E58-8BDA-4E6F-80F4-147990AA9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28900"/>
            <a:ext cx="1981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subcutaneous PK/PD delay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DC026C-EADB-43E5-98E0-074EE096F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57600"/>
            <a:ext cx="23241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0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6CA4D3-3D03-4773-94FC-2657E3C97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4810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rPr>
              <a:t>Context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54D9A7-A333-4ADC-88C1-C894B5D0D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86250"/>
            <a:ext cx="1981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exercise · stress · circadian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7FDFFF-412F-4567-92A7-AB6431675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657600"/>
            <a:ext cx="23241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5E4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CB4ED1-2E1D-48CA-92C3-CFC6EC812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84810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rPr>
              <a:t>CGM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36F036-9522-4234-9B0F-2DC8CE36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286250"/>
            <a:ext cx="1981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ISF lag · noise · drift · dropout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2D62F6-7AC1-42A6-8A64-CF79917A1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676900"/>
            <a:ext cx="65913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5E4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51D5EB-4149-41DA-AFFF-F544FE792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715000"/>
            <a:ext cx="640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C5534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C5534A"/>
                </a:solidFill>
                <a:latin typeface="Aptos"/>
                <a:ea typeface="Aptos"/>
                <a:cs typeface="Aptos"/>
              </a:rPr>
              <a:t>EXPERIMENTAL MODEL · PHYSIOLOGICALLY MOTIVATED · NOT CLINICALLY VALIDATED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F028B1-7437-48AD-8406-C68DC9EB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10300"/>
            <a:ext cx="990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Foundations documented in Bergman 1979, Hovorka 2004, Dalla Man 2007 and CGM lag literature.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904A2A-DB04-4EAF-AEAF-99D509CEA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D76003-1B67-418D-9E83-3AD2F53BF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EDUCATIONAL / RESEARCH ONLY · NOT A MEDICAL DEVICE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04C584-1E4C-44A4-BF13-7BDE1714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0C3B32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C3B3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392805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69E42B-90B6-4475-9C82-9DC105BA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2E7D8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2E7D8A"/>
                </a:solidFill>
                <a:latin typeface="Aptos"/>
                <a:ea typeface="Aptos"/>
                <a:cs typeface="Aptos"/>
              </a:rPr>
              <a:t>TRUSTWORTHY AI EXPERIMENTS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319B1A-A452-4C0E-9D7E-09FBEAEEE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0839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00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0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rPr>
              <a:t>The goal is not only accuracy—it is understandable behaviour under stress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029A9A-8354-47E4-80B0-C79DA000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3C8853-39B2-4618-923C-1C78D41C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57400"/>
            <a:ext cx="2476500" cy="29908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7F0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FDFE75-4FB3-4652-8760-41F27645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47900"/>
            <a:ext cx="11430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6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712FEE-DCB3-4ACA-9294-E23B56C9A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860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EXPLAIN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4CE65C-7558-4004-B018-2A4D71D08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rPr>
              <a:t>Local language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4D35CC-C37A-4F25-8F33-4389D0C9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2095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Summarises runs and turns anomalies into reviewable XAI events.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7042C0-6A89-478D-B57D-5644A705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2956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2E7D8A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2E7D8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EF4A50-D969-40DF-AB7D-102E601F6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57400"/>
            <a:ext cx="2476500" cy="29908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4E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060F27-100F-4343-831D-84490465B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247900"/>
            <a:ext cx="11430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0C3B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C708F9-AFB9-4188-82B2-04AEE747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2860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FORECAST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B5F692-2C67-4C75-AA30-89E80D5D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7813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rPr>
              <a:t>Time-series predictor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CF0555-D4C4-43C9-A8BB-663F9C1E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562350"/>
            <a:ext cx="2095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Forecasts future glucose and is checked for error, hypo misses and physiological violations.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6266D6-76AD-4098-9E6F-3AB533951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956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2E7D8A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2E7D8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D429EB-C0A9-40A5-8056-70F45604C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57400"/>
            <a:ext cx="2476500" cy="29908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6E9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35DD83-CA41-4C02-BF88-6F96089F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47900"/>
            <a:ext cx="11430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7A4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76FFCC-721C-45E2-800B-FC724F7B9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860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EXPERIMENT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2EC1E5-E7BE-4CA9-AF27-F7B91A9F1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813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rPr>
              <a:t>Candidate controller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121A12-E035-4B82-B8CB-E68CC3DA3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62350"/>
            <a:ext cx="2095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PID, MPC or learned policies can propose actions inside simulation.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828E6D-08C1-49DE-8B29-C8E7AC40D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2956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2E7D8A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2E7D8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35B992-9B08-44F7-8F94-4A17D96FC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057400"/>
            <a:ext cx="2476500" cy="29908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5E4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AC692C-DF8B-4547-A369-C71B005FD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47900"/>
            <a:ext cx="11430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C55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D936FB-E28C-486E-B3A3-D349D86A9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2860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SUPERVISE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FC6D63-F8F1-456B-87C0-3B8CE3B1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7813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rPr>
              <a:t>Deterministic safety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5421B6-2C20-47D0-B011-AFDE41CC5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562350"/>
            <a:ext cx="2095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Independent rules accept, reduce or block proposals and record why.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FE0525-B8A8-4C38-877A-010C78EFB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91150"/>
            <a:ext cx="7810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C3B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FD994E-0502-4A26-B0FA-0537926D1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543550"/>
            <a:ext cx="731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Normal day · sport · bad carb count · delayed meal · night hypo risk · sensor failure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0A5CC6-18F8-45DA-A68A-CB0F5AEC1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10300"/>
            <a:ext cx="990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Safety principle: the candidate proposes; deterministic logic retains authority.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A85A88-B7D0-4B8A-A1C3-BEC9A0926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F821D0-330D-4C94-A481-7BCD4494F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EDUCATIONAL / RESEARCH ONLY · NOT A MEDICAL DEVICE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6C6E8E-3FB2-4239-A96A-FAB679181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0C3B32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C3B3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168924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88BFF0-526C-4E51-A214-A9FB5847B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2E7D8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2E7D8A"/>
                </a:solidFill>
                <a:latin typeface="Aptos"/>
                <a:ea typeface="Aptos"/>
                <a:cs typeface="Aptos"/>
              </a:rPr>
              <a:t>EXAMPLE OUTPUT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ED2AEF-6293-4DC6-A172-C7850FF85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0839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08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0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rPr>
              <a:t>One view reveals physiology, sensor realism and safety events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031E9A-2BEA-4D75-985B-54C119FB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811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An SDK-generated research poster compares a baseline day, a prevented low-risk night and delayed meal absorption.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030B9-BE0F-4B3C-8B03-7ABB7D26F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8DE672-8876-4DB7-95A1-38095A86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11125200" cy="4324350"/>
          </a:xfrm>
          <a:prstGeom xmlns:a="http://schemas.openxmlformats.org/drawingml/2006/main" prst="roundRect">
            <a:avLst>
              <a:gd name="adj" fmla="val 26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1CC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c0960b40634ed6"/>
          <a:stretch xmlns:a="http://schemas.openxmlformats.org/drawingml/2006/main"/>
        </p:blipFill>
        <p:spPr>
          <a:xfrm xmlns:a="http://schemas.openxmlformats.org/drawingml/2006/main">
            <a:off x="1475815" y="1847850"/>
            <a:ext cx="9240371" cy="41338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E8E747-F516-40CF-B6EE-9A06C34F5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34050"/>
            <a:ext cx="20383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7F0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DF5653-63B4-4401-887B-1AFA8DDD6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7215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163A52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63A52"/>
                </a:solidFill>
                <a:latin typeface="Aptos"/>
                <a:ea typeface="Aptos"/>
                <a:cs typeface="Aptos"/>
              </a:rPr>
              <a:t>CGM VS SIMULATOR TRUTH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39ACFB-0123-4497-9AE3-593AAEE2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734050"/>
            <a:ext cx="20383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6E9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E6F917-E621-44B1-8010-FAE414F26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77215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7A4C00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7A4C00"/>
                </a:solidFill>
                <a:latin typeface="Aptos"/>
                <a:ea typeface="Aptos"/>
                <a:cs typeface="Aptos"/>
              </a:rPr>
              <a:t>MEALS + TARGET RANGE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EDAF75-FADD-4658-BEF1-108F00BC4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734050"/>
            <a:ext cx="20764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5E4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6BFD2A-FEFA-4DC1-BB14-198EE5880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77215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C5534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C5534A"/>
                </a:solidFill>
                <a:latin typeface="Aptos"/>
                <a:ea typeface="Aptos"/>
                <a:cs typeface="Aptos"/>
              </a:rPr>
              <a:t>SAFETY INTERVENTIONS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21A6DD-578C-4118-9948-B4FAAEB2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734050"/>
            <a:ext cx="20955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4E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F94816-1479-4BCF-8049-C0E5106BF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7721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0C3B32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C3B32"/>
                </a:solidFill>
                <a:latin typeface="Aptos"/>
                <a:ea typeface="Aptos"/>
                <a:cs typeface="Aptos"/>
              </a:rPr>
              <a:t>SCENARIO STRESS TESTS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1838D0-55A9-46E2-BDE0-CDB07828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10300"/>
            <a:ext cx="990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Actual SDK output: CGM-Realistic Output Suite. Research/education only; visual inspection is not clinical validation.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A04CF5-B6F0-4C32-99A2-4E28DF9CD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9604F5-CAB0-4B8B-80A0-BE6A659DF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EDUCATIONAL / RESEARCH ONLY · NOT A MEDICAL DEVICE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C0082B-AFE4-4C64-A7CD-95FC29DE1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0C3B32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C3B32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44532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0A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C9A584-E526-4398-8A2E-EEDA03F29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1B28DF-35ED-4183-9A9F-B2A86FEF5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D89A2B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D89A2B"/>
                </a:solidFill>
                <a:latin typeface="Aptos"/>
                <a:ea typeface="Aptos"/>
                <a:cs typeface="Aptos"/>
              </a:rPr>
              <a:t>PHYSICAL DEMONSTRATOR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45B86E-37F8-440C-A0BC-911C95679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7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Making abstract safety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27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logic tangible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C72465-19D4-4078-9B65-5260D46B3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C6D5D0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C6D5D0"/>
                </a:solidFill>
                <a:latin typeface="Aptos"/>
                <a:ea typeface="Aptos"/>
                <a:cs typeface="Aptos"/>
              </a:rPr>
              <a:t>A Pico-based bench interface for teaching, serial testing and visible system states.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C6EDFE-BB9D-482D-88BE-616833546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19350"/>
            <a:ext cx="47625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01A17"/>
          </a:solidFill>
          <a:ln xmlns:a="http://schemas.openxmlformats.org/drawingml/2006/main" w="9525">
            <a:solidFill>
              <a:srgbClr val="24483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CEF1E3-93E3-4C3E-9F36-1BDED2050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42291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2" algn="l">
              <a:lnSpc>
                <a:spcPct val="117000"/>
              </a:lnSpc>
              <a:buNone/>
              <a:defRPr sz="135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FFFFF"/>
                </a:solidFill>
                <a:latin typeface="Aptos"/>
                <a:ea typeface="Aptos"/>
                <a:cs typeface="Aptos"/>
              </a:rPr>
              <a:t>Raspberry Pi Pico + display + buttons</a:t>
            </a:r>
          </a:p>
          <a:p xmlns:a="http://schemas.openxmlformats.org/drawingml/2006/main">
            <a:pPr marL="22" indent="-12" algn="l">
              <a:lnSpc>
                <a:spcPct val="117000"/>
              </a:lnSpc>
              <a:buNone/>
              <a:defRPr sz="135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FFFFF"/>
                </a:solidFill>
                <a:latin typeface="Aptos"/>
                <a:ea typeface="Aptos"/>
                <a:cs typeface="Aptos"/>
              </a:rPr>
              <a:t>Locked non-actuating bench firmware</a:t>
            </a:r>
          </a:p>
          <a:p xmlns:a="http://schemas.openxmlformats.org/drawingml/2006/main">
            <a:pPr marL="22" indent="-12" algn="l">
              <a:lnSpc>
                <a:spcPct val="117000"/>
              </a:lnSpc>
              <a:buNone/>
              <a:defRPr sz="135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FFFFF"/>
                </a:solidFill>
                <a:latin typeface="Aptos"/>
                <a:ea typeface="Aptos"/>
                <a:cs typeface="Aptos"/>
              </a:rPr>
              <a:t>No motor pins and zero delivery authority</a:t>
            </a:r>
          </a:p>
          <a:p xmlns:a="http://schemas.openxmlformats.org/drawingml/2006/main">
            <a:pPr marL="22" indent="-12" algn="l">
              <a:lnSpc>
                <a:spcPct val="117000"/>
              </a:lnSpc>
              <a:buNone/>
              <a:defRPr sz="135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FFFFF"/>
                </a:solidFill>
                <a:latin typeface="Aptos"/>
                <a:ea typeface="Aptos"/>
                <a:cs typeface="Aptos"/>
              </a:rPr>
              <a:t>DOSE / BOLUS / BASAL / PRIME are rejected</a:t>
            </a:r>
          </a:p>
          <a:p xmlns:a="http://schemas.openxmlformats.org/drawingml/2006/main">
            <a:pPr marL="22" indent="-12" algn="l">
              <a:lnSpc>
                <a:spcPct val="117000"/>
              </a:lnSpc>
              <a:buNone/>
              <a:defRPr sz="135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FFFFF"/>
                </a:solidFill>
                <a:latin typeface="Aptos"/>
                <a:ea typeface="Aptos"/>
                <a:cs typeface="Aptos"/>
              </a:rPr>
              <a:t>Never connected to a reservoir, person or animal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729D0A-64E6-4143-BFDB-E4D0A7B6A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31623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85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19D9CD-82F7-4C66-8896-7D9D032FF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9585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hardware_actuation_enabled = false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F90F1D-9ED9-4980-9AE0-A295CEE0D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19100"/>
            <a:ext cx="5429250" cy="561975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23332E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81090a0476427c"/>
          <a:stretch xmlns:a="http://schemas.openxmlformats.org/drawingml/2006/main"/>
        </p:blipFill>
        <p:spPr>
          <a:xfrm xmlns:a="http://schemas.openxmlformats.org/drawingml/2006/main">
            <a:off x="6541634" y="514350"/>
            <a:ext cx="4576082" cy="54292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0E1F59-C348-48DB-8FA6-8B3A5FD4E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6134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 i="0">
                <a:solidFill>
                  <a:srgbClr val="D89A2B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D89A2B"/>
                </a:solidFill>
                <a:latin typeface="Aptos"/>
                <a:ea typeface="Aptos"/>
                <a:cs typeface="Aptos"/>
              </a:rPr>
              <a:t>USER-PROVIDED BENCH PROTOTYPE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2F8040-5F71-47B9-99F9-71E280EE2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C5534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C5534A"/>
                </a:solidFill>
                <a:latin typeface="Aptos"/>
                <a:ea typeface="Aptos"/>
                <a:cs typeface="Aptos"/>
              </a:rPr>
              <a:t>BENCH-ONLY · ZERO DELIVERY · NOT FOR THERAPY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176A2D-3AE6-48F8-A8B9-88449FD12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691389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760BDA-26E6-4B15-A4EE-1AF0C40F4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2E7D8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2E7D8A"/>
                </a:solidFill>
                <a:latin typeface="Aptos"/>
                <a:ea typeface="Aptos"/>
                <a:cs typeface="Aptos"/>
              </a:rPr>
              <a:t>DIGITAL HEALTH RELEVANCE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45ACB0-8DE0-4534-B07F-F6C011EC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0839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0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rPr>
              <a:t>Why transparency matters in medical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C60861-B276-4E40-9BBD-AAA6BA50F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A40F17-1AA7-4E7C-8986-9C330553F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2438400" cy="295275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E4E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EE9ECD-8424-4E5A-B6D1-3DC95EB28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2669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3B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480E59-D30E-40BA-BE57-687230F95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57450"/>
            <a:ext cx="72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05D4F4-EE23-401E-A8CD-D1F05741B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0C3B32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C3B32"/>
                </a:solidFill>
                <a:latin typeface="Aptos"/>
                <a:ea typeface="Aptos"/>
                <a:cs typeface="Aptos"/>
              </a:rPr>
              <a:t>UNDERSTAND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F8864E-F9B9-458F-B401-29F34B71C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90950"/>
            <a:ext cx="1943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Show how physiology, sensors and algorithms interact.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50E4FE-8E99-4130-BD52-80CAB5F4B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57400"/>
            <a:ext cx="2438400" cy="295275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5E4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A4CBFB-AF29-42D7-8042-664689B72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2669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5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CB6523-48FB-4154-B0DE-3099DC96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457450"/>
            <a:ext cx="72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00C3D3-0835-45ED-A873-65BC9B10E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575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C5534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C5534A"/>
                </a:solidFill>
                <a:latin typeface="Aptos"/>
                <a:ea typeface="Aptos"/>
                <a:cs typeface="Aptos"/>
              </a:rPr>
              <a:t>STRESS-TEST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A526CF-F6E6-4081-AF34-49AB97AF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790950"/>
            <a:ext cx="1943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Explore failure cases before real-world deployment is discussed.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84184C-8AD7-4E5B-BAC3-87DFEACCD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57400"/>
            <a:ext cx="2438400" cy="295275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E7F0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B6EFAF-DD48-41FA-80D3-3CBF4B9BD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669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FA37AD-F65A-4592-8AD5-4DA5F202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57450"/>
            <a:ext cx="72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DB3B11-D912-4A2D-952A-694285E6F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575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163A52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63A52"/>
                </a:solidFill>
                <a:latin typeface="Aptos"/>
                <a:ea typeface="Aptos"/>
                <a:cs typeface="Aptos"/>
              </a:rPr>
              <a:t>TRACE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8BD9B0-E047-4968-B2AE-40D80C0A9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90950"/>
            <a:ext cx="1943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Keep seeds, data lineage, decisions and reports reviewable.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3106F5-F5DE-4967-A6F3-7B982C186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57400"/>
            <a:ext cx="2438400" cy="295275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6E9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73CEFE-B3C9-4E95-8B5A-BE23ECD0F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2669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4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3E26D7-579D-4554-A089-77287955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457450"/>
            <a:ext cx="72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944187-3AE2-475E-BFD8-C33F66D5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2575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7A4C00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7A4C00"/>
                </a:solidFill>
                <a:latin typeface="Aptos"/>
                <a:ea typeface="Aptos"/>
                <a:cs typeface="Aptos"/>
              </a:rPr>
              <a:t>TEACH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EE2849-C0C2-42A6-A3AB-7D1B9CC1B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90950"/>
            <a:ext cx="1943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Make complex technology accessible to students, patients and makers.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DC58D1-5871-4DF2-8A96-0CF5DE39F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483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23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025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rPr>
              <a:t>The challenge is not only building models. It is making their behaviour understandable, testable and trusted.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41BFB2-61BA-47D7-9A68-935A1ADB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24F7A6-5D39-435E-8425-AE5AA249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EDUCATIONAL / RESEARCH ONLY · NOT A MEDICAL DEVICE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5784CF-32D8-4B5E-B212-B2DAA8A6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0C3B32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C3B32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482993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C9A94B-458B-4A3F-A369-FD2D157EE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2E7D8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2E7D8A"/>
                </a:solidFill>
                <a:latin typeface="Aptos"/>
                <a:ea typeface="Aptos"/>
                <a:cs typeface="Aptos"/>
              </a:rPr>
              <a:t>SCIENTIFIC HONESTY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BC633F-2772-45A7-94FD-03CECD209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0839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0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rPr>
              <a:t>Current limitations and open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C9DFEF-E120-4B16-B325-DD6D983C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811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Knowing what is missing is part of the research contribution.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0C077B-F185-4580-ACD8-23D3D19C9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E2019C-2BB8-4838-8CD8-A6D3DC46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50101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4E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1E1F91-AB80-49E6-B284-6B265BDC7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C3B32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C3B32"/>
                </a:solidFill>
                <a:latin typeface="Aptos"/>
                <a:ea typeface="Aptos"/>
                <a:cs typeface="Aptos"/>
              </a:rPr>
              <a:t>WHAT EXISTS NOW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902DC6-3D1C-4670-9641-472062755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432435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2" algn="l">
              <a:lnSpc>
                <a:spcPct val="116000"/>
              </a:lnSpc>
              <a:buNone/>
              <a:defRPr sz="1425">
                <a:solidFill>
                  <a:srgbClr val="182329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182329"/>
                </a:solidFill>
                <a:latin typeface="Aptos"/>
                <a:ea typeface="Aptos"/>
                <a:cs typeface="Aptos"/>
              </a:rPr>
              <a:t>working open-source SDK and CLI</a:t>
            </a:r>
          </a:p>
          <a:p xmlns:a="http://schemas.openxmlformats.org/drawingml/2006/main">
            <a:pPr marL="22" indent="-12" algn="l">
              <a:lnSpc>
                <a:spcPct val="116000"/>
              </a:lnSpc>
              <a:buNone/>
              <a:defRPr sz="1425">
                <a:solidFill>
                  <a:srgbClr val="182329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182329"/>
                </a:solidFill>
                <a:latin typeface="Aptos"/>
                <a:ea typeface="Aptos"/>
                <a:cs typeface="Aptos"/>
              </a:rPr>
              <a:t>mechanistic patient and CGM models</a:t>
            </a:r>
          </a:p>
          <a:p xmlns:a="http://schemas.openxmlformats.org/drawingml/2006/main">
            <a:pPr marL="22" indent="-12" algn="l">
              <a:lnSpc>
                <a:spcPct val="116000"/>
              </a:lnSpc>
              <a:buNone/>
              <a:defRPr sz="1425">
                <a:solidFill>
                  <a:srgbClr val="182329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182329"/>
                </a:solidFill>
                <a:latin typeface="Aptos"/>
                <a:ea typeface="Aptos"/>
                <a:cs typeface="Aptos"/>
              </a:rPr>
              <a:t>AI forecasting and explainability workflow</a:t>
            </a:r>
          </a:p>
          <a:p xmlns:a="http://schemas.openxmlformats.org/drawingml/2006/main">
            <a:pPr marL="22" indent="-12" algn="l">
              <a:lnSpc>
                <a:spcPct val="116000"/>
              </a:lnSpc>
              <a:buNone/>
              <a:defRPr sz="1425">
                <a:solidFill>
                  <a:srgbClr val="182329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182329"/>
                </a:solidFill>
                <a:latin typeface="Aptos"/>
                <a:ea typeface="Aptos"/>
                <a:cs typeface="Aptos"/>
              </a:rPr>
              <a:t>deterministic safety and evidence reports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6F70D9-9A96-42DD-99B2-DBE72427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981200"/>
            <a:ext cx="5619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5E4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EFF854-B7A4-478C-92D3-FD0917784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098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C5534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C5534A"/>
                </a:solidFill>
                <a:latin typeface="Aptos"/>
                <a:ea typeface="Aptos"/>
                <a:cs typeface="Aptos"/>
              </a:rPr>
              <a:t>WHAT STILL NEEDS VALIDATION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C204BE-6FE4-4EED-BB4F-9F1A2AA2B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47950"/>
            <a:ext cx="495300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2" algn="l">
              <a:lnSpc>
                <a:spcPct val="116000"/>
              </a:lnSpc>
              <a:buNone/>
              <a:defRPr sz="1425">
                <a:solidFill>
                  <a:srgbClr val="182329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182329"/>
                </a:solidFill>
                <a:latin typeface="Aptos"/>
                <a:ea typeface="Aptos"/>
                <a:cs typeface="Aptos"/>
              </a:rPr>
              <a:t>physiological parameter calibration</a:t>
            </a:r>
          </a:p>
          <a:p xmlns:a="http://schemas.openxmlformats.org/drawingml/2006/main">
            <a:pPr marL="22" indent="-12" algn="l">
              <a:lnSpc>
                <a:spcPct val="116000"/>
              </a:lnSpc>
              <a:buNone/>
              <a:defRPr sz="1425">
                <a:solidFill>
                  <a:srgbClr val="182329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182329"/>
                </a:solidFill>
                <a:latin typeface="Aptos"/>
                <a:ea typeface="Aptos"/>
                <a:cs typeface="Aptos"/>
              </a:rPr>
              <a:t>comparison with established simulators and datasets</a:t>
            </a:r>
          </a:p>
          <a:p xmlns:a="http://schemas.openxmlformats.org/drawingml/2006/main">
            <a:pPr marL="22" indent="-12" algn="l">
              <a:lnSpc>
                <a:spcPct val="116000"/>
              </a:lnSpc>
              <a:buNone/>
              <a:defRPr sz="1425">
                <a:solidFill>
                  <a:srgbClr val="182329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182329"/>
                </a:solidFill>
                <a:latin typeface="Aptos"/>
                <a:ea typeface="Aptos"/>
                <a:cs typeface="Aptos"/>
              </a:rPr>
              <a:t>prediction uncertainty and subgroup robustness</a:t>
            </a:r>
          </a:p>
          <a:p xmlns:a="http://schemas.openxmlformats.org/drawingml/2006/main">
            <a:pPr marL="22" indent="-12" algn="l">
              <a:lnSpc>
                <a:spcPct val="116000"/>
              </a:lnSpc>
              <a:buNone/>
              <a:defRPr sz="1425">
                <a:solidFill>
                  <a:srgbClr val="182329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182329"/>
                </a:solidFill>
                <a:latin typeface="Aptos"/>
                <a:ea typeface="Aptos"/>
                <a:cs typeface="Aptos"/>
              </a:rPr>
              <a:t>clearer metrics for safety and failure cases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C03410-EF19-4D61-AD4B-89DCFCAF6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467350"/>
            <a:ext cx="22860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A294AF-9B3D-45C3-B4C8-235C94C8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10225"/>
            <a:ext cx="205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0C3B32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C3B32"/>
                </a:solidFill>
                <a:latin typeface="Aptos"/>
                <a:ea typeface="Aptos"/>
                <a:cs typeface="Aptos"/>
              </a:rPr>
              <a:t>1  CALIBRATE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4068C4-AA15-4856-8D0F-FDECC9C1E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467350"/>
            <a:ext cx="22860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7D0279-51CB-4DD3-BD6B-AAD7A1C22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610225"/>
            <a:ext cx="205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0C3B32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C3B32"/>
                </a:solidFill>
                <a:latin typeface="Aptos"/>
                <a:ea typeface="Aptos"/>
                <a:cs typeface="Aptos"/>
              </a:rPr>
              <a:t>2  BENCHMARK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321981-7C58-4E47-8339-456A978B5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467350"/>
            <a:ext cx="22860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EA9820-8EEE-4CCF-A8FC-2C76EE695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610225"/>
            <a:ext cx="205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0C3B32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C3B32"/>
                </a:solidFill>
                <a:latin typeface="Aptos"/>
                <a:ea typeface="Aptos"/>
                <a:cs typeface="Aptos"/>
              </a:rPr>
              <a:t>3  QUANTIFY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B16E5F-7A7A-4D6E-96B8-CEEC0F492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467350"/>
            <a:ext cx="22860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6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D4346A-C3DD-4FBB-8E42-7BD60F650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610225"/>
            <a:ext cx="205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4  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4F7132-C549-4DC1-BB65-8265A849A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10300"/>
            <a:ext cx="990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The simulator is not clinically validated; expert review is sought before EUCYS presentation claims are finalised.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DEC8D3-BD48-49E5-A76A-170DD98DD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708AA1-EBFB-4732-A5B8-0C31EB5DC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EDUCATIONAL / RESEARCH ONLY · NOT A MEDICAL DEVICE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591459-2A01-465E-89A1-3EB60C1DE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0C3B32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C3B32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400802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C3B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A6B037-090A-4406-95DE-915A3147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D89A2B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D89A2B"/>
                </a:solidFill>
                <a:latin typeface="Aptos"/>
                <a:ea typeface="Aptos"/>
                <a:cs typeface="Aptos"/>
              </a:rPr>
              <a:t>THE PURPOSE OF THIS MEETING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BCDE8A-D8CB-4DBC-B81B-B264F9A9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What I would value your feedback 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8BCCBF-6CC1-4470-B27A-CBA456157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51816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6102F6-9C77-4853-85B2-4AC40ADE2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9321B0-D61D-43A2-964C-3809473F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812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27ACFC-8A54-4C5E-A6A2-3BC9E7CCD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866900"/>
            <a:ext cx="417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rPr>
              <a:t>Digital twin realism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965ACE-F4B9-4AA6-A109-690886986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286000"/>
            <a:ext cx="4171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Which physiological assumptions or parameters should I improve first?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FF7DD8-7BBB-4887-B8C2-61A7C4FC6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95450"/>
            <a:ext cx="51816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4BD467-19B8-467E-AB8E-C468FD138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85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5F25E5-CDC2-4903-9AD6-273148763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812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5B114A-3588-4DD6-A622-6FEC2FD0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66900"/>
            <a:ext cx="417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rPr>
              <a:t>Time-series validation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35AEE8-FAAF-4D0D-86FB-BEE6D2409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86000"/>
            <a:ext cx="4171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Which metrics and external benchmarks would be scientifically defensible?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6BD108-EC2F-4AB8-A5F8-D150A72D9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51816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091C31-F0A7-44FF-A3BB-EDF857056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43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CC7245-63EC-4DF0-AE69-708E9B882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385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637629-4F56-458A-8679-5F4AD660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24250"/>
            <a:ext cx="417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rPr>
              <a:t>Trustworthy AI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65F230-E877-4964-A673-3299F3BE1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43350"/>
            <a:ext cx="4171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How should I communicate uncertainty, safety and failure cases?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BF7191-E3C5-46B7-8E7C-32F2BB952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52800"/>
            <a:ext cx="51816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174B40"/>
          </a:solidFill>
          <a:ln xmlns:a="http://schemas.openxmlformats.org/drawingml/2006/main" w="9525">
            <a:solidFill>
              <a:srgbClr val="2D6A5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EE7F04-78E0-4C10-AC50-BC11D1515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43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9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74885F-3C06-4F9C-8F00-3A9D8FFC5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385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0C3B32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C3B32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0A9764-1DF4-40C4-91FC-93CBA8E59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24250"/>
            <a:ext cx="417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EUCYS framing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194BE3-9233-4C10-8C0E-2FAA8619F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43350"/>
            <a:ext cx="4171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75" b="0" i="0">
                <a:solidFill>
                  <a:srgbClr val="D5E5DF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D5E5DF"/>
                </a:solidFill>
                <a:latin typeface="Aptos"/>
                <a:ea typeface="Aptos"/>
                <a:cs typeface="Aptos"/>
              </a:rPr>
              <a:t>What should I emphasise so the work is strong but understandable?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E288EF-2A6F-4E98-B1FB-02D70BE96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19700"/>
            <a:ext cx="96012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D89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E4E3D4-ADE1-41B1-8671-67AF9BF0A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362575"/>
            <a:ext cx="9029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82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5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rPr>
              <a:t>I am building a safe educational sandbox where diabetes algorithms and digital twins can be understood, visualised and stress-tested before clinical use is discussed.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254AF2-7963-41B4-BAFE-DEAFD034B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C8DCD4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C8DCD4"/>
                </a:solidFill>
                <a:latin typeface="Aptos"/>
                <a:ea typeface="Aptos"/>
                <a:cs typeface="Aptos"/>
              </a:rPr>
              <a:t>iints.org  ·  github.com/python35/IINTS-SDK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C1D85B-0025-41EA-9935-43B97A901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286500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950" b="1" i="0">
                <a:solidFill>
                  <a:srgbClr val="D89A2B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 i="0">
                <a:solidFill>
                  <a:srgbClr val="D89A2B"/>
                </a:solidFill>
                <a:latin typeface="Aptos Display"/>
                <a:ea typeface="Aptos Display"/>
                <a:cs typeface="Aptos Display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1449323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2026-06-18T15:04:21.5110000Z</dcterms:created>
  <dcterms:modified xsi:type="dcterms:W3CDTF">2026-06-18T15:04:21.5110000Z</dcterms:modified>
</coreProperties>
</file>