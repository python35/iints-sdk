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cd1b33951f4916" /><Relationship Type="http://schemas.openxmlformats.org/officeDocument/2006/relationships/extended-properties" Target="/docProps/app.xml" Id="Rf8d370988646429b" /><Relationship Type="http://schemas.openxmlformats.org/officeDocument/2006/relationships/officeDocument" Target="/ppt/presentation.xml" Id="Rafab54cd6ebf48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d16c6d281f4bfe"/>
  </p:sldMasterIdLst>
  <p:notesMasterIdLst>
    <p:notesMasterId xmlns:r="http://schemas.openxmlformats.org/officeDocument/2006/relationships" r:id="R3463ab0bb9f243a5"/>
  </p:notesMasterIdLst>
  <p:sldIdLst>
    <p:sldId xmlns:r="http://schemas.openxmlformats.org/officeDocument/2006/relationships" id="256" r:id="R536f592d2780422c"/>
    <p:sldId xmlns:r="http://schemas.openxmlformats.org/officeDocument/2006/relationships" id="257" r:id="R2aa60180461e44d6"/>
    <p:sldId xmlns:r="http://schemas.openxmlformats.org/officeDocument/2006/relationships" id="258" r:id="R6316389bd2604f01"/>
    <p:sldId xmlns:r="http://schemas.openxmlformats.org/officeDocument/2006/relationships" id="259" r:id="R26c1984e2d134d0d"/>
    <p:sldId xmlns:r="http://schemas.openxmlformats.org/officeDocument/2006/relationships" id="260" r:id="Rae401c3774914250"/>
    <p:sldId xmlns:r="http://schemas.openxmlformats.org/officeDocument/2006/relationships" id="261" r:id="R16ac92e2b19d4b20"/>
    <p:sldId xmlns:r="http://schemas.openxmlformats.org/officeDocument/2006/relationships" id="262" r:id="R7edef0f58d4f49ca"/>
    <p:sldId xmlns:r="http://schemas.openxmlformats.org/officeDocument/2006/relationships" id="263" r:id="R408aecaf0de54dce"/>
    <p:sldId xmlns:r="http://schemas.openxmlformats.org/officeDocument/2006/relationships" id="264" r:id="R48b8a9bea4e3493b"/>
    <p:sldId xmlns:r="http://schemas.openxmlformats.org/officeDocument/2006/relationships" id="265" r:id="R50f9d5259b554ff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624b088f3a4ed0" /><Relationship Type="http://schemas.openxmlformats.org/officeDocument/2006/relationships/slideMaster" Target="/ppt/slideMasters/slideMaster1.xml" Id="R19d16c6d281f4bfe" /><Relationship Type="http://schemas.openxmlformats.org/officeDocument/2006/relationships/notesMaster" Target="/ppt/notesMasters/notesMaster1.xml" Id="R3463ab0bb9f243a5" /><Relationship Type="http://schemas.openxmlformats.org/officeDocument/2006/relationships/presProps" Target="/ppt/presProps.xml" Id="R0e4346377ce74299" /><Relationship Type="http://schemas.openxmlformats.org/officeDocument/2006/relationships/tableStyles" Target="/ppt/tableStyles.xml" Id="Rc799506a333c407c" /><Relationship Type="http://schemas.openxmlformats.org/officeDocument/2006/relationships/slide" Target="/ppt/slides/slide1.xml" Id="R536f592d2780422c" /><Relationship Type="http://schemas.openxmlformats.org/officeDocument/2006/relationships/slide" Target="/ppt/slides/slide2.xml" Id="R2aa60180461e44d6" /><Relationship Type="http://schemas.openxmlformats.org/officeDocument/2006/relationships/slide" Target="/ppt/slides/slide3.xml" Id="R6316389bd2604f01" /><Relationship Type="http://schemas.openxmlformats.org/officeDocument/2006/relationships/slide" Target="/ppt/slides/slide4.xml" Id="R26c1984e2d134d0d" /><Relationship Type="http://schemas.openxmlformats.org/officeDocument/2006/relationships/slide" Target="/ppt/slides/slide5.xml" Id="Rae401c3774914250" /><Relationship Type="http://schemas.openxmlformats.org/officeDocument/2006/relationships/slide" Target="/ppt/slides/slide6.xml" Id="R16ac92e2b19d4b20" /><Relationship Type="http://schemas.openxmlformats.org/officeDocument/2006/relationships/slide" Target="/ppt/slides/slide7.xml" Id="R7edef0f58d4f49ca" /><Relationship Type="http://schemas.openxmlformats.org/officeDocument/2006/relationships/slide" Target="/ppt/slides/slide8.xml" Id="R408aecaf0de54dce" /><Relationship Type="http://schemas.openxmlformats.org/officeDocument/2006/relationships/slide" Target="/ppt/slides/slide9.xml" Id="R48b8a9bea4e3493b" /><Relationship Type="http://schemas.openxmlformats.org/officeDocument/2006/relationships/slide" Target="/ppt/slides/slide10.xml" Id="R50f9d5259b554f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527dfa3e8b49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b16e81bd92473e" /><Relationship Type="http://schemas.openxmlformats.org/officeDocument/2006/relationships/notesMaster" Target="/ppt/notesMasters/notesMaster1.xml" Id="Rb50f80cc54fc44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15b140cad54b6c" /><Relationship Type="http://schemas.openxmlformats.org/officeDocument/2006/relationships/notesMaster" Target="/ppt/notesMasters/notesMaster1.xml" Id="R0f158b27a26049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9d2a6061b5459a" /><Relationship Type="http://schemas.openxmlformats.org/officeDocument/2006/relationships/notesMaster" Target="/ppt/notesMasters/notesMaster1.xml" Id="R00ea1a0cc4714d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0eb998532c4de9" /><Relationship Type="http://schemas.openxmlformats.org/officeDocument/2006/relationships/notesMaster" Target="/ppt/notesMasters/notesMaster1.xml" Id="R9080590efec9402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4dc063fd664520" /><Relationship Type="http://schemas.openxmlformats.org/officeDocument/2006/relationships/notesMaster" Target="/ppt/notesMasters/notesMaster1.xml" Id="R2cadea9dd20946b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c1b84c44e044f4" /><Relationship Type="http://schemas.openxmlformats.org/officeDocument/2006/relationships/notesMaster" Target="/ppt/notesMasters/notesMaster1.xml" Id="R2ea0fa6e9b624c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4677541de064ae7" /><Relationship Type="http://schemas.openxmlformats.org/officeDocument/2006/relationships/notesMaster" Target="/ppt/notesMasters/notesMaster1.xml" Id="Rda6fed9a0b3c482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45b1d67be324922" /><Relationship Type="http://schemas.openxmlformats.org/officeDocument/2006/relationships/notesMaster" Target="/ppt/notesMasters/notesMaster1.xml" Id="Rd2dc747553a44d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845655bd5194622" /><Relationship Type="http://schemas.openxmlformats.org/officeDocument/2006/relationships/notesMaster" Target="/ppt/notesMasters/notesMaster1.xml" Id="R40a6a81394fe4e5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510f0ecb1d4442d" /><Relationship Type="http://schemas.openxmlformats.org/officeDocument/2006/relationships/notesMaster" Target="/ppt/notesMasters/notesMaster1.xml" Id="R844f756b94e948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Thank you very much for taking the time to meet with me. I am Rune Bobbaers, a recently graduated high school student from Belgium. I have type 1 diabetes myself, and that personal experience made me interested in how diabetes technology works behind the scenes. My project, IINTS-AF, is an open-source educational platform that combines a diabetes digital twin, glucose-insulin simulation, AI decision-support experiments, and an embedded bench demonstrator. It is not intended as a clinical medical device. I was selected for EUCYS, and I would especially value your feedback on the digital twin, time-series AI, validation, and scientific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personal section short. I depend on diabetes technology myself, but for a long time I did not understand what was happening inside these systems. IINTS-AF began with a transparency question: how can pumps, sensors, physiology and algorithms become understandable without claiming to replace clinical systems?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most important slide. The platform starts with controlled events, updates a digital patient, runs AI or algorithm experiments, checks the proposed action through deterministic safety logic, and produces understandable outputs. The physical board is only one output interface; it is not the core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one equation, not every equation. The simulator separates meal appearance, endogenous production, insulin-mediated uptake and losses. It also models delayed insulin action and imperfect CGM measurement. At this stage it remains educational and experimental; improving realism and validation is one reason I am seeking expert feedback.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My main interest is not just prediction accuracy. I want to know whether an algorithm behaves transparently under difficult scenarios. The SDK separates explanation, forecasting, experimental control and deterministic safety so that each role has a clear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figure as evidence that the SDK makes behaviour inspectable. The grey line is latent simulator truth, the teal line is the CGM-rendered signal, yellow markers are meals and red markers are supervisor interventions. The purpose is to notice delayed, aggressive or unsafe responses—not to claim clinical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call this a real insulin pump. It is an embedded demonstrator that makes a pump-like architecture tangible. The current SDK firmware is deliberately locked: it has no motor pins, hardware actuation is disabled and dose commands are rejected. That safety boundary is part of the engineering story.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the project to trustworthy AI and digital health. Simulation creates a safe place to inspect failure modes. Open-source evidence and explicit limits help other people challenge the work. Education is not secondary: it is part of making medical AI understandable.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deliberately direct. I know the project is not clinically validated. I need stronger calibration, comparison with established models, uncertainty analysis and clearer safety metrics. That is why this conversation matters before EUCYS.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would be very grateful for advice on where the project is scientifically strongest and what I should improve before EUCYS. I am especially interested in digital twin calibration, time-series evaluation, trustworthy-AI evidence and clear scientific framing. Then stop presenting and invite discussion.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42e72eccd64b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71b82f11af41b1" /><Relationship Type="http://schemas.openxmlformats.org/officeDocument/2006/relationships/slideLayout" Target="/ppt/slideLayouts/slideLayout1.xml" Id="Rb932e5cdb7c642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32e5cdb7c642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85666d6ac4790" /><Relationship Type="http://schemas.openxmlformats.org/officeDocument/2006/relationships/image" Target="/ppt/media/image.png" Id="Raef9b9aed0134275" /><Relationship Type="http://schemas.openxmlformats.org/officeDocument/2006/relationships/notesSlide" Target="/ppt/notesSlides/notesSlide1.xml" Id="Rbaf52690308240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a6737caf3d4fb5" /><Relationship Type="http://schemas.openxmlformats.org/officeDocument/2006/relationships/notesSlide" Target="/ppt/notesSlides/notesSlide2.xml" Id="Rb813394e87b447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f341f2f0de49d7" /><Relationship Type="http://schemas.openxmlformats.org/officeDocument/2006/relationships/notesSlide" Target="/ppt/notesSlides/notesSlide3.xml" Id="R3de9e83e405a4c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6f0935227d461c" /><Relationship Type="http://schemas.openxmlformats.org/officeDocument/2006/relationships/notesSlide" Target="/ppt/notesSlides/notesSlide4.xml" Id="R3561e8d6c85b4a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5768b4dc31439b" /><Relationship Type="http://schemas.openxmlformats.org/officeDocument/2006/relationships/notesSlide" Target="/ppt/notesSlides/notesSlide5.xml" Id="R5ecd2e9868af46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7537c109e24022" /><Relationship Type="http://schemas.openxmlformats.org/officeDocument/2006/relationships/image" Target="/ppt/media/image2.png" Id="R20b95098bce44a62" /><Relationship Type="http://schemas.openxmlformats.org/officeDocument/2006/relationships/notesSlide" Target="/ppt/notesSlides/notesSlide6.xml" Id="Ra5404751bdca403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38dd6b07374165" /><Relationship Type="http://schemas.openxmlformats.org/officeDocument/2006/relationships/image" Target="/ppt/media/image3.png" Id="R7204ae82001748c5" /><Relationship Type="http://schemas.openxmlformats.org/officeDocument/2006/relationships/notesSlide" Target="/ppt/notesSlides/notesSlide7.xml" Id="R4df06214dda94fd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1c068263b44089" /><Relationship Type="http://schemas.openxmlformats.org/officeDocument/2006/relationships/notesSlide" Target="/ppt/notesSlides/notesSlide8.xml" Id="R7b88c02044f247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0ed044ed1240b2" /><Relationship Type="http://schemas.openxmlformats.org/officeDocument/2006/relationships/notesSlide" Target="/ppt/notesSlides/notesSlide9.xml" Id="Rea733303aef6425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251af63add45c4" /><Relationship Type="http://schemas.openxmlformats.org/officeDocument/2006/relationships/notesSlide" Target="/ppt/notesSlides/notesSlide10.xml" Id="R36d38ac912af4d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3B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65F0A6-A28F-403D-9348-DBAAC11B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649BA4-EB27-4656-966F-746887A3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D89A2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D89A2B"/>
                </a:solidFill>
                <a:latin typeface="Aptos"/>
                <a:ea typeface="Aptos"/>
                <a:cs typeface="Aptos"/>
              </a:rPr>
              <a:t>OXFORD RESEARCH DISCUSSION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ED8D04-F8D7-4497-BFD4-AD04BEFD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523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9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3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IINTS-AF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3F24ED-ECA4-4FA5-AD76-DFAA73214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6667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8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An open-source educational platform for transparent AI and diabetes digital twins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6D642A-7C3B-45A9-A5FA-80FC061E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DCEAE4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DCEAE4"/>
                </a:solidFill>
                <a:latin typeface="Aptos"/>
                <a:ea typeface="Aptos"/>
                <a:cs typeface="Aptos"/>
              </a:rPr>
              <a:t>Rune Bobbaers · Belgium · EUCYS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292444-0925-45A1-A3F8-8E356D48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20002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55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9F9F9B-3D48-4AA4-9C3E-8C87DA72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9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NOT A MEDICAL DEVICE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ED27FB-A554-48FA-BFA9-FDF968D73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C6DAD2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C6DAD2"/>
                </a:solidFill>
                <a:latin typeface="Aptos"/>
                <a:ea typeface="Aptos"/>
                <a:cs typeface="Aptos"/>
              </a:rPr>
              <a:t>iints.org  ·  github.com/python35/IINTS-SDK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E9A881-13B6-4FD3-9E80-C0F90C79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685800"/>
            <a:ext cx="3333750" cy="54102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74B40"/>
          </a:solidFill>
          <a:ln xmlns:a="http://schemas.openxmlformats.org/drawingml/2006/main" w="9525">
            <a:solidFill>
              <a:srgbClr val="2B6759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f9b9aed0134275"/>
          <a:stretch xmlns:a="http://schemas.openxmlformats.org/drawingml/2006/main"/>
        </p:blipFill>
        <p:spPr>
          <a:xfrm xmlns:a="http://schemas.openxmlformats.org/drawingml/2006/main">
            <a:off x="8515350" y="1211187"/>
            <a:ext cx="2381250" cy="2016276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FD27A2-135A-45FB-935D-F6B7D646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9095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D89A2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D89A2B"/>
                </a:solidFill>
                <a:latin typeface="Aptos"/>
                <a:ea typeface="Aptos"/>
                <a:cs typeface="Aptos"/>
              </a:rPr>
              <a:t>SAFE EDUCATIONAL SANDBOX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7B92F3-C11C-4688-94F4-2CBD570E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71950"/>
            <a:ext cx="2571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Digital twin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AI experiments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Safety checks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Bench demonstrator</a:t>
            </a:r>
          </a:p>
        </p:txBody>
      </p:sp>
    </p:spTree>
    <p:extLst>
      <p:ext uri="{BB962C8B-B14F-4D97-AF65-F5344CB8AC3E}">
        <p14:creationId xmlns:p14="http://schemas.microsoft.com/office/powerpoint/2010/main" val="6920110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7CD8DA-A66E-46CB-BFD8-46E1B85D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2E7D8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E7D8A"/>
                </a:solidFill>
                <a:latin typeface="Aptos"/>
                <a:ea typeface="Aptos"/>
                <a:cs typeface="Aptos"/>
              </a:rPr>
              <a:t>PERSONAL MOTIVATION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9D239C-5545-4EDF-B245-BDF8D259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839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0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Why I started building IINTS-AF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BDC6B7-B9FD-484C-A4D0-99EA23BC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0B5EC4-3127-4FD0-9C23-A9C05F58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05000"/>
            <a:ext cx="71247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8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85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“I depended on diabetes technology long before I understood what was happening inside it.”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E6FCB6-8B8A-4B0F-B9B2-19DC0371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32004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E4E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597105-254D-41F6-AD83-C3052D5D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62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C3B32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C3B3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F75B0F-DAFF-44A4-9892-C2423028B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243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Lived experience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32F4E8-6893-4060-96DE-3AC53DD4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0"/>
            <a:ext cx="2819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Type 1 diabetes made pumps, sensors and algorithms part of everyday life.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38AFB4-72F7-4565-B4EF-100312C1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71850"/>
            <a:ext cx="32004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E7F0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084661-2767-4628-B775-45422FFF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62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163A52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63A5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6D02DE-301F-4529-93A5-B776CDCA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243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A transparency gap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CF3819-08F7-4789-B223-4B87ECA7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81500"/>
            <a:ext cx="2819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Powerful systems are often closed, complex and difficult for students or patients to inspect.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44B3F9-5F2F-4B0C-B5C2-A459DFD7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71850"/>
            <a:ext cx="32004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6E9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A4140A-66B4-441D-9202-3FB9314C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62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7A4C00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7A4C0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8D256A-00CB-498A-99E0-B4EDB5E6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243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A maker question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73AA30-73AB-4698-AEB2-23555A03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81500"/>
            <a:ext cx="2819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Could a safe open platform explain the concepts and stress-test algorithms without involving a real patient?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93E8DC-4F5A-438E-BE71-6540611B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657850"/>
            <a:ext cx="62103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0C3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99C5C2-475D-4ACF-97F8-1A75BE34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695950"/>
            <a:ext cx="601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PERSONAL EXPERIENCE → SCIENTIFIC CURIOSITY → OPEN EDUCATIONAL TOOL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55CA16-0619-4EA2-8DB5-822D2373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3AE0E8-F74A-492E-A47B-45E62AC8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EDUCATIONAL / RESEARCH ONLY · NOT A MEDICAL DEVICE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7E94F4-60A7-496C-916B-76E24C5D5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0C3B32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C3B3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770599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412A92-7FA1-4857-9BC6-64AFB48E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2E7D8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E7D8A"/>
                </a:solidFill>
                <a:latin typeface="Aptos"/>
                <a:ea typeface="Aptos"/>
                <a:cs typeface="Aptos"/>
              </a:rPr>
              <a:t>PLATFORM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343FCD-AA20-47A6-9902-1924C611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839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0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What is IINTS-AF?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79D6B0-A59A-49A3-B98D-49523D7F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811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A connected research workflow, not a single pump algorithm.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12856E-F1B7-4601-A1C6-F427838D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0DB565-267B-4E89-8D5F-8784B664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05050"/>
            <a:ext cx="1847850" cy="21526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E7F0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8979D6-2CC2-435D-B60E-960F3C0E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146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5A7AAC-0112-463F-896D-9169FB9A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28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705D9D-6205-49E2-95BB-80795F32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163A52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 i="0">
                <a:solidFill>
                  <a:srgbClr val="163A52"/>
                </a:solidFill>
                <a:latin typeface="Aptos Display"/>
                <a:ea typeface="Aptos Display"/>
                <a:cs typeface="Aptos Display"/>
              </a:rPr>
              <a:t>EVENTS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AC69F3-141E-4311-8C80-630CDD5D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1581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meals · insulin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activity · stress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705F12-66B8-4D7F-8F5A-EA5F0BB7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1813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2E7D8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2E7D8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94E3A2-3583-4168-82C6-3176EDE2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05050"/>
            <a:ext cx="1847850" cy="21526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E4E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AFE4BC-F704-4D39-A158-CDA7026A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146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3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3ED1BE-D75A-4A82-B448-117336EE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28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4A2EF0-539B-4082-B7C3-9AB3963A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385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DIGITAL PATIENT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E38B29-7994-458B-B2DC-73FB6FF2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14750"/>
            <a:ext cx="1581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glucose-insulin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dynamics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8E5FBC-C6A4-434A-909E-CF88BBB0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813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2E7D8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2E7D8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A6345F-6B8B-449A-8E64-458123C5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05050"/>
            <a:ext cx="1847850" cy="21526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6E9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355E44-7E5C-4FFF-9156-013BCD7E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5146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4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57C432-09E3-4D23-97B7-6E443276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628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8B2DFA-2574-4F34-8842-EDCC61D8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2385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7A4C00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 i="0">
                <a:solidFill>
                  <a:srgbClr val="7A4C00"/>
                </a:solidFill>
                <a:latin typeface="Aptos Display"/>
                <a:ea typeface="Aptos Display"/>
                <a:cs typeface="Aptos Display"/>
              </a:rPr>
              <a:t>TEST IDEAS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C26820-3E42-4249-8458-83E73205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714750"/>
            <a:ext cx="1581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simple AI ideas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algorithm tests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A519E3-306F-4F97-A4F8-E2780C6B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813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2E7D8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2E7D8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E38C77-F676-47B0-B22B-42D5FC97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05050"/>
            <a:ext cx="1847850" cy="21526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5E4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EF6E63-0C97-4714-82AC-C45BA097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146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5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469A50-5EC6-4DB1-8BD7-F85AD1A9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628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5DF701-E2F2-4697-B1E2-D30F6462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2385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C5534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 i="0">
                <a:solidFill>
                  <a:srgbClr val="C5534A"/>
                </a:solidFill>
                <a:latin typeface="Aptos Display"/>
                <a:ea typeface="Aptos Display"/>
                <a:cs typeface="Aptos Display"/>
              </a:rPr>
              <a:t>SAFETY CHECKS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25856A-F4F5-4FBD-9704-EC1BBCDD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14750"/>
            <a:ext cx="1581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block unsafe actions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show why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24106B-34E5-482A-9FBE-C8289EDD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813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2E7D8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2E7D8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0B264B-7D3F-42EE-AF64-F0101D61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305050"/>
            <a:ext cx="2286000" cy="21526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241716-EBD2-4B98-AB88-3CB3FF1A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5146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96CFB2-857F-40A8-94C8-36E7D6E7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628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0258F8-77D7-4D7C-9862-FCBD4C76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23850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2E7D8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 i="0">
                <a:solidFill>
                  <a:srgbClr val="2E7D8A"/>
                </a:solidFill>
                <a:latin typeface="Aptos Display"/>
                <a:ea typeface="Aptos Display"/>
                <a:cs typeface="Aptos Display"/>
              </a:rPr>
              <a:t>OUTPUTS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CF25D8-DAB7-404D-A4D4-A133EBFB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714750"/>
            <a:ext cx="2019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dashboard · reports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bench demonstrator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FE51A5-1B6B-4523-A139-9A41E6EB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95850"/>
            <a:ext cx="8191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C3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1864BC-64ED-40D8-81EF-5532C20BD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67300"/>
            <a:ext cx="762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12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Goal: make diabetes technology visible, testable and discussable before anyone talks about clinical use.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9CEB82-E493-4DC4-8E50-5B065DFC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10300"/>
            <a:ext cx="990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Simple idea: create a diabetes scenario, simulate the patient, test an algorithm, check safety, and show the result.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D6438F1-59DD-4F7B-9F57-A3E8098B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77EB3E-A1D8-43AB-97DD-75A132FF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EDUCATIONAL / RESEARCH ONLY · NOT A MEDICAL DEVICE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44CD98A-986F-43D8-963B-A8CE07FE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0C3B32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C3B3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03710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3EE2E6-CE60-4C87-9476-49695924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2E7D8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E7D8A"/>
                </a:solidFill>
                <a:latin typeface="Aptos"/>
                <a:ea typeface="Aptos"/>
                <a:cs typeface="Aptos"/>
              </a:rPr>
              <a:t>SCIENTIFIC CORE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3E6BBA-77BF-48D1-835D-5F5E41C7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839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0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The digital patient: useful because it is explicit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649EAA-A68C-4765-AAF0-1F9733F6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811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A simple model shows how food, insulin, activity and sensor delay can change glucose over time.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1459FF-4A0B-412A-9EA5-8240D901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3581E0-A39E-42D2-9B98-D2DFBC8B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5391150" cy="33147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16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7B1C15-5961-42E3-A59D-DD82F9C22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D89A2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D89A2B"/>
                </a:solidFill>
                <a:latin typeface="Aptos"/>
                <a:ea typeface="Aptos"/>
                <a:cs typeface="Aptos"/>
              </a:rPr>
              <a:t>SIMPLIFIED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982DDF-244C-4AFE-AA86-7DDEA66E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24150"/>
            <a:ext cx="4591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025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Simplified view: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2025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glucose changes because of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2025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food, insulin, body needs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2025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and sensor delay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525A55-3912-440E-8CE7-E1042BD7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0"/>
            <a:ext cx="4895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 i="0">
                <a:solidFill>
                  <a:srgbClr val="C9DCE4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C9DCE4"/>
                </a:solidFill>
                <a:latin typeface="Aptos"/>
                <a:ea typeface="Aptos"/>
                <a:cs typeface="Aptos"/>
              </a:rPr>
              <a:t>Ideas adapted from known glucose–insulin models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C28952-28AE-4EC3-8F04-90485D6B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00250"/>
            <a:ext cx="23241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E9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14E02B-8E53-4C47-80D5-CFF72B40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907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Meals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DD8613-DFB2-41EE-992A-DBABAA16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28900"/>
            <a:ext cx="198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food is absorbed over 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D2BCF5-643F-46FD-873D-561EF576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00250"/>
            <a:ext cx="23241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4E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6B3ABA-B9CA-4A4B-9B46-14767F2C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907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Insulin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3CB62C-178F-41C5-90D4-DEB75A24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28900"/>
            <a:ext cx="198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insulin acts with a delay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ACFCD9-D2D7-44A6-A71B-1A21441E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57600"/>
            <a:ext cx="23241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0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8D03C1-722A-4ADE-A7DE-30CE2AC2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4810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Context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52E4A9-FB2B-46AF-9737-34988EC9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86250"/>
            <a:ext cx="198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activity · stress · time of day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C534F8-8D5A-4A4F-92AA-CD708FB0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657600"/>
            <a:ext cx="23241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E4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5AFC35-3BE1-4050-AEE4-53317088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84810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CGM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5C1B34-32E9-4808-BBC7-1CC3A979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86250"/>
            <a:ext cx="198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sensor delay · noise · missing 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BE5A70-4274-4872-9887-037BD77E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676900"/>
            <a:ext cx="65913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5E4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86E0FC-6787-4DBC-8A48-CD00B0B8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71500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C5534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C5534A"/>
                </a:solidFill>
                <a:latin typeface="Aptos"/>
                <a:ea typeface="Aptos"/>
                <a:cs typeface="Aptos"/>
              </a:rPr>
              <a:t>EDUCATIONAL MODEL · BASED ON KNOWN IDEAS · NOT CLINICALLY VALIDATED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A77A58-AD21-4624-AC61-BF00E396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10300"/>
            <a:ext cx="990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I use ideas from known glucose–insulin models; the simulator is still educational and not clinically validated.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2D697A-917A-4896-98D5-D9136FFB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88AE48-014B-4E0D-80A0-A62976FD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EDUCATIONAL / RESEARCH ONLY · NOT A MEDICAL DEVICE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0E4A80-4C2F-4F6B-A9F5-806835A5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0C3B32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C3B3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021830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4BE0D8-5598-4A30-9AA4-F7AB056E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2E7D8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E7D8A"/>
                </a:solidFill>
                <a:latin typeface="Aptos"/>
                <a:ea typeface="Aptos"/>
                <a:cs typeface="Aptos"/>
              </a:rPr>
              <a:t>SAFETY EXPERIMENTS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0FA838-3210-4DCA-9471-C6B15C13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839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00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0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The goal is not only accuracy—it is understandable behaviour under stress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19296C-74E7-4674-93E7-01BF52C1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7E2DC7-7151-4E41-8B1D-12D766DD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57400"/>
            <a:ext cx="2476500" cy="29908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7F0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0AB7CD-EC40-420A-AE63-C65FEE1C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11430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6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64A953-DAAB-4AF0-BF24-9E3419D1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860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EXPLAIN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AF4D76-3327-408A-96E7-5B52946E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Explain what happened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7D5D06-F0B5-4BF2-96C1-48B5115E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2095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Summarises a run and explains unusual events in plain language.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B3745D-6CB8-44FA-B1F7-B93981BF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956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2E7D8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2E7D8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6CD3A8-C0AF-4A84-99D6-5760DA4A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57400"/>
            <a:ext cx="2476500" cy="29908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4E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5326C2-338C-4B7C-8F70-1AE5AB8D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47900"/>
            <a:ext cx="11430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0C3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E1AAB9-FFA8-4B8E-B700-4499FBE6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2860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FORECAST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B6E61D-F378-4466-8864-445B3B62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813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Predict glucose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F6C9C7-FED7-46B8-AD3B-792E944F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562350"/>
            <a:ext cx="2095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Predicts future glucose and checks how often the model is wrong or misses low glucose.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199AF8-C072-4A3B-BE79-FE64FD5B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956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2E7D8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2E7D8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D5E3E1-7D23-4074-A342-5FF4504F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57400"/>
            <a:ext cx="2476500" cy="29908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6E9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E58A2A-1804-44B7-897E-E8C6C54C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47900"/>
            <a:ext cx="11430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7A4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9CA701-01A9-4256-B918-52FD271F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860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EXPERIMENT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14C571-5769-46DF-A6A6-9F74C27B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813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Test algorithm ideas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9C4635-F004-4F6A-96AC-344E709E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62350"/>
            <a:ext cx="2095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Different algorithm ideas can be tested on the virtual patient.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E84B8C-8ECC-4763-9B7C-1FA173DA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2956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2E7D8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2E7D8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F12D8D-3073-42D1-8A19-DF72F974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57400"/>
            <a:ext cx="2476500" cy="29908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5E4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148BFA-0242-40F6-8127-F48D09C5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47900"/>
            <a:ext cx="11430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C55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CD8D88-6F74-4FD1-8FE2-BE86F36E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860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SUPERVISE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CABC0F-6FA8-43E9-97B6-71354B5C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813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Safety checks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91EBC9-9412-4A42-96EA-FE7CEAFC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62350"/>
            <a:ext cx="2095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Fixed rules can block or reduce unsafe actions and record why.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D50A67-9158-4435-9D6B-84833426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91150"/>
            <a:ext cx="7810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C3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2D4F28-305A-4759-B2A8-11F0003A0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543550"/>
            <a:ext cx="731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Normal day · sport · bad carb count · delayed meal · night hypo risk · sensor failure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09B34E-D6F6-44FA-B1EA-E00759D6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10300"/>
            <a:ext cx="990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Safety idea: AI can suggest, but fixed safety rules can block unsafe behaviour.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DBF71D-68AC-48E2-A266-31844048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BD9485-4277-45B5-8FA7-91C4E64B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EDUCATIONAL / RESEARCH ONLY · NOT A MEDICAL DEVICE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8C50B6-1D32-4CA1-A6D5-3F8DF458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0C3B32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C3B3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533076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B75693-A19E-4D63-A94F-D13D9CFA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2E7D8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E7D8A"/>
                </a:solidFill>
                <a:latin typeface="Aptos"/>
                <a:ea typeface="Aptos"/>
                <a:cs typeface="Aptos"/>
              </a:rPr>
              <a:t>EXAMPLE OUTPUT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8CCD5D-EA74-441F-9165-BC1DC073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839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08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0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One view reveals physiology, sensor realism and safety events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53F8A3-03B6-459F-86F6-6D6EE5DE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811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This graph helps me see glucose changes, sensor delay, meals and safety checks across three examples.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51EAAD-995E-43EF-BF50-03B875F7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1A0FCD-3585-4AC2-A6F7-E3610D5C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11125200" cy="4324350"/>
          </a:xfrm>
          <a:prstGeom xmlns:a="http://schemas.openxmlformats.org/drawingml/2006/main" prst="roundRect">
            <a:avLst>
              <a:gd name="adj" fmla="val 26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CC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b95098bce44a62"/>
          <a:stretch xmlns:a="http://schemas.openxmlformats.org/drawingml/2006/main"/>
        </p:blipFill>
        <p:spPr>
          <a:xfrm xmlns:a="http://schemas.openxmlformats.org/drawingml/2006/main">
            <a:off x="1475815" y="1847850"/>
            <a:ext cx="9240371" cy="41338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9E2725-D0AE-4F0E-AC69-EF69648C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34050"/>
            <a:ext cx="20383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7F0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C5753E-0FCD-4EAC-BD04-535B8C6F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721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163A52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63A52"/>
                </a:solidFill>
                <a:latin typeface="Aptos"/>
                <a:ea typeface="Aptos"/>
                <a:cs typeface="Aptos"/>
              </a:rPr>
              <a:t>SENSOR DELAY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616F1A-408A-4CCF-A7F8-AC4EBBF5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734050"/>
            <a:ext cx="20383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6E9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19E074-BF49-4B18-8A56-8DF77C10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772150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7A4C00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7A4C00"/>
                </a:solidFill>
                <a:latin typeface="Aptos"/>
                <a:ea typeface="Aptos"/>
                <a:cs typeface="Aptos"/>
              </a:rPr>
              <a:t>MEALS + TARGET RANGE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1B57F8-26FC-4A3A-9163-D38261E1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734050"/>
            <a:ext cx="20764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5E4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E2B0E2-E37B-44F2-BB13-2B1F93FB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77215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C5534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C5534A"/>
                </a:solidFill>
                <a:latin typeface="Aptos"/>
                <a:ea typeface="Aptos"/>
                <a:cs typeface="Aptos"/>
              </a:rPr>
              <a:t>SAFETY CHECKS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F9A04A-0C90-4100-A20E-E49DBE4F6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734050"/>
            <a:ext cx="20955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4E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833D2E-7079-4E53-AED8-C7F391DE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7721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0C3B32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C3B32"/>
                </a:solidFill>
                <a:latin typeface="Aptos"/>
                <a:ea typeface="Aptos"/>
                <a:cs typeface="Aptos"/>
              </a:rPr>
              <a:t>THREE TEST SCENARIOS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DFBC1B-89D8-42B5-BD50-501DE449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10300"/>
            <a:ext cx="990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Actual SDK output. Research/education only; this chart supports inspection, not clinical proof.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E595F2-CB48-40AE-835D-BEB134D8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A5AE29-4B66-4D98-BF4A-10082B1F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EDUCATIONAL / RESEARCH ONLY · NOT A MEDICAL DEVICE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154649-7CE3-4316-BCCD-36F53477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0C3B32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C3B3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474214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A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60F4BA-0E1F-48C5-B0FB-2F585C69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79A593-2D17-4BEE-9A8F-5224F6B03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D89A2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D89A2B"/>
                </a:solidFill>
                <a:latin typeface="Aptos"/>
                <a:ea typeface="Aptos"/>
                <a:cs typeface="Aptos"/>
              </a:rPr>
              <a:t>PHYSICAL DEMONSTRATOR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F582A9-0F02-4E57-8F58-4E701A79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7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Making abstract safety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27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logic tangible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E76C28-8D08-4309-9023-23A9520D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C6D5D0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C6D5D0"/>
                </a:solidFill>
                <a:latin typeface="Aptos"/>
                <a:ea typeface="Aptos"/>
                <a:cs typeface="Aptos"/>
              </a:rPr>
              <a:t>A small prototype that makes the software visible and easier to explain.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A454EC-DA27-45E9-80EA-8D6B0246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19350"/>
            <a:ext cx="4762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01A17"/>
          </a:solidFill>
          <a:ln xmlns:a="http://schemas.openxmlformats.org/drawingml/2006/main" w="9525">
            <a:solidFill>
              <a:srgbClr val="24483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5437CF-28A8-41E1-8070-7641A504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42291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 algn="l">
              <a:lnSpc>
                <a:spcPct val="117000"/>
              </a:lnSpc>
              <a:buNone/>
              <a:defRPr sz="13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FFFFF"/>
                </a:solidFill>
                <a:latin typeface="Aptos"/>
                <a:ea typeface="Aptos"/>
                <a:cs typeface="Aptos"/>
              </a:rPr>
              <a:t>Bench-only prototype</a:t>
            </a:r>
          </a:p>
          <a:p xmlns:a="http://schemas.openxmlformats.org/drawingml/2006/main">
            <a:pPr marL="22" indent="-12" algn="l">
              <a:lnSpc>
                <a:spcPct val="117000"/>
              </a:lnSpc>
              <a:buNone/>
              <a:defRPr sz="13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FFFFF"/>
                </a:solidFill>
                <a:latin typeface="Aptos"/>
                <a:ea typeface="Aptos"/>
                <a:cs typeface="Aptos"/>
              </a:rPr>
              <a:t>Shows interface and system states</a:t>
            </a:r>
          </a:p>
          <a:p xmlns:a="http://schemas.openxmlformats.org/drawingml/2006/main">
            <a:pPr marL="22" indent="-12" algn="l">
              <a:lnSpc>
                <a:spcPct val="117000"/>
              </a:lnSpc>
              <a:buNone/>
              <a:defRPr sz="13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FFFFF"/>
                </a:solidFill>
                <a:latin typeface="Aptos"/>
                <a:ea typeface="Aptos"/>
                <a:cs typeface="Aptos"/>
              </a:rPr>
              <a:t>No real insulin delivery</a:t>
            </a:r>
          </a:p>
          <a:p xmlns:a="http://schemas.openxmlformats.org/drawingml/2006/main">
            <a:pPr marL="22" indent="-12" algn="l">
              <a:lnSpc>
                <a:spcPct val="117000"/>
              </a:lnSpc>
              <a:buNone/>
              <a:defRPr sz="13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FFFFF"/>
                </a:solidFill>
                <a:latin typeface="Aptos"/>
                <a:ea typeface="Aptos"/>
                <a:cs typeface="Aptos"/>
              </a:rPr>
              <a:t>Not connected to a person</a:t>
            </a:r>
          </a:p>
          <a:p xmlns:a="http://schemas.openxmlformats.org/drawingml/2006/main">
            <a:pPr marL="22" indent="-12" algn="l">
              <a:lnSpc>
                <a:spcPct val="117000"/>
              </a:lnSpc>
              <a:buNone/>
              <a:defRPr sz="13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FFFFF"/>
                </a:solidFill>
                <a:latin typeface="Aptos"/>
                <a:ea typeface="Aptos"/>
                <a:cs typeface="Aptos"/>
              </a:rPr>
              <a:t>Used only for education and demonstration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BC91D2-BB02-44A3-8AF3-0CAD1DD4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31623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85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21F03F-BCD7-40B9-8C94-6F661BE3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9585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BENCH-ONLY · NO REAL INSULIN DELIVERY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714327-0F2F-4EBB-92C0-EFEA4E99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9100"/>
            <a:ext cx="5429250" cy="56197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23332E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04ae82001748c5"/>
          <a:stretch xmlns:a="http://schemas.openxmlformats.org/drawingml/2006/main"/>
        </p:blipFill>
        <p:spPr>
          <a:xfrm xmlns:a="http://schemas.openxmlformats.org/drawingml/2006/main">
            <a:off x="6541634" y="514350"/>
            <a:ext cx="4576082" cy="5429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549F6C-8771-4068-90CB-8815D2E5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1341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 i="0">
                <a:solidFill>
                  <a:srgbClr val="D89A2B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D89A2B"/>
                </a:solidFill>
                <a:latin typeface="Aptos"/>
                <a:ea typeface="Aptos"/>
                <a:cs typeface="Aptos"/>
              </a:rPr>
              <a:t>USER-PROVIDED BENCH PROTOTYPE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FBC815-8D1B-49AE-ADE3-A00B0DA5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C5534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C5534A"/>
                </a:solidFill>
                <a:latin typeface="Aptos"/>
                <a:ea typeface="Aptos"/>
                <a:cs typeface="Aptos"/>
              </a:rPr>
              <a:t>BENCH-ONLY · ZERO DELIVERY · NOT FOR THERAPY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A032FD-DE5B-4A71-864A-86899C20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337031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F1978A-30CC-4BCD-9AD7-B91CC810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2E7D8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E7D8A"/>
                </a:solidFill>
                <a:latin typeface="Aptos"/>
                <a:ea typeface="Aptos"/>
                <a:cs typeface="Aptos"/>
              </a:rPr>
              <a:t>DIGITAL HEALTH RELEVANCE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D6171E-43E8-4EF1-B5BB-A8221623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839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0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Why transparency matters in medical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18FF97-012E-4EDB-AE75-A9233102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6711CA-E0CE-4B18-84EE-46F2F701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2438400" cy="295275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E4E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8C6C0D-FA42-41B7-AB13-E5FD5378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2669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3B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10D8E6-26B6-425B-ACA3-7D91BE3C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57450"/>
            <a:ext cx="72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40C34A-AD75-43A5-A0A9-33B5393A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0C3B32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C3B32"/>
                </a:solidFill>
                <a:latin typeface="Aptos"/>
                <a:ea typeface="Aptos"/>
                <a:cs typeface="Aptos"/>
              </a:rPr>
              <a:t>UNDERSTAND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322585-0651-448F-AAAE-F9636FFA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90950"/>
            <a:ext cx="1943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Show how physiology, sensors and algorithms interact.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04589C-C4D6-4231-BA16-88A1469A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57400"/>
            <a:ext cx="2438400" cy="295275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5E4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8C92FD-81DE-4A0F-B76B-A62B1196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669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5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D97E61-F7E0-41C4-8E05-4527AC55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57450"/>
            <a:ext cx="72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49AEB4-5728-498D-A78D-FCA4F76E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57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C5534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C5534A"/>
                </a:solidFill>
                <a:latin typeface="Aptos"/>
                <a:ea typeface="Aptos"/>
                <a:cs typeface="Aptos"/>
              </a:rPr>
              <a:t>STRESS-TEST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B4AED3-5408-40A4-8D07-8C13FFE5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790950"/>
            <a:ext cx="1943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Explore failure cases before real-world deployment is discussed.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15BAC2-70F8-456A-ABEA-4C63FA8B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57400"/>
            <a:ext cx="2438400" cy="295275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E7F0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4992C0-31D9-4209-B7E5-49D8A263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669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177979-B478-4D58-BA98-354C77FC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57450"/>
            <a:ext cx="72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52B3DF-94A8-48B4-A035-330B4878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57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163A52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63A52"/>
                </a:solidFill>
                <a:latin typeface="Aptos"/>
                <a:ea typeface="Aptos"/>
                <a:cs typeface="Aptos"/>
              </a:rPr>
              <a:t>TRACE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669A9A-19D6-4983-AED8-4FA13A1B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90950"/>
            <a:ext cx="1943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Keep decisions and results reviewable.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D95B12-1839-42B5-BED8-D1D29040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57400"/>
            <a:ext cx="2438400" cy="295275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6E9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2EE1C7-6A78-42DE-9530-4860C849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2669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4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343D3A-D844-40EA-BEA8-1ED83853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457450"/>
            <a:ext cx="72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9827E7-22BD-4D40-91C2-F1B880A3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57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7A4C00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7A4C00"/>
                </a:solidFill>
                <a:latin typeface="Aptos"/>
                <a:ea typeface="Aptos"/>
                <a:cs typeface="Aptos"/>
              </a:rPr>
              <a:t>TEACH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3D73E6-3507-49A1-8F4A-15C2FA691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90950"/>
            <a:ext cx="1943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Make complex technology accessible to students, patients and makers.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D3D22D-0A09-4AC4-9678-300ECDE2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483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23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025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The challenge is not only building models. It is making their behaviour understandable, testable and trusted.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8DFC33-315A-4A25-9AB0-930BB025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44175B-7474-4D5C-B900-F416AE52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EDUCATIONAL / RESEARCH ONLY · NOT A MEDICAL DEVICE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338DD4-FEA4-4BBC-AB80-6F06D450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0C3B32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C3B32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703201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BDD477-0783-4E08-819F-CFD2EAB8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2E7D8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2E7D8A"/>
                </a:solidFill>
                <a:latin typeface="Aptos"/>
                <a:ea typeface="Aptos"/>
                <a:cs typeface="Aptos"/>
              </a:rPr>
              <a:t>SCIENTIFIC HONESTY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C6B530-FBD5-4960-89E6-9FEE8EFA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839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0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Current limitations and open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1A1D8F-6D7A-4F7B-83CB-FA18C847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811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Knowing what is missing is part of the research contribution.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DA349E-44BB-4042-B90C-A55929A8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98217E-8EF6-4CA4-9542-889E5CF7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50101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4E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FE27B0-E7CE-4CFA-A129-172C6037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0C3B32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C3B32"/>
                </a:solidFill>
                <a:latin typeface="Aptos"/>
                <a:ea typeface="Aptos"/>
                <a:cs typeface="Aptos"/>
              </a:rPr>
              <a:t>WHAT EXISTS 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20B521-E141-41D8-AFD8-D2C3E183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43243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 algn="l">
              <a:lnSpc>
                <a:spcPct val="116000"/>
              </a:lnSpc>
              <a:buNone/>
              <a:defRPr sz="1425">
                <a:solidFill>
                  <a:srgbClr val="182329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182329"/>
                </a:solidFill>
                <a:latin typeface="Aptos"/>
                <a:ea typeface="Aptos"/>
                <a:cs typeface="Aptos"/>
              </a:rPr>
              <a:t>Open-source SDK</a:t>
            </a:r>
          </a:p>
          <a:p xmlns:a="http://schemas.openxmlformats.org/drawingml/2006/main">
            <a:pPr marL="22" indent="-12" algn="l">
              <a:lnSpc>
                <a:spcPct val="116000"/>
              </a:lnSpc>
              <a:buNone/>
              <a:defRPr sz="1425">
                <a:solidFill>
                  <a:srgbClr val="182329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182329"/>
                </a:solidFill>
                <a:latin typeface="Aptos"/>
                <a:ea typeface="Aptos"/>
                <a:cs typeface="Aptos"/>
              </a:rPr>
              <a:t>Virtual patient simulation</a:t>
            </a:r>
          </a:p>
          <a:p xmlns:a="http://schemas.openxmlformats.org/drawingml/2006/main">
            <a:pPr marL="22" indent="-12" algn="l">
              <a:lnSpc>
                <a:spcPct val="116000"/>
              </a:lnSpc>
              <a:buNone/>
              <a:defRPr sz="1425">
                <a:solidFill>
                  <a:srgbClr val="182329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182329"/>
                </a:solidFill>
                <a:latin typeface="Aptos"/>
                <a:ea typeface="Aptos"/>
                <a:cs typeface="Aptos"/>
              </a:rPr>
              <a:t>Scenario testing and AI experiments</a:t>
            </a:r>
          </a:p>
          <a:p xmlns:a="http://schemas.openxmlformats.org/drawingml/2006/main">
            <a:pPr marL="22" indent="-12" algn="l">
              <a:lnSpc>
                <a:spcPct val="116000"/>
              </a:lnSpc>
              <a:buNone/>
              <a:defRPr sz="1425">
                <a:solidFill>
                  <a:srgbClr val="182329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182329"/>
                </a:solidFill>
                <a:latin typeface="Aptos"/>
                <a:ea typeface="Aptos"/>
                <a:cs typeface="Aptos"/>
              </a:rPr>
              <a:t>Safety checks and visual reports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382476-6E29-4B5E-BF84-4B1C0F74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981200"/>
            <a:ext cx="5619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5E4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2514D1-6835-4D1D-A80E-A408ECA8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098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C5534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C5534A"/>
                </a:solidFill>
                <a:latin typeface="Aptos"/>
                <a:ea typeface="Aptos"/>
                <a:cs typeface="Aptos"/>
              </a:rPr>
              <a:t>WHAT I WANT TO IMPROVE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8FD6DD-B55B-408A-8278-C0CE8F13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47950"/>
            <a:ext cx="49530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 algn="l">
              <a:lnSpc>
                <a:spcPct val="116000"/>
              </a:lnSpc>
              <a:buNone/>
              <a:defRPr sz="1425">
                <a:solidFill>
                  <a:srgbClr val="182329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182329"/>
                </a:solidFill>
                <a:latin typeface="Aptos"/>
                <a:ea typeface="Aptos"/>
                <a:cs typeface="Aptos"/>
              </a:rPr>
              <a:t>More realistic physiology</a:t>
            </a:r>
          </a:p>
          <a:p xmlns:a="http://schemas.openxmlformats.org/drawingml/2006/main">
            <a:pPr marL="22" indent="-12" algn="l">
              <a:lnSpc>
                <a:spcPct val="116000"/>
              </a:lnSpc>
              <a:buNone/>
              <a:defRPr sz="1425">
                <a:solidFill>
                  <a:srgbClr val="182329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182329"/>
                </a:solidFill>
                <a:latin typeface="Aptos"/>
                <a:ea typeface="Aptos"/>
                <a:cs typeface="Aptos"/>
              </a:rPr>
              <a:t>Better validation</a:t>
            </a:r>
          </a:p>
          <a:p xmlns:a="http://schemas.openxmlformats.org/drawingml/2006/main">
            <a:pPr marL="22" indent="-12" algn="l">
              <a:lnSpc>
                <a:spcPct val="116000"/>
              </a:lnSpc>
              <a:buNone/>
              <a:defRPr sz="1425">
                <a:solidFill>
                  <a:srgbClr val="182329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182329"/>
                </a:solidFill>
                <a:latin typeface="Aptos"/>
                <a:ea typeface="Aptos"/>
                <a:cs typeface="Aptos"/>
              </a:rPr>
              <a:t>Better uncertainty and safety explanation</a:t>
            </a:r>
          </a:p>
          <a:p xmlns:a="http://schemas.openxmlformats.org/drawingml/2006/main">
            <a:pPr marL="22" indent="-12" algn="l">
              <a:lnSpc>
                <a:spcPct val="116000"/>
              </a:lnSpc>
              <a:buNone/>
              <a:defRPr sz="1425">
                <a:solidFill>
                  <a:srgbClr val="182329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182329"/>
                </a:solidFill>
                <a:latin typeface="Aptos"/>
                <a:ea typeface="Aptos"/>
                <a:cs typeface="Aptos"/>
              </a:rPr>
              <a:t>Better metrics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60ECCD-0A0E-49A8-80C2-BF15500F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67350"/>
            <a:ext cx="22860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D3CB8C-6C20-4625-AC80-0AF0FBFF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10225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0C3B32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C3B32"/>
                </a:solidFill>
                <a:latin typeface="Aptos"/>
                <a:ea typeface="Aptos"/>
                <a:cs typeface="Aptos"/>
              </a:rPr>
              <a:t>1  REALISM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0B7478-8EC2-4F07-B0FD-10099ACC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467350"/>
            <a:ext cx="22860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C90E07-9D0A-4CA4-9B44-6E76F451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610225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0C3B32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C3B32"/>
                </a:solidFill>
                <a:latin typeface="Aptos"/>
                <a:ea typeface="Aptos"/>
                <a:cs typeface="Aptos"/>
              </a:rPr>
              <a:t>2  VALIDATION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50B1EE-7280-449C-82BB-FBEB2D3F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467350"/>
            <a:ext cx="22860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BAA951-B8FE-4019-BEC4-9495435C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610225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0C3B32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C3B32"/>
                </a:solidFill>
                <a:latin typeface="Aptos"/>
                <a:ea typeface="Aptos"/>
                <a:cs typeface="Aptos"/>
              </a:rPr>
              <a:t>3  METRICS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F9DECE-E57C-40A6-95B2-AB569EC0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467350"/>
            <a:ext cx="22860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63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3A70C0-CE6D-46FC-A40A-059102A7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610225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  FRAMING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BEFB6B-E9FA-42DB-9586-0F465495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10300"/>
            <a:ext cx="990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The simulator is not clinically validated. I am looking for expert feedback before EUCYS.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B1FDA1-277B-4A8F-A078-565961E2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01074F-2270-423A-9585-AF23AAF0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EDUCATIONAL / RESEARCH ONLY · NOT A MEDICAL DEVICE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7E0C00-9B32-4B3A-92D3-E98174D7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0C3B32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C3B32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520827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C3B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DB0CB1-0481-4108-A880-99AA4516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D89A2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D89A2B"/>
                </a:solidFill>
                <a:latin typeface="Aptos"/>
                <a:ea typeface="Aptos"/>
                <a:cs typeface="Aptos"/>
              </a:rPr>
              <a:t>THE PURPOSE OF THIS MEETING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4124EC-1CC3-48B4-B5D5-83ECAF49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What I would value your feedback 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819715-9205-4CAD-B628-2EB1ECBB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51816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F210D2-87B9-48D0-8496-1446A56F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7451E9-A4D8-44C3-91BE-773AECF7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812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E53BEB-F339-442B-ADDE-CA456C2A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866900"/>
            <a:ext cx="417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Digital twin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CFE09C-EC35-4F05-835D-5B38B7B7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86000"/>
            <a:ext cx="4171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What should I improve first in the patient model?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7A0A41-C0AB-4AE7-A061-E0FACB78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95450"/>
            <a:ext cx="51816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F6472D-B956-49BB-B560-10AC0591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85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23A5AA-E4C8-4BC1-95F0-72553861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812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6123C7-4CD5-430D-8314-BCED2ECC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66900"/>
            <a:ext cx="417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AI / time-series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2EF67A-29BA-46A2-B64E-708CFF79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86000"/>
            <a:ext cx="4171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How should I test glucose predictions properly?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DD2EF0-1F38-40B3-BD3E-333489FC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51816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A48845-30B1-4FD5-8B54-E99FBB5E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83A41D-0DEF-4D39-BA29-C6B27B2D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B5D0C8-3C41-4FEA-B141-C1949A5C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24250"/>
            <a:ext cx="417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Safety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532CA1-E973-41EC-BC72-7A8F8985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4171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75" b="0" i="0">
                <a:solidFill>
                  <a:srgbClr val="5C6A7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A70"/>
                </a:solidFill>
                <a:latin typeface="Aptos"/>
                <a:ea typeface="Aptos"/>
                <a:cs typeface="Aptos"/>
              </a:rPr>
              <a:t>How can I show uncertainty and failure cases clearly?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B003DD-DBDB-4D47-8650-AF1E9832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52800"/>
            <a:ext cx="51816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174B40"/>
          </a:solidFill>
          <a:ln xmlns:a="http://schemas.openxmlformats.org/drawingml/2006/main" w="9525">
            <a:solidFill>
              <a:srgbClr val="2D6A5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05D959-1C4D-4035-AD84-45B91CA6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135A68-F65A-40CE-81D2-37581177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385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0C3B32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C3B32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E96A72-8E2E-4E7E-9253-D7BE79BB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24250"/>
            <a:ext cx="417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EUCYS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3C6594-006C-44AA-BAF5-DC52DFF1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43350"/>
            <a:ext cx="4171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275" b="0" i="0">
                <a:solidFill>
                  <a:srgbClr val="D5E5DF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D5E5DF"/>
                </a:solidFill>
                <a:latin typeface="Aptos"/>
                <a:ea typeface="Aptos"/>
                <a:cs typeface="Aptos"/>
              </a:rPr>
              <a:t>What should I emphasise to make the project scientifically strong?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1AB434-51F1-48F2-A1FD-5DA90D98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19700"/>
            <a:ext cx="96012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D8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55005F-1E0A-40B2-9138-E141E723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362575"/>
            <a:ext cx="9029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82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C3B32"/>
                </a:solidFill>
                <a:latin typeface="Aptos Display"/>
                <a:ea typeface="Aptos Display"/>
                <a:cs typeface="Aptos Display"/>
              </a:rPr>
              <a:t>IINTS-AF is an open-source educational sandbox to simulate diabetes technology, test simple AI ideas safely, and make algorithm behaviour understandable.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4597D8-7D86-4717-B4B4-D86A61F9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C8DCD4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C8DCD4"/>
                </a:solidFill>
                <a:latin typeface="Aptos"/>
                <a:ea typeface="Aptos"/>
                <a:cs typeface="Aptos"/>
              </a:rPr>
              <a:t>iints.org  ·  github.com/python35/IINTS-SDK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341E84-1D58-433C-9137-87C9C2DE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28650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950" b="1" i="0">
                <a:solidFill>
                  <a:srgbClr val="D89A2B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 i="0">
                <a:solidFill>
                  <a:srgbClr val="D89A2B"/>
                </a:solidFill>
                <a:latin typeface="Aptos Display"/>
                <a:ea typeface="Aptos Display"/>
                <a:cs typeface="Aptos Display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798963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2026-06-18T18:27:33.7230000Z</dcterms:created>
  <dcterms:modified xsi:type="dcterms:W3CDTF">2026-06-18T18:27:33.7230000Z</dcterms:modified>
</coreProperties>
</file>